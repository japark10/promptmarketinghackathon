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0731d56ca04217" /><Relationship Type="http://schemas.openxmlformats.org/officeDocument/2006/relationships/extended-properties" Target="/docProps/app.xml" Id="R8bdb1ae3d64b4a63" /><Relationship Type="http://schemas.openxmlformats.org/officeDocument/2006/relationships/officeDocument" Target="/ppt/presentation.xml" Id="Rd2e4930847014c4d" /></Relationships>
</file>

<file path=ppt/presentation.xml><?xml version="1.0" encoding="utf-8"?>
<p:presentation xmlns:p="http://schemas.openxmlformats.org/presentationml/2006/main">
  <p:sldMasterIdLst>
    <p:sldMasterId xmlns:r="http://schemas.openxmlformats.org/officeDocument/2006/relationships" id="2147483648" r:id="R62a4fb5ae2944bc5"/>
  </p:sldMasterIdLst>
  <p:notesMasterIdLst>
    <p:notesMasterId xmlns:r="http://schemas.openxmlformats.org/officeDocument/2006/relationships" r:id="R714d7c351046464e"/>
  </p:notesMasterIdLst>
  <p:sldIdLst>
    <p:sldId xmlns:r="http://schemas.openxmlformats.org/officeDocument/2006/relationships" id="256" r:id="Reb0fd27d16704f6c"/>
    <p:sldId xmlns:r="http://schemas.openxmlformats.org/officeDocument/2006/relationships" id="257" r:id="R29a348a02e3545ef"/>
    <p:sldId xmlns:r="http://schemas.openxmlformats.org/officeDocument/2006/relationships" id="258" r:id="R2dae8fe4984d495d"/>
    <p:sldId xmlns:r="http://schemas.openxmlformats.org/officeDocument/2006/relationships" id="259" r:id="R07c76d9f5725403a"/>
    <p:sldId xmlns:r="http://schemas.openxmlformats.org/officeDocument/2006/relationships" id="260" r:id="R2f26bd4aae1c4cba"/>
    <p:sldId xmlns:r="http://schemas.openxmlformats.org/officeDocument/2006/relationships" id="261" r:id="R38be70814ccd4e61"/>
    <p:sldId xmlns:r="http://schemas.openxmlformats.org/officeDocument/2006/relationships" id="262" r:id="R4d282c28e76e4aed"/>
    <p:sldId xmlns:r="http://schemas.openxmlformats.org/officeDocument/2006/relationships" id="263" r:id="Re17198101117467e"/>
    <p:sldId xmlns:r="http://schemas.openxmlformats.org/officeDocument/2006/relationships" id="264" r:id="R86193328cdf64d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6dd49b71844770" /><Relationship Type="http://schemas.openxmlformats.org/officeDocument/2006/relationships/slideMaster" Target="/ppt/slideMasters/slideMaster1.xml" Id="R62a4fb5ae2944bc5" /><Relationship Type="http://schemas.openxmlformats.org/officeDocument/2006/relationships/notesMaster" Target="/ppt/notesMasters/notesMaster1.xml" Id="R714d7c351046464e" /><Relationship Type="http://schemas.openxmlformats.org/officeDocument/2006/relationships/presProps" Target="/ppt/presProps.xml" Id="Rfda28c886e7c4964" /><Relationship Type="http://schemas.openxmlformats.org/officeDocument/2006/relationships/tableStyles" Target="/ppt/tableStyles.xml" Id="R991344a83cd04e65" /><Relationship Type="http://schemas.openxmlformats.org/officeDocument/2006/relationships/slide" Target="/ppt/slides/slide1.xml" Id="Reb0fd27d16704f6c" /><Relationship Type="http://schemas.openxmlformats.org/officeDocument/2006/relationships/slide" Target="/ppt/slides/slide2.xml" Id="R29a348a02e3545ef" /><Relationship Type="http://schemas.openxmlformats.org/officeDocument/2006/relationships/slide" Target="/ppt/slides/slide3.xml" Id="R2dae8fe4984d495d" /><Relationship Type="http://schemas.openxmlformats.org/officeDocument/2006/relationships/slide" Target="/ppt/slides/slide4.xml" Id="R07c76d9f5725403a" /><Relationship Type="http://schemas.openxmlformats.org/officeDocument/2006/relationships/slide" Target="/ppt/slides/slide5.xml" Id="R2f26bd4aae1c4cba" /><Relationship Type="http://schemas.openxmlformats.org/officeDocument/2006/relationships/slide" Target="/ppt/slides/slide6.xml" Id="R38be70814ccd4e61" /><Relationship Type="http://schemas.openxmlformats.org/officeDocument/2006/relationships/slide" Target="/ppt/slides/slide7.xml" Id="R4d282c28e76e4aed" /><Relationship Type="http://schemas.openxmlformats.org/officeDocument/2006/relationships/slide" Target="/ppt/slides/slide8.xml" Id="Re17198101117467e" /><Relationship Type="http://schemas.openxmlformats.org/officeDocument/2006/relationships/slide" Target="/ppt/slides/slide9.xml" Id="R86193328cdf64d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ea5597616e43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4f5090ffcd4894" /><Relationship Type="http://schemas.openxmlformats.org/officeDocument/2006/relationships/notesMaster" Target="/ppt/notesMasters/notesMaster1.xml" Id="R3c00410fc08b4e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0a0dbb6d90435d" /><Relationship Type="http://schemas.openxmlformats.org/officeDocument/2006/relationships/notesMaster" Target="/ppt/notesMasters/notesMaster1.xml" Id="R315619b29fe4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63b0c7fb8243fd" /><Relationship Type="http://schemas.openxmlformats.org/officeDocument/2006/relationships/notesMaster" Target="/ppt/notesMasters/notesMaster1.xml" Id="R891da017d02446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74db5b9763456d" /><Relationship Type="http://schemas.openxmlformats.org/officeDocument/2006/relationships/notesMaster" Target="/ppt/notesMasters/notesMaster1.xml" Id="R4de6d1fcc88b42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7de36cf75b424c" /><Relationship Type="http://schemas.openxmlformats.org/officeDocument/2006/relationships/notesMaster" Target="/ppt/notesMasters/notesMaster1.xml" Id="R71618fd6dd114c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ad8c8c429d4187" /><Relationship Type="http://schemas.openxmlformats.org/officeDocument/2006/relationships/notesMaster" Target="/ppt/notesMasters/notesMaster1.xml" Id="R78921c6e7d4040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a8c00344f84eff" /><Relationship Type="http://schemas.openxmlformats.org/officeDocument/2006/relationships/notesMaster" Target="/ppt/notesMasters/notesMaster1.xml" Id="R45f2c8579ff146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21f9b94864928" /><Relationship Type="http://schemas.openxmlformats.org/officeDocument/2006/relationships/notesMaster" Target="/ppt/notesMasters/notesMaster1.xml" Id="R7ba568e967b847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979563148f4118" /><Relationship Type="http://schemas.openxmlformats.org/officeDocument/2006/relationships/notesMaster" Target="/ppt/notesMasters/notesMaster1.xml" Id="R0fca2eb6091b47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Working title of the engine: Mergero Quick Check. Cover: conceptual illustration created with the built-in Imagegen tool. Prompt: ivory business campus connected by a mint ribbon to a dark green building, editorial sculptural illustration, no text. Asset: .mergero-build/cover.png.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The product name “Mergero Quick Check” is a proposal. Mergero benefits from a growing database of businesses with documented preferences.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Proposed user journey. Saving a profile and receiving future contact are separate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The three core inputs come from the description. Industry and location are additional suggestions. Contact details are collected for requested follow-up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Concept proposal: the valuation methodology, suitable comparison data and rules for special cases must be defined and checked before implementation. No figures or validated valuation models have been provided. The presentation therefore contains no invented values. The estimate is not a binding determination of a purchase price.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The original concept mentions both contact opt-in and contact despite opting out. This slide makes the contradiction explicit and identifies the recommended product decision. Specific storage and deletion rules must be defined for implementation. This is not a legal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The conversation topics, scheduling and confirmation of the summary are proposals that make the requested AI calling service more concrete. The service is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The culture text and the approximate length of 500 words come from the description. Confirmation and sharing approval are process proposals. Buyers see a labelled self-assessment, not an independent culture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solution description supplied by the project team. Product concept, not features already implemented. Prioritisation is an implementation proposal. Matching is initially intended to be manual to learn the requirements. Success can be assessed through completed checks, saved profiles, contact opt-ins and conversations arranged. No performance or revenue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a4b01db85142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4a8de0c0124564" /><Relationship Type="http://schemas.openxmlformats.org/officeDocument/2006/relationships/slideLayout" Target="/ppt/slideLayouts/slideLayout1.xml" Id="Rd9262aad009644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262aad009644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17011557ef4b39" /><Relationship Type="http://schemas.openxmlformats.org/officeDocument/2006/relationships/image" Target="/ppt/media/image.png" Id="R0e86271fce3c41ad" /><Relationship Type="http://schemas.openxmlformats.org/officeDocument/2006/relationships/notesSlide" Target="/ppt/notesSlides/notesSlide1.xml" Id="R76cf6535de1441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630449ad874477" /><Relationship Type="http://schemas.openxmlformats.org/officeDocument/2006/relationships/notesSlide" Target="/ppt/notesSlides/notesSlide2.xml" Id="R7dd6581d98844f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4c32cefddb4ff9" /><Relationship Type="http://schemas.openxmlformats.org/officeDocument/2006/relationships/notesSlide" Target="/ppt/notesSlides/notesSlide3.xml" Id="R550673f82a364d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1c3a47a0d94b70" /><Relationship Type="http://schemas.openxmlformats.org/officeDocument/2006/relationships/notesSlide" Target="/ppt/notesSlides/notesSlide4.xml" Id="R057cc596d9c446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67e55a129546ce" /><Relationship Type="http://schemas.openxmlformats.org/officeDocument/2006/relationships/notesSlide" Target="/ppt/notesSlides/notesSlide5.xml" Id="R964c049dd49341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b27017b7e5e4029" /><Relationship Type="http://schemas.openxmlformats.org/officeDocument/2006/relationships/notesSlide" Target="/ppt/notesSlides/notesSlide6.xml" Id="Rd7aff92d1fda4a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2bb0a5716b43f0" /><Relationship Type="http://schemas.openxmlformats.org/officeDocument/2006/relationships/notesSlide" Target="/ppt/notesSlides/notesSlide7.xml" Id="R90d4b683d4a744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651bebc25a4253" /><Relationship Type="http://schemas.openxmlformats.org/officeDocument/2006/relationships/notesSlide" Target="/ppt/notesSlides/notesSlide8.xml" Id="R661ceec83c2d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9ba98da5564a5b" /><Relationship Type="http://schemas.openxmlformats.org/officeDocument/2006/relationships/notesSlide" Target="/ppt/notesSlides/notesSlide9.xml" Id="R303b323df98f445a" /></Relationships>
</file>

<file path=ppt/slides/slide1.xml><?xml version="1.0" encoding="utf-8"?>
<p:sld xmlns:p="http://schemas.openxmlformats.org/presentationml/2006/main">
  <p:cSld>
    <p:bg>
      <p:bgPr>
        <a:solidFill xmlns:a="http://schemas.openxmlformats.org/drawingml/2006/main">
          <a:srgbClr val="102F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B77EDD-C3D9-431C-B87F-9F34A5DAC749}"/>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4F2EA"/>
                </a:solidFill>
                <a:latin typeface="Arial"/>
                <a:ea typeface="Arial"/>
                <a:cs typeface="Arial"/>
              </a:defRPr>
            </a:pPr>
            <a:r>
              <a:rPr sz="3450" b="1">
                <a:solidFill>
                  <a:srgbClr val="F4F2EA"/>
                </a:solidFill>
                <a:latin typeface="Arial"/>
                <a:ea typeface="Arial"/>
                <a:cs typeface="Arial"/>
              </a:rPr>
              <a:t>Mergero</a:t>
            </a:r>
          </a:p>
        </p:txBody>
      </p:sp>
      <p:sp>
        <p:nvSpPr>
          <p:cNvPr id="2" name="">
            <a:extLst xmlns:a="http://schemas.openxmlformats.org/drawingml/2006/main">
              <a:ext uri="{FF2B5EF4-FFF2-40B4-BE49-F238E27FC236}">
                <a16:creationId xmlns:a16="http://schemas.microsoft.com/office/drawing/2014/main" id="{F6895AC0-043D-480E-AE50-16D9E3DF1A24}"/>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5496B38F-B654-46E3-BD89-3A507BD12F4B}"/>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EC7"/>
                </a:solidFill>
                <a:latin typeface="Arial"/>
                <a:ea typeface="Arial"/>
                <a:cs typeface="Arial"/>
              </a:defRPr>
            </a:pPr>
            <a:r>
              <a:rPr sz="1350" b="0">
                <a:solidFill>
                  <a:srgbClr val="B9DEC7"/>
                </a:solidFill>
                <a:latin typeface="Arial"/>
                <a:ea typeface="Arial"/>
                <a:cs typeface="Arial"/>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e86271fce3c41ad"/>
          <a:srcRect xmlns:a="http://schemas.openxmlformats.org/drawingml/2006/main" l="0" t="3555" r="0" b="3555"/>
          <a:stretch xmlns:a="http://schemas.openxmlformats.org/drawingml/2006/main">
            <a:fillRect l="0" t="0" r="0" b="0"/>
          </a:stretch>
        </p:blipFill>
        <p:spPr>
          <a:xfrm xmlns:a="http://schemas.openxmlformats.org/drawingml/2006/main">
            <a:off x="6858000" y="0"/>
            <a:ext cx="5334000" cy="6191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5DBA00-8DB4-48B5-B1A9-CC65C71A19B2}"/>
              </a:ext>
            </a:extLst>
          </p:cNvPr>
          <p:cNvSpPr>
            <a:spLocks xmlns:a="http://schemas.openxmlformats.org/drawingml/2006/main" noGrp="1"/>
          </p:cNvSpPr>
          <p:nvPr/>
        </p:nvSpPr>
        <p:spPr>
          <a:xfrm xmlns:a="http://schemas.openxmlformats.org/drawingml/2006/main">
            <a:off x="685800" y="2238375"/>
            <a:ext cx="6381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825" b="1">
                <a:solidFill>
                  <a:srgbClr val="F4F2EA"/>
                </a:solidFill>
                <a:latin typeface="Arial"/>
                <a:ea typeface="Arial"/>
                <a:cs typeface="Arial"/>
              </a:defRPr>
            </a:pPr>
            <a:r>
              <a:rPr sz="3825" b="1">
                <a:solidFill>
                  <a:srgbClr val="F4F2EA"/>
                </a:solidFill>
                <a:latin typeface="Arial"/>
                <a:ea typeface="Arial"/>
                <a:cs typeface="Arial"/>
              </a:rPr>
              <a:t>Unternehmen einschätzen.</a:t>
            </a:r>
          </a:p>
          <a:p xmlns:a="http://schemas.openxmlformats.org/drawingml/2006/main">
            <a:pPr>
              <a:buNone/>
              <a:defRPr sz="3825" b="1">
                <a:solidFill>
                  <a:srgbClr val="F4F2EA"/>
                </a:solidFill>
                <a:latin typeface="Arial"/>
                <a:ea typeface="Arial"/>
                <a:cs typeface="Arial"/>
              </a:defRPr>
            </a:pPr>
            <a:r>
              <a:rPr sz="3825" b="1">
                <a:solidFill>
                  <a:srgbClr val="F4F2EA"/>
                </a:solidFill>
                <a:latin typeface="Arial"/>
                <a:ea typeface="Arial"/>
                <a:cs typeface="Arial"/>
              </a:rPr>
              <a:t>Käufer kennenlernen.</a:t>
            </a:r>
          </a:p>
        </p:txBody>
      </p:sp>
      <p:sp>
        <p:nvSpPr>
          <p:cNvPr id="6" name="">
            <a:extLst xmlns:a="http://schemas.openxmlformats.org/drawingml/2006/main">
              <a:ext uri="{FF2B5EF4-FFF2-40B4-BE49-F238E27FC236}">
                <a16:creationId xmlns:a16="http://schemas.microsoft.com/office/drawing/2014/main" id="{A14FF481-AAF7-423A-B90D-107180934C29}"/>
              </a:ext>
            </a:extLst>
          </p:cNvPr>
          <p:cNvSpPr>
            <a:spLocks xmlns:a="http://schemas.openxmlformats.org/drawingml/2006/main" noGrp="1"/>
          </p:cNvSpPr>
          <p:nvPr/>
        </p:nvSpPr>
        <p:spPr>
          <a:xfrm xmlns:a="http://schemas.openxmlformats.org/drawingml/2006/main">
            <a:off x="685800" y="4143375"/>
            <a:ext cx="6048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EC7"/>
                </a:solidFill>
                <a:latin typeface="Arial"/>
                <a:ea typeface="Arial"/>
                <a:cs typeface="Arial"/>
              </a:defRPr>
            </a:pPr>
            <a:r>
              <a:rPr sz="2100" b="0">
                <a:solidFill>
                  <a:srgbClr val="B9DEC7"/>
                </a:solidFill>
                <a:latin typeface="Arial"/>
                <a:ea typeface="Arial"/>
                <a:cs typeface="Arial"/>
              </a:rPr>
              <a:t>Ein kurzer Unternehmenscheck als Einstieg</a:t>
            </a:r>
          </a:p>
          <a:p xmlns:a="http://schemas.openxmlformats.org/drawingml/2006/main">
            <a:pPr>
              <a:buNone/>
              <a:defRPr sz="2100" b="0">
                <a:solidFill>
                  <a:srgbClr val="B9DEC7"/>
                </a:solidFill>
                <a:latin typeface="Arial"/>
                <a:ea typeface="Arial"/>
                <a:cs typeface="Arial"/>
              </a:defRPr>
            </a:pPr>
            <a:r>
              <a:rPr sz="2100" b="0">
                <a:solidFill>
                  <a:srgbClr val="B9DEC7"/>
                </a:solidFill>
                <a:latin typeface="Arial"/>
                <a:ea typeface="Arial"/>
                <a:cs typeface="Arial"/>
              </a:rPr>
              <a:t>in die mögliche Unternehmensnachfolge.</a:t>
            </a:r>
          </a:p>
        </p:txBody>
      </p:sp>
    </p:spTree>
    <p:extLst>
      <p:ext uri="{BB962C8B-B14F-4D97-AF65-F5344CB8AC3E}">
        <p14:creationId xmlns:p14="http://schemas.microsoft.com/office/powerpoint/2010/main" val="388147180"/>
      </p:ext>
    </p:extLst>
  </p:cSld>
</p:sld>
</file>

<file path=ppt/slides/slide2.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ED9FC5-7A6E-40DA-995A-9B984BC45666}"/>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The solution: Mergero Quick Check</a:t>
            </a:r>
          </a:p>
        </p:txBody>
      </p:sp>
      <p:sp>
        <p:nvSpPr>
          <p:cNvPr id="2" name="">
            <a:extLst xmlns:a="http://schemas.openxmlformats.org/drawingml/2006/main">
              <a:ext uri="{FF2B5EF4-FFF2-40B4-BE49-F238E27FC236}">
                <a16:creationId xmlns:a16="http://schemas.microsoft.com/office/drawing/2014/main" id="{B7D23E57-A3A6-46EF-AB61-DF5F2D8C3D3D}"/>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0949356A-C421-4EA5-95A9-F056AC77BFF5}"/>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80642EC-3930-46F7-AD82-8321CE006E83}"/>
              </a:ext>
            </a:extLst>
          </p:cNvPr>
          <p:cNvSpPr>
            <a:spLocks xmlns:a="http://schemas.openxmlformats.org/drawingml/2006/main" noGrp="1"/>
          </p:cNvSpPr>
          <p:nvPr/>
        </p:nvSpPr>
        <p:spPr>
          <a:xfrm xmlns:a="http://schemas.openxmlformats.org/drawingml/2006/main">
            <a:off x="6858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536B60"/>
                </a:solidFill>
                <a:latin typeface="Arial"/>
                <a:ea typeface="Arial"/>
                <a:cs typeface="Arial"/>
              </a:defRPr>
            </a:pPr>
            <a:r>
              <a:rPr sz="3900" b="0">
                <a:solidFill>
                  <a:srgbClr val="536B6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16227D8-9358-43B7-9C11-D2626C71D38A}"/>
              </a:ext>
            </a:extLst>
          </p:cNvPr>
          <p:cNvSpPr>
            <a:spLocks xmlns:a="http://schemas.openxmlformats.org/drawingml/2006/main" noGrp="1"/>
          </p:cNvSpPr>
          <p:nvPr/>
        </p:nvSpPr>
        <p:spPr>
          <a:xfrm xmlns:a="http://schemas.openxmlformats.org/drawingml/2006/main">
            <a:off x="6858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Easy to get started</a:t>
            </a:r>
          </a:p>
        </p:txBody>
      </p:sp>
      <p:sp>
        <p:nvSpPr>
          <p:cNvPr id="6" name="">
            <a:extLst xmlns:a="http://schemas.openxmlformats.org/drawingml/2006/main">
              <a:ext uri="{FF2B5EF4-FFF2-40B4-BE49-F238E27FC236}">
                <a16:creationId xmlns:a16="http://schemas.microsoft.com/office/drawing/2014/main" id="{182465DE-FA6C-455B-9CFA-08201D3712EB}"/>
              </a:ext>
            </a:extLst>
          </p:cNvPr>
          <p:cNvSpPr>
            <a:spLocks xmlns:a="http://schemas.openxmlformats.org/drawingml/2006/main" noGrp="1"/>
          </p:cNvSpPr>
          <p:nvPr/>
        </p:nvSpPr>
        <p:spPr>
          <a:xfrm xmlns:a="http://schemas.openxmlformats.org/drawingml/2006/main">
            <a:off x="6858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A short online tool for business owners. Easy to share via a direct link and use in outreach.</a:t>
            </a:r>
          </a:p>
        </p:txBody>
      </p:sp>
      <p:sp>
        <p:nvSpPr>
          <p:cNvPr id="7" name="">
            <a:extLst xmlns:a="http://schemas.openxmlformats.org/drawingml/2006/main">
              <a:ext uri="{FF2B5EF4-FFF2-40B4-BE49-F238E27FC236}">
                <a16:creationId xmlns:a16="http://schemas.microsoft.com/office/drawing/2014/main" id="{E7EF952D-3EE2-4637-8B8A-51E6975587A4}"/>
              </a:ext>
            </a:extLst>
          </p:cNvPr>
          <p:cNvSpPr>
            <a:spLocks xmlns:a="http://schemas.openxmlformats.org/drawingml/2006/main" noGrp="1"/>
          </p:cNvSpPr>
          <p:nvPr/>
        </p:nvSpPr>
        <p:spPr>
          <a:xfrm xmlns:a="http://schemas.openxmlformats.org/drawingml/2006/main">
            <a:off x="440055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536B60"/>
                </a:solidFill>
                <a:latin typeface="Arial"/>
                <a:ea typeface="Arial"/>
                <a:cs typeface="Arial"/>
              </a:defRPr>
            </a:pPr>
            <a:r>
              <a:rPr sz="3900" b="0">
                <a:solidFill>
                  <a:srgbClr val="536B6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E5FDF50-C3FB-4DEB-92A2-54792B25F080}"/>
              </a:ext>
            </a:extLst>
          </p:cNvPr>
          <p:cNvSpPr>
            <a:spLocks xmlns:a="http://schemas.openxmlformats.org/drawingml/2006/main" noGrp="1"/>
          </p:cNvSpPr>
          <p:nvPr/>
        </p:nvSpPr>
        <p:spPr>
          <a:xfrm xmlns:a="http://schemas.openxmlformats.org/drawingml/2006/main">
            <a:off x="440055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Immediate value</a:t>
            </a:r>
          </a:p>
        </p:txBody>
      </p:sp>
      <p:sp>
        <p:nvSpPr>
          <p:cNvPr id="9" name="">
            <a:extLst xmlns:a="http://schemas.openxmlformats.org/drawingml/2006/main">
              <a:ext uri="{FF2B5EF4-FFF2-40B4-BE49-F238E27FC236}">
                <a16:creationId xmlns:a16="http://schemas.microsoft.com/office/drawing/2014/main" id="{1D35F324-9093-4FF1-B3D9-5C0E208DC0A4}"/>
              </a:ext>
            </a:extLst>
          </p:cNvPr>
          <p:cNvSpPr>
            <a:spLocks xmlns:a="http://schemas.openxmlformats.org/drawingml/2006/main" noGrp="1"/>
          </p:cNvSpPr>
          <p:nvPr/>
        </p:nvSpPr>
        <p:spPr>
          <a:xfrm xmlns:a="http://schemas.openxmlformats.org/drawingml/2006/main">
            <a:off x="440055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A few details provide an initial rough estimate of the business value.</a:t>
            </a:r>
          </a:p>
        </p:txBody>
      </p:sp>
      <p:sp>
        <p:nvSpPr>
          <p:cNvPr id="10" name="">
            <a:extLst xmlns:a="http://schemas.openxmlformats.org/drawingml/2006/main">
              <a:ext uri="{FF2B5EF4-FFF2-40B4-BE49-F238E27FC236}">
                <a16:creationId xmlns:a16="http://schemas.microsoft.com/office/drawing/2014/main" id="{81DB5349-306D-4440-915B-18DD8B91637A}"/>
              </a:ext>
            </a:extLst>
          </p:cNvPr>
          <p:cNvSpPr>
            <a:spLocks xmlns:a="http://schemas.openxmlformats.org/drawingml/2006/main" noGrp="1"/>
          </p:cNvSpPr>
          <p:nvPr/>
        </p:nvSpPr>
        <p:spPr>
          <a:xfrm xmlns:a="http://schemas.openxmlformats.org/drawingml/2006/main">
            <a:off x="81153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536B60"/>
                </a:solidFill>
                <a:latin typeface="Arial"/>
                <a:ea typeface="Arial"/>
                <a:cs typeface="Arial"/>
              </a:defRPr>
            </a:pPr>
            <a:r>
              <a:rPr sz="3900" b="0">
                <a:solidFill>
                  <a:srgbClr val="536B6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3EA1851-FEE4-4EAE-B27D-173272B2461D}"/>
              </a:ext>
            </a:extLst>
          </p:cNvPr>
          <p:cNvSpPr>
            <a:spLocks xmlns:a="http://schemas.openxmlformats.org/drawingml/2006/main" noGrp="1"/>
          </p:cNvSpPr>
          <p:nvPr/>
        </p:nvSpPr>
        <p:spPr>
          <a:xfrm xmlns:a="http://schemas.openxmlformats.org/drawingml/2006/main">
            <a:off x="81153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Optional introductions</a:t>
            </a:r>
          </a:p>
        </p:txBody>
      </p:sp>
      <p:sp>
        <p:nvSpPr>
          <p:cNvPr id="12" name="">
            <a:extLst xmlns:a="http://schemas.openxmlformats.org/drawingml/2006/main">
              <a:ext uri="{FF2B5EF4-FFF2-40B4-BE49-F238E27FC236}">
                <a16:creationId xmlns:a16="http://schemas.microsoft.com/office/drawing/2014/main" id="{606A63A8-7AD1-4660-8D2C-605F96CF2386}"/>
              </a:ext>
            </a:extLst>
          </p:cNvPr>
          <p:cNvSpPr>
            <a:spLocks xmlns:a="http://schemas.openxmlformats.org/drawingml/2006/main" noGrp="1"/>
          </p:cNvSpPr>
          <p:nvPr/>
        </p:nvSpPr>
        <p:spPr>
          <a:xfrm xmlns:a="http://schemas.openxmlformats.org/drawingml/2006/main">
            <a:off x="81153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Interested businesses can save a profile and meet suitable buyers.</a:t>
            </a:r>
          </a:p>
        </p:txBody>
      </p:sp>
    </p:spTree>
    <p:extLst>
      <p:ext uri="{BB962C8B-B14F-4D97-AF65-F5344CB8AC3E}">
        <p14:creationId xmlns:p14="http://schemas.microsoft.com/office/powerpoint/2010/main" val="952428501"/>
      </p:ext>
    </p:extLst>
  </p:cSld>
</p:sld>
</file>

<file path=ppt/slides/slide3.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9875BB-D425-47AD-9D09-5E773FD18D1E}"/>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The journey through the tool</a:t>
            </a:r>
          </a:p>
        </p:txBody>
      </p:sp>
      <p:sp>
        <p:nvSpPr>
          <p:cNvPr id="2" name="">
            <a:extLst xmlns:a="http://schemas.openxmlformats.org/drawingml/2006/main">
              <a:ext uri="{FF2B5EF4-FFF2-40B4-BE49-F238E27FC236}">
                <a16:creationId xmlns:a16="http://schemas.microsoft.com/office/drawing/2014/main" id="{FA4304B0-6543-44EF-90EA-5461BA5AD83C}"/>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F8C62405-F7D4-4546-80D2-F786FA83D36A}"/>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30F066ED-2783-426C-9309-9DFC5C08DF69}"/>
              </a:ext>
            </a:extLst>
          </p:cNvPr>
          <p:cNvSpPr>
            <a:spLocks xmlns:a="http://schemas.openxmlformats.org/drawingml/2006/main" noGrp="1"/>
          </p:cNvSpPr>
          <p:nvPr/>
        </p:nvSpPr>
        <p:spPr>
          <a:xfrm xmlns:a="http://schemas.openxmlformats.org/drawingml/2006/main">
            <a:off x="685800" y="18288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536B60"/>
                </a:solidFill>
                <a:latin typeface="Arial"/>
                <a:ea typeface="Arial"/>
                <a:cs typeface="Arial"/>
              </a:defRPr>
            </a:pPr>
            <a:r>
              <a:rPr sz="2925" b="1">
                <a:solidFill>
                  <a:srgbClr val="536B60"/>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E132CC27-FB9E-4FAF-93F7-4EC37895018F}"/>
              </a:ext>
            </a:extLst>
          </p:cNvPr>
          <p:cNvSpPr>
            <a:spLocks xmlns:a="http://schemas.openxmlformats.org/drawingml/2006/main" noGrp="1"/>
          </p:cNvSpPr>
          <p:nvPr/>
        </p:nvSpPr>
        <p:spPr>
          <a:xfrm xmlns:a="http://schemas.openxmlformats.org/drawingml/2006/main">
            <a:off x="1524000" y="182880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Open the invitation</a:t>
            </a:r>
          </a:p>
        </p:txBody>
      </p:sp>
      <p:sp>
        <p:nvSpPr>
          <p:cNvPr id="6" name="">
            <a:extLst xmlns:a="http://schemas.openxmlformats.org/drawingml/2006/main">
              <a:ext uri="{FF2B5EF4-FFF2-40B4-BE49-F238E27FC236}">
                <a16:creationId xmlns:a16="http://schemas.microsoft.com/office/drawing/2014/main" id="{92F5DB80-D8F4-4B3F-90E5-AF340A84A79C}"/>
              </a:ext>
            </a:extLst>
          </p:cNvPr>
          <p:cNvSpPr>
            <a:spLocks xmlns:a="http://schemas.openxmlformats.org/drawingml/2006/main" noGrp="1"/>
          </p:cNvSpPr>
          <p:nvPr/>
        </p:nvSpPr>
        <p:spPr>
          <a:xfrm xmlns:a="http://schemas.openxmlformats.org/drawingml/2006/main">
            <a:off x="5667375" y="1828800"/>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A brief benefit statement and a direct link to the check.</a:t>
            </a:r>
          </a:p>
        </p:txBody>
      </p:sp>
      <p:sp>
        <p:nvSpPr>
          <p:cNvPr id="7" name="">
            <a:extLst xmlns:a="http://schemas.openxmlformats.org/drawingml/2006/main">
              <a:ext uri="{FF2B5EF4-FFF2-40B4-BE49-F238E27FC236}">
                <a16:creationId xmlns:a16="http://schemas.microsoft.com/office/drawing/2014/main" id="{8750F2C5-90C0-4F8A-8716-E4895C323A22}"/>
              </a:ext>
            </a:extLst>
          </p:cNvPr>
          <p:cNvSpPr>
            <a:spLocks xmlns:a="http://schemas.openxmlformats.org/drawingml/2006/main" noGrp="1"/>
          </p:cNvSpPr>
          <p:nvPr/>
        </p:nvSpPr>
        <p:spPr>
          <a:xfrm xmlns:a="http://schemas.openxmlformats.org/drawingml/2006/main">
            <a:off x="685800" y="28479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536B60"/>
                </a:solidFill>
                <a:latin typeface="Arial"/>
                <a:ea typeface="Arial"/>
                <a:cs typeface="Arial"/>
              </a:defRPr>
            </a:pPr>
            <a:r>
              <a:rPr sz="2925" b="1">
                <a:solidFill>
                  <a:srgbClr val="536B60"/>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49F5100A-E2C9-4DCF-A9D2-8BFA2D3C3EB9}"/>
              </a:ext>
            </a:extLst>
          </p:cNvPr>
          <p:cNvSpPr>
            <a:spLocks xmlns:a="http://schemas.openxmlformats.org/drawingml/2006/main" noGrp="1"/>
          </p:cNvSpPr>
          <p:nvPr/>
        </p:nvSpPr>
        <p:spPr>
          <a:xfrm xmlns:a="http://schemas.openxmlformats.org/drawingml/2006/main">
            <a:off x="1524000" y="284797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Enter basic data</a:t>
            </a:r>
          </a:p>
        </p:txBody>
      </p:sp>
      <p:sp>
        <p:nvSpPr>
          <p:cNvPr id="9" name="">
            <a:extLst xmlns:a="http://schemas.openxmlformats.org/drawingml/2006/main">
              <a:ext uri="{FF2B5EF4-FFF2-40B4-BE49-F238E27FC236}">
                <a16:creationId xmlns:a16="http://schemas.microsoft.com/office/drawing/2014/main" id="{23168B6B-FA60-484F-A782-EFE77686E501}"/>
              </a:ext>
            </a:extLst>
          </p:cNvPr>
          <p:cNvSpPr>
            <a:spLocks xmlns:a="http://schemas.openxmlformats.org/drawingml/2006/main" noGrp="1"/>
          </p:cNvSpPr>
          <p:nvPr/>
        </p:nvSpPr>
        <p:spPr>
          <a:xfrm xmlns:a="http://schemas.openxmlformats.org/drawingml/2006/main">
            <a:off x="5667375" y="2847975"/>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Provide figures the owner can quickly access.</a:t>
            </a:r>
          </a:p>
        </p:txBody>
      </p:sp>
      <p:sp>
        <p:nvSpPr>
          <p:cNvPr id="10" name="">
            <a:extLst xmlns:a="http://schemas.openxmlformats.org/drawingml/2006/main">
              <a:ext uri="{FF2B5EF4-FFF2-40B4-BE49-F238E27FC236}">
                <a16:creationId xmlns:a16="http://schemas.microsoft.com/office/drawing/2014/main" id="{8AD376C9-2F93-4184-A690-001A5ACD7FC5}"/>
              </a:ext>
            </a:extLst>
          </p:cNvPr>
          <p:cNvSpPr>
            <a:spLocks xmlns:a="http://schemas.openxmlformats.org/drawingml/2006/main" noGrp="1"/>
          </p:cNvSpPr>
          <p:nvPr/>
        </p:nvSpPr>
        <p:spPr>
          <a:xfrm xmlns:a="http://schemas.openxmlformats.org/drawingml/2006/main">
            <a:off x="685800" y="38671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536B60"/>
                </a:solidFill>
                <a:latin typeface="Arial"/>
                <a:ea typeface="Arial"/>
                <a:cs typeface="Arial"/>
              </a:defRPr>
            </a:pPr>
            <a:r>
              <a:rPr sz="2925" b="1">
                <a:solidFill>
                  <a:srgbClr val="536B60"/>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7FA42AE4-E753-4149-9179-5969F2F954C8}"/>
              </a:ext>
            </a:extLst>
          </p:cNvPr>
          <p:cNvSpPr>
            <a:spLocks xmlns:a="http://schemas.openxmlformats.org/drawingml/2006/main" noGrp="1"/>
          </p:cNvSpPr>
          <p:nvPr/>
        </p:nvSpPr>
        <p:spPr>
          <a:xfrm xmlns:a="http://schemas.openxmlformats.org/drawingml/2006/main">
            <a:off x="1524000" y="3867150"/>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Get an estimate</a:t>
            </a:r>
          </a:p>
        </p:txBody>
      </p:sp>
      <p:sp>
        <p:nvSpPr>
          <p:cNvPr id="12" name="">
            <a:extLst xmlns:a="http://schemas.openxmlformats.org/drawingml/2006/main">
              <a:ext uri="{FF2B5EF4-FFF2-40B4-BE49-F238E27FC236}">
                <a16:creationId xmlns:a16="http://schemas.microsoft.com/office/drawing/2014/main" id="{51B87D3E-11F4-4DF8-830F-CA828D9317B9}"/>
              </a:ext>
            </a:extLst>
          </p:cNvPr>
          <p:cNvSpPr>
            <a:spLocks xmlns:a="http://schemas.openxmlformats.org/drawingml/2006/main" noGrp="1"/>
          </p:cNvSpPr>
          <p:nvPr/>
        </p:nvSpPr>
        <p:spPr>
          <a:xfrm xmlns:a="http://schemas.openxmlformats.org/drawingml/2006/main">
            <a:off x="5667375" y="3867150"/>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A rough value range with assumptions and open questions.</a:t>
            </a:r>
          </a:p>
        </p:txBody>
      </p:sp>
      <p:sp>
        <p:nvSpPr>
          <p:cNvPr id="13" name="">
            <a:extLst xmlns:a="http://schemas.openxmlformats.org/drawingml/2006/main">
              <a:ext uri="{FF2B5EF4-FFF2-40B4-BE49-F238E27FC236}">
                <a16:creationId xmlns:a16="http://schemas.microsoft.com/office/drawing/2014/main" id="{AA30A34E-805D-45CF-846E-9D1A541DCB67}"/>
              </a:ext>
            </a:extLst>
          </p:cNvPr>
          <p:cNvSpPr>
            <a:spLocks xmlns:a="http://schemas.openxmlformats.org/drawingml/2006/main" noGrp="1"/>
          </p:cNvSpPr>
          <p:nvPr/>
        </p:nvSpPr>
        <p:spPr>
          <a:xfrm xmlns:a="http://schemas.openxmlformats.org/drawingml/2006/main">
            <a:off x="685800" y="48863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536B60"/>
                </a:solidFill>
                <a:latin typeface="Arial"/>
                <a:ea typeface="Arial"/>
                <a:cs typeface="Arial"/>
              </a:defRPr>
            </a:pPr>
            <a:r>
              <a:rPr sz="2925" b="1">
                <a:solidFill>
                  <a:srgbClr val="536B60"/>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2A4BE777-7332-440C-908A-A01BBDE5DA5B}"/>
              </a:ext>
            </a:extLst>
          </p:cNvPr>
          <p:cNvSpPr>
            <a:spLocks xmlns:a="http://schemas.openxmlformats.org/drawingml/2006/main" noGrp="1"/>
          </p:cNvSpPr>
          <p:nvPr/>
        </p:nvSpPr>
        <p:spPr>
          <a:xfrm xmlns:a="http://schemas.openxmlformats.org/drawingml/2006/main">
            <a:off x="1524000" y="4886325"/>
            <a:ext cx="385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Choose the next step</a:t>
            </a:r>
          </a:p>
        </p:txBody>
      </p:sp>
      <p:sp>
        <p:nvSpPr>
          <p:cNvPr id="15" name="">
            <a:extLst xmlns:a="http://schemas.openxmlformats.org/drawingml/2006/main">
              <a:ext uri="{FF2B5EF4-FFF2-40B4-BE49-F238E27FC236}">
                <a16:creationId xmlns:a16="http://schemas.microsoft.com/office/drawing/2014/main" id="{736F7A8A-7D01-4D58-9AB9-8B9DFD3D5778}"/>
              </a:ext>
            </a:extLst>
          </p:cNvPr>
          <p:cNvSpPr>
            <a:spLocks xmlns:a="http://schemas.openxmlformats.org/drawingml/2006/main" noGrp="1"/>
          </p:cNvSpPr>
          <p:nvPr/>
        </p:nvSpPr>
        <p:spPr>
          <a:xfrm xmlns:a="http://schemas.openxmlformats.org/drawingml/2006/main">
            <a:off x="5667375" y="4886325"/>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Save a profile, request a call or finish the check.</a:t>
            </a:r>
          </a:p>
        </p:txBody>
      </p:sp>
    </p:spTree>
    <p:extLst>
      <p:ext uri="{BB962C8B-B14F-4D97-AF65-F5344CB8AC3E}">
        <p14:creationId xmlns:p14="http://schemas.microsoft.com/office/powerpoint/2010/main" val="393428336"/>
      </p:ext>
    </p:extLst>
  </p:cSld>
</p:sld>
</file>

<file path=ppt/slides/slide4.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34BEA2B-4263-4149-AC33-4D556FE72950}"/>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A few details for an initial estimate</a:t>
            </a:r>
          </a:p>
        </p:txBody>
      </p:sp>
      <p:sp>
        <p:nvSpPr>
          <p:cNvPr id="2" name="">
            <a:extLst xmlns:a="http://schemas.openxmlformats.org/drawingml/2006/main">
              <a:ext uri="{FF2B5EF4-FFF2-40B4-BE49-F238E27FC236}">
                <a16:creationId xmlns:a16="http://schemas.microsoft.com/office/drawing/2014/main" id="{DC5E1A7B-F76E-4328-9C8F-52A2791A50CE}"/>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8526182F-C963-4B6E-A7A4-0F41360A631F}"/>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6A87D45-52A5-4432-A51D-F14D03E80AD8}"/>
              </a:ext>
            </a:extLst>
          </p:cNvPr>
          <p:cNvSpPr>
            <a:spLocks xmlns:a="http://schemas.openxmlformats.org/drawingml/2006/main" noGrp="1"/>
          </p:cNvSpPr>
          <p:nvPr/>
        </p:nvSpPr>
        <p:spPr>
          <a:xfrm xmlns:a="http://schemas.openxmlformats.org/drawingml/2006/main">
            <a:off x="6858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D44B8FFF-9439-409D-84AE-B78B0612C237}"/>
              </a:ext>
            </a:extLst>
          </p:cNvPr>
          <p:cNvSpPr>
            <a:spLocks xmlns:a="http://schemas.openxmlformats.org/drawingml/2006/main" noGrp="1"/>
          </p:cNvSpPr>
          <p:nvPr/>
        </p:nvSpPr>
        <p:spPr>
          <a:xfrm xmlns:a="http://schemas.openxmlformats.org/drawingml/2006/main">
            <a:off x="6858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Revenue</a:t>
            </a:r>
          </a:p>
        </p:txBody>
      </p:sp>
      <p:sp>
        <p:nvSpPr>
          <p:cNvPr id="6" name="">
            <a:extLst xmlns:a="http://schemas.openxmlformats.org/drawingml/2006/main">
              <a:ext uri="{FF2B5EF4-FFF2-40B4-BE49-F238E27FC236}">
                <a16:creationId xmlns:a16="http://schemas.microsoft.com/office/drawing/2014/main" id="{D02D170D-15FD-4DDB-805E-DC86477B18EA}"/>
              </a:ext>
            </a:extLst>
          </p:cNvPr>
          <p:cNvSpPr>
            <a:spLocks xmlns:a="http://schemas.openxmlformats.org/drawingml/2006/main" noGrp="1"/>
          </p:cNvSpPr>
          <p:nvPr/>
        </p:nvSpPr>
        <p:spPr>
          <a:xfrm xmlns:a="http://schemas.openxmlformats.org/drawingml/2006/main">
            <a:off x="6858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Revenue for the last completed financial year. Specify the period and currency.</a:t>
            </a:r>
          </a:p>
        </p:txBody>
      </p:sp>
      <p:sp>
        <p:nvSpPr>
          <p:cNvPr id="7" name="">
            <a:extLst xmlns:a="http://schemas.openxmlformats.org/drawingml/2006/main">
              <a:ext uri="{FF2B5EF4-FFF2-40B4-BE49-F238E27FC236}">
                <a16:creationId xmlns:a16="http://schemas.microsoft.com/office/drawing/2014/main" id="{6D172439-A03F-49F7-B2BC-B94F45963A53}"/>
              </a:ext>
            </a:extLst>
          </p:cNvPr>
          <p:cNvSpPr>
            <a:spLocks xmlns:a="http://schemas.openxmlformats.org/drawingml/2006/main" noGrp="1"/>
          </p:cNvSpPr>
          <p:nvPr/>
        </p:nvSpPr>
        <p:spPr>
          <a:xfrm xmlns:a="http://schemas.openxmlformats.org/drawingml/2006/main">
            <a:off x="440055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F683D84-6315-4E12-AA68-C8FEA04E648C}"/>
              </a:ext>
            </a:extLst>
          </p:cNvPr>
          <p:cNvSpPr>
            <a:spLocks xmlns:a="http://schemas.openxmlformats.org/drawingml/2006/main" noGrp="1"/>
          </p:cNvSpPr>
          <p:nvPr/>
        </p:nvSpPr>
        <p:spPr>
          <a:xfrm xmlns:a="http://schemas.openxmlformats.org/drawingml/2006/main">
            <a:off x="440055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Profit</a:t>
            </a:r>
          </a:p>
        </p:txBody>
      </p:sp>
      <p:sp>
        <p:nvSpPr>
          <p:cNvPr id="9" name="">
            <a:extLst xmlns:a="http://schemas.openxmlformats.org/drawingml/2006/main">
              <a:ext uri="{FF2B5EF4-FFF2-40B4-BE49-F238E27FC236}">
                <a16:creationId xmlns:a16="http://schemas.microsoft.com/office/drawing/2014/main" id="{29B11EEF-5EDF-44B9-874D-EFFB5103C6DA}"/>
              </a:ext>
            </a:extLst>
          </p:cNvPr>
          <p:cNvSpPr>
            <a:spLocks xmlns:a="http://schemas.openxmlformats.org/drawingml/2006/main" noGrp="1"/>
          </p:cNvSpPr>
          <p:nvPr/>
        </p:nvSpPr>
        <p:spPr>
          <a:xfrm xmlns:a="http://schemas.openxmlformats.org/drawingml/2006/main">
            <a:off x="440055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Profit for the same period. Clearly identify the profit measure used.</a:t>
            </a:r>
          </a:p>
        </p:txBody>
      </p:sp>
      <p:sp>
        <p:nvSpPr>
          <p:cNvPr id="10" name="">
            <a:extLst xmlns:a="http://schemas.openxmlformats.org/drawingml/2006/main">
              <a:ext uri="{FF2B5EF4-FFF2-40B4-BE49-F238E27FC236}">
                <a16:creationId xmlns:a16="http://schemas.microsoft.com/office/drawing/2014/main" id="{2E72EF2D-855E-4083-A1E7-398FA5089CE7}"/>
              </a:ext>
            </a:extLst>
          </p:cNvPr>
          <p:cNvSpPr>
            <a:spLocks xmlns:a="http://schemas.openxmlformats.org/drawingml/2006/main" noGrp="1"/>
          </p:cNvSpPr>
          <p:nvPr/>
        </p:nvSpPr>
        <p:spPr>
          <a:xfrm xmlns:a="http://schemas.openxmlformats.org/drawingml/2006/main">
            <a:off x="8115300" y="19716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536B60"/>
                </a:solidFill>
                <a:latin typeface="Arial"/>
                <a:ea typeface="Arial"/>
                <a:cs typeface="Arial"/>
              </a:defRPr>
            </a:pPr>
            <a:r>
              <a:rPr sz="3900" b="0">
                <a:solidFill>
                  <a:srgbClr val="536B60"/>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A6F1DFB-B380-4EF6-B70A-B6AFF20BCE61}"/>
              </a:ext>
            </a:extLst>
          </p:cNvPr>
          <p:cNvSpPr>
            <a:spLocks xmlns:a="http://schemas.openxmlformats.org/drawingml/2006/main" noGrp="1"/>
          </p:cNvSpPr>
          <p:nvPr/>
        </p:nvSpPr>
        <p:spPr>
          <a:xfrm xmlns:a="http://schemas.openxmlformats.org/drawingml/2006/main">
            <a:off x="8115300" y="282892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Employees</a:t>
            </a:r>
          </a:p>
        </p:txBody>
      </p:sp>
      <p:sp>
        <p:nvSpPr>
          <p:cNvPr id="12" name="">
            <a:extLst xmlns:a="http://schemas.openxmlformats.org/drawingml/2006/main">
              <a:ext uri="{FF2B5EF4-FFF2-40B4-BE49-F238E27FC236}">
                <a16:creationId xmlns:a16="http://schemas.microsoft.com/office/drawing/2014/main" id="{97A8961C-3AAE-4B22-9A75-B9FA05282AE8}"/>
              </a:ext>
            </a:extLst>
          </p:cNvPr>
          <p:cNvSpPr>
            <a:spLocks xmlns:a="http://schemas.openxmlformats.org/drawingml/2006/main" noGrp="1"/>
          </p:cNvSpPr>
          <p:nvPr/>
        </p:nvSpPr>
        <p:spPr>
          <a:xfrm xmlns:a="http://schemas.openxmlformats.org/drawingml/2006/main">
            <a:off x="8115300" y="3714750"/>
            <a:ext cx="3190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82E"/>
                </a:solidFill>
                <a:latin typeface="Arial"/>
                <a:ea typeface="Arial"/>
                <a:cs typeface="Arial"/>
              </a:defRPr>
            </a:pPr>
            <a:r>
              <a:rPr sz="1875" b="0">
                <a:solidFill>
                  <a:srgbClr val="16382E"/>
                </a:solidFill>
                <a:latin typeface="Arial"/>
                <a:ea typeface="Arial"/>
                <a:cs typeface="Arial"/>
              </a:rPr>
              <a:t>Current employee count. A simple number is enough to get started.</a:t>
            </a:r>
          </a:p>
        </p:txBody>
      </p:sp>
      <p:sp>
        <p:nvSpPr>
          <p:cNvPr id="13" name="">
            <a:extLst xmlns:a="http://schemas.openxmlformats.org/drawingml/2006/main">
              <a:ext uri="{FF2B5EF4-FFF2-40B4-BE49-F238E27FC236}">
                <a16:creationId xmlns:a16="http://schemas.microsoft.com/office/drawing/2014/main" id="{D2E79AAC-26A7-48C9-9F58-3664126BDDEB}"/>
              </a:ext>
            </a:extLst>
          </p:cNvPr>
          <p:cNvSpPr>
            <a:spLocks xmlns:a="http://schemas.openxmlformats.org/drawingml/2006/main" noGrp="1"/>
          </p:cNvSpPr>
          <p:nvPr/>
        </p:nvSpPr>
        <p:spPr>
          <a:xfrm xmlns:a="http://schemas.openxmlformats.org/drawingml/2006/main">
            <a:off x="685800" y="57150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60"/>
                </a:solidFill>
                <a:latin typeface="Arial"/>
                <a:ea typeface="Arial"/>
                <a:cs typeface="Arial"/>
              </a:defRPr>
            </a:pPr>
            <a:r>
              <a:rPr sz="1725" b="0">
                <a:solidFill>
                  <a:srgbClr val="536B60"/>
                </a:solidFill>
                <a:latin typeface="Arial"/>
                <a:ea typeface="Arial"/>
                <a:cs typeface="Arial"/>
              </a:rPr>
              <a:t>Suggested addition: short selection fields for industry and location.</a:t>
            </a:r>
          </a:p>
        </p:txBody>
      </p:sp>
    </p:spTree>
    <p:extLst>
      <p:ext uri="{BB962C8B-B14F-4D97-AF65-F5344CB8AC3E}">
        <p14:creationId xmlns:p14="http://schemas.microsoft.com/office/powerpoint/2010/main" val="1570903523"/>
      </p:ext>
    </p:extLst>
  </p:cSld>
</p:sld>
</file>

<file path=ppt/slides/slide5.xml><?xml version="1.0" encoding="utf-8"?>
<p:sld xmlns:p="http://schemas.openxmlformats.org/presentationml/2006/main">
  <p:cSld>
    <p:bg>
      <p:bgPr>
        <a:solidFill xmlns:a="http://schemas.openxmlformats.org/drawingml/2006/main">
          <a:srgbClr val="102F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BB16DC-5CE0-453A-98C5-9300DEE0232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4F2EA"/>
                </a:solidFill>
                <a:latin typeface="Arial"/>
                <a:ea typeface="Arial"/>
                <a:cs typeface="Arial"/>
              </a:defRPr>
            </a:pPr>
            <a:r>
              <a:rPr sz="3450" b="1">
                <a:solidFill>
                  <a:srgbClr val="F4F2EA"/>
                </a:solidFill>
                <a:latin typeface="Arial"/>
                <a:ea typeface="Arial"/>
                <a:cs typeface="Arial"/>
              </a:rPr>
              <a:t>The result: a rough value range</a:t>
            </a:r>
          </a:p>
        </p:txBody>
      </p:sp>
      <p:sp>
        <p:nvSpPr>
          <p:cNvPr id="2" name="">
            <a:extLst xmlns:a="http://schemas.openxmlformats.org/drawingml/2006/main">
              <a:ext uri="{FF2B5EF4-FFF2-40B4-BE49-F238E27FC236}">
                <a16:creationId xmlns:a16="http://schemas.microsoft.com/office/drawing/2014/main" id="{AE2A774A-BE89-4CCF-AB38-E0C0B06AE828}"/>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B9DEC7"/>
                </a:solidFill>
                <a:latin typeface="Arial"/>
                <a:ea typeface="Arial"/>
                <a:cs typeface="Arial"/>
              </a:defRPr>
            </a:pPr>
            <a:r>
              <a:rPr sz="1200" b="1">
                <a:solidFill>
                  <a:srgbClr val="B9DEC7"/>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2A341BE8-F1A1-4620-9E90-01265BF286C1}"/>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EC7"/>
                </a:solidFill>
                <a:latin typeface="Arial"/>
                <a:ea typeface="Arial"/>
                <a:cs typeface="Arial"/>
              </a:defRPr>
            </a:pPr>
            <a:r>
              <a:rPr sz="1350" b="0">
                <a:solidFill>
                  <a:srgbClr val="B9DEC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C81BDDFE-62A9-444D-AC03-2525DD459AA3}"/>
              </a:ext>
            </a:extLst>
          </p:cNvPr>
          <p:cNvSpPr>
            <a:spLocks xmlns:a="http://schemas.openxmlformats.org/drawingml/2006/main" noGrp="1"/>
          </p:cNvSpPr>
          <p:nvPr/>
        </p:nvSpPr>
        <p:spPr>
          <a:xfrm xmlns:a="http://schemas.openxmlformats.org/drawingml/2006/main">
            <a:off x="685800" y="2000250"/>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B9DEC7"/>
                </a:solidFill>
                <a:latin typeface="Arial"/>
                <a:ea typeface="Arial"/>
                <a:cs typeface="Arial"/>
              </a:defRPr>
            </a:pPr>
            <a:r>
              <a:rPr sz="3600" b="1">
                <a:solidFill>
                  <a:srgbClr val="B9DEC7"/>
                </a:solidFill>
                <a:latin typeface="Arial"/>
                <a:ea typeface="Arial"/>
                <a:cs typeface="Arial"/>
              </a:rPr>
              <a:t>Initial guidance</a:t>
            </a:r>
          </a:p>
        </p:txBody>
      </p:sp>
      <p:sp>
        <p:nvSpPr>
          <p:cNvPr id="5" name="">
            <a:extLst xmlns:a="http://schemas.openxmlformats.org/drawingml/2006/main">
              <a:ext uri="{FF2B5EF4-FFF2-40B4-BE49-F238E27FC236}">
                <a16:creationId xmlns:a16="http://schemas.microsoft.com/office/drawing/2014/main" id="{FA184C8C-EE0F-4096-A1F2-3FF5A0476914}"/>
              </a:ext>
            </a:extLst>
          </p:cNvPr>
          <p:cNvSpPr>
            <a:spLocks xmlns:a="http://schemas.openxmlformats.org/drawingml/2006/main" noGrp="1"/>
          </p:cNvSpPr>
          <p:nvPr/>
        </p:nvSpPr>
        <p:spPr>
          <a:xfrm xmlns:a="http://schemas.openxmlformats.org/drawingml/2006/main">
            <a:off x="685800" y="3000375"/>
            <a:ext cx="581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2EA"/>
                </a:solidFill>
                <a:latin typeface="Arial"/>
                <a:ea typeface="Arial"/>
                <a:cs typeface="Arial"/>
              </a:defRPr>
            </a:pPr>
            <a:r>
              <a:rPr sz="2325" b="0">
                <a:solidFill>
                  <a:srgbClr val="F4F2EA"/>
                </a:solidFill>
                <a:latin typeface="Arial"/>
                <a:ea typeface="Arial"/>
                <a:cs typeface="Arial"/>
              </a:rPr>
              <a:t>Die Engine nutzt die Basisdaten für</a:t>
            </a:r>
          </a:p>
          <a:p xmlns:a="http://schemas.openxmlformats.org/drawingml/2006/main">
            <a:pPr>
              <a:buNone/>
              <a:defRPr sz="2325" b="0">
                <a:solidFill>
                  <a:srgbClr val="F4F2EA"/>
                </a:solidFill>
                <a:latin typeface="Arial"/>
                <a:ea typeface="Arial"/>
                <a:cs typeface="Arial"/>
              </a:defRPr>
            </a:pPr>
            <a:r>
              <a:rPr sz="2325" b="0">
                <a:solidFill>
                  <a:srgbClr val="F4F2EA"/>
                </a:solidFill>
                <a:latin typeface="Arial"/>
                <a:ea typeface="Arial"/>
                <a:cs typeface="Arial"/>
              </a:rPr>
              <a:t>einen vorläufigen Schätzwert.</a:t>
            </a:r>
          </a:p>
        </p:txBody>
      </p:sp>
      <p:sp>
        <p:nvSpPr>
          <p:cNvPr id="6" name="">
            <a:extLst xmlns:a="http://schemas.openxmlformats.org/drawingml/2006/main">
              <a:ext uri="{FF2B5EF4-FFF2-40B4-BE49-F238E27FC236}">
                <a16:creationId xmlns:a16="http://schemas.microsoft.com/office/drawing/2014/main" id="{E103C53B-D181-4C98-A7BD-CDFDC3A76BC4}"/>
              </a:ext>
            </a:extLst>
          </p:cNvPr>
          <p:cNvSpPr>
            <a:spLocks xmlns:a="http://schemas.openxmlformats.org/drawingml/2006/main" noGrp="1"/>
          </p:cNvSpPr>
          <p:nvPr/>
        </p:nvSpPr>
        <p:spPr>
          <a:xfrm xmlns:a="http://schemas.openxmlformats.org/drawingml/2006/main">
            <a:off x="685800" y="4552950"/>
            <a:ext cx="600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F4F2EA"/>
                </a:solidFill>
                <a:latin typeface="Arial"/>
                <a:ea typeface="Arial"/>
                <a:cs typeface="Arial"/>
              </a:defRPr>
            </a:pPr>
            <a:r>
              <a:rPr sz="2025" b="0">
                <a:solidFill>
                  <a:srgbClr val="F4F2EA"/>
                </a:solidFill>
                <a:latin typeface="Arial"/>
                <a:ea typeface="Arial"/>
                <a:cs typeface="Arial"/>
              </a:rPr>
              <a:t>Bei Interesse fragt Mergero gezielt nach</a:t>
            </a:r>
          </a:p>
          <a:p xmlns:a="http://schemas.openxmlformats.org/drawingml/2006/main">
            <a:pPr>
              <a:buNone/>
              <a:defRPr sz="2025" b="0">
                <a:solidFill>
                  <a:srgbClr val="F4F2EA"/>
                </a:solidFill>
                <a:latin typeface="Arial"/>
                <a:ea typeface="Arial"/>
                <a:cs typeface="Arial"/>
              </a:defRPr>
            </a:pPr>
            <a:r>
              <a:rPr sz="2025" b="0">
                <a:solidFill>
                  <a:srgbClr val="F4F2EA"/>
                </a:solidFill>
                <a:latin typeface="Arial"/>
                <a:ea typeface="Arial"/>
                <a:cs typeface="Arial"/>
              </a:rPr>
              <a:t>und präzisiert das Unternehmensprofil.</a:t>
            </a:r>
          </a:p>
        </p:txBody>
      </p:sp>
      <p:sp>
        <p:nvSpPr>
          <p:cNvPr id="7" name="">
            <a:extLst xmlns:a="http://schemas.openxmlformats.org/drawingml/2006/main">
              <a:ext uri="{FF2B5EF4-FFF2-40B4-BE49-F238E27FC236}">
                <a16:creationId xmlns:a16="http://schemas.microsoft.com/office/drawing/2014/main" id="{20724D13-5613-4D1B-9C93-3150438F1DFE}"/>
              </a:ext>
            </a:extLst>
          </p:cNvPr>
          <p:cNvSpPr>
            <a:spLocks xmlns:a="http://schemas.openxmlformats.org/drawingml/2006/main" noGrp="1"/>
          </p:cNvSpPr>
          <p:nvPr/>
        </p:nvSpPr>
        <p:spPr>
          <a:xfrm xmlns:a="http://schemas.openxmlformats.org/drawingml/2006/main">
            <a:off x="7858125" y="2076450"/>
            <a:ext cx="3571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B9DEC7"/>
                </a:solidFill>
                <a:latin typeface="Arial"/>
                <a:ea typeface="Arial"/>
                <a:cs typeface="Arial"/>
              </a:defRPr>
            </a:pPr>
            <a:r>
              <a:rPr sz="2100" b="1">
                <a:solidFill>
                  <a:srgbClr val="B9DEC7"/>
                </a:solidFill>
                <a:latin typeface="Arial"/>
                <a:ea typeface="Arial"/>
                <a:cs typeface="Arial"/>
              </a:rPr>
              <a:t>What the result shows</a:t>
            </a:r>
          </a:p>
        </p:txBody>
      </p:sp>
      <p:sp>
        <p:nvSpPr>
          <p:cNvPr id="8" name="">
            <a:extLst xmlns:a="http://schemas.openxmlformats.org/drawingml/2006/main">
              <a:ext uri="{FF2B5EF4-FFF2-40B4-BE49-F238E27FC236}">
                <a16:creationId xmlns:a16="http://schemas.microsoft.com/office/drawing/2014/main" id="{7EB54DC8-78BF-4937-AF77-CE918F91714E}"/>
              </a:ext>
            </a:extLst>
          </p:cNvPr>
          <p:cNvSpPr>
            <a:spLocks xmlns:a="http://schemas.openxmlformats.org/drawingml/2006/main" noGrp="1"/>
          </p:cNvSpPr>
          <p:nvPr/>
        </p:nvSpPr>
        <p:spPr>
          <a:xfrm xmlns:a="http://schemas.openxmlformats.org/drawingml/2006/main">
            <a:off x="7858125" y="2886075"/>
            <a:ext cx="3714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4F2EA"/>
                </a:solidFill>
                <a:latin typeface="Arial"/>
                <a:ea typeface="Arial"/>
                <a:cs typeface="Arial"/>
              </a:defRPr>
            </a:pPr>
            <a:r>
              <a:rPr sz="1875" b="0">
                <a:solidFill>
                  <a:srgbClr val="F4F2EA"/>
                </a:solidFill>
                <a:latin typeface="Arial"/>
                <a:ea typeface="Arial"/>
                <a:cs typeface="Arial"/>
              </a:rPr>
              <a:t>Wertspanne</a:t>
            </a:r>
          </a:p>
          <a:p xmlns:a="http://schemas.openxmlformats.org/drawingml/2006/main">
            <a:r>
              <a:t/>
            </a:r>
          </a:p>
          <a:p xmlns:a="http://schemas.openxmlformats.org/drawingml/2006/main">
            <a:pPr>
              <a:buNone/>
              <a:defRPr sz="1875" b="0">
                <a:solidFill>
                  <a:srgbClr val="F4F2EA"/>
                </a:solidFill>
                <a:latin typeface="Arial"/>
                <a:ea typeface="Arial"/>
                <a:cs typeface="Arial"/>
              </a:defRPr>
            </a:pPr>
            <a:r>
              <a:rPr sz="1875" b="0">
                <a:solidFill>
                  <a:srgbClr val="F4F2EA"/>
                </a:solidFill>
                <a:latin typeface="Arial"/>
                <a:ea typeface="Arial"/>
                <a:cs typeface="Arial"/>
              </a:rPr>
              <a:t>Verwendete Angaben</a:t>
            </a:r>
          </a:p>
          <a:p xmlns:a="http://schemas.openxmlformats.org/drawingml/2006/main">
            <a:r>
              <a:t/>
            </a:r>
          </a:p>
          <a:p xmlns:a="http://schemas.openxmlformats.org/drawingml/2006/main">
            <a:pPr>
              <a:buNone/>
              <a:defRPr sz="1875" b="0">
                <a:solidFill>
                  <a:srgbClr val="F4F2EA"/>
                </a:solidFill>
                <a:latin typeface="Arial"/>
                <a:ea typeface="Arial"/>
                <a:cs typeface="Arial"/>
              </a:defRPr>
            </a:pPr>
            <a:r>
              <a:rPr sz="1875" b="0">
                <a:solidFill>
                  <a:srgbClr val="F4F2EA"/>
                </a:solidFill>
                <a:latin typeface="Arial"/>
                <a:ea typeface="Arial"/>
                <a:cs typeface="Arial"/>
              </a:rPr>
              <a:t>Annahmen und Grenzen</a:t>
            </a:r>
          </a:p>
          <a:p xmlns:a="http://schemas.openxmlformats.org/drawingml/2006/main">
            <a:r>
              <a:t/>
            </a:r>
          </a:p>
          <a:p xmlns:a="http://schemas.openxmlformats.org/drawingml/2006/main">
            <a:pPr>
              <a:buNone/>
              <a:defRPr sz="1875" b="0">
                <a:solidFill>
                  <a:srgbClr val="F4F2EA"/>
                </a:solidFill>
                <a:latin typeface="Arial"/>
                <a:ea typeface="Arial"/>
                <a:cs typeface="Arial"/>
              </a:defRPr>
            </a:pPr>
            <a:r>
              <a:rPr sz="1875" b="0">
                <a:solidFill>
                  <a:srgbClr val="F4F2EA"/>
                </a:solidFill>
                <a:latin typeface="Arial"/>
                <a:ea typeface="Arial"/>
                <a:cs typeface="Arial"/>
              </a:rPr>
              <a:t>Mögliche nächste Schritte</a:t>
            </a:r>
          </a:p>
        </p:txBody>
      </p:sp>
    </p:spTree>
    <p:extLst>
      <p:ext uri="{BB962C8B-B14F-4D97-AF65-F5344CB8AC3E}">
        <p14:creationId xmlns:p14="http://schemas.microsoft.com/office/powerpoint/2010/main" val="699746246"/>
      </p:ext>
    </p:extLst>
  </p:cSld>
</p:sld>
</file>

<file path=ppt/slides/slide6.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FEFCEF-5250-45C0-9282-A6BCE14BFD47}"/>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Separate choices for data storage and contact</a:t>
            </a:r>
          </a:p>
        </p:txBody>
      </p:sp>
      <p:sp>
        <p:nvSpPr>
          <p:cNvPr id="2" name="">
            <a:extLst xmlns:a="http://schemas.openxmlformats.org/drawingml/2006/main">
              <a:ext uri="{FF2B5EF4-FFF2-40B4-BE49-F238E27FC236}">
                <a16:creationId xmlns:a16="http://schemas.microsoft.com/office/drawing/2014/main" id="{4EEFA99C-9098-4291-8FCF-1848ECF8C049}"/>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B8C0A0F2-E505-403B-A502-F465762FB8F2}"/>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AB1094C-CA4F-4331-A79B-6F57F5B7DBE6}"/>
              </a:ext>
            </a:extLst>
          </p:cNvPr>
          <p:cNvSpPr>
            <a:spLocks xmlns:a="http://schemas.openxmlformats.org/drawingml/2006/main" noGrp="1"/>
          </p:cNvSpPr>
          <p:nvPr/>
        </p:nvSpPr>
        <p:spPr>
          <a:xfrm xmlns:a="http://schemas.openxmlformats.org/drawingml/2006/main">
            <a:off x="685800" y="1905000"/>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382E"/>
                </a:solidFill>
                <a:latin typeface="Arial"/>
                <a:ea typeface="Arial"/>
                <a:cs typeface="Arial"/>
              </a:defRPr>
            </a:pPr>
            <a:r>
              <a:rPr sz="2325" b="1">
                <a:solidFill>
                  <a:srgbClr val="16382E"/>
                </a:solidFill>
                <a:latin typeface="Arial"/>
                <a:ea typeface="Arial"/>
                <a:cs typeface="Arial"/>
              </a:rPr>
              <a:t>Save the business profile</a:t>
            </a:r>
          </a:p>
        </p:txBody>
      </p:sp>
      <p:sp>
        <p:nvSpPr>
          <p:cNvPr id="5" name="">
            <a:extLst xmlns:a="http://schemas.openxmlformats.org/drawingml/2006/main">
              <a:ext uri="{FF2B5EF4-FFF2-40B4-BE49-F238E27FC236}">
                <a16:creationId xmlns:a16="http://schemas.microsoft.com/office/drawing/2014/main" id="{9B3B107B-E36B-4219-8AF5-09AD9334DFC9}"/>
              </a:ext>
            </a:extLst>
          </p:cNvPr>
          <p:cNvSpPr>
            <a:spLocks xmlns:a="http://schemas.openxmlformats.org/drawingml/2006/main" noGrp="1"/>
          </p:cNvSpPr>
          <p:nvPr/>
        </p:nvSpPr>
        <p:spPr>
          <a:xfrm xmlns:a="http://schemas.openxmlformats.org/drawingml/2006/main">
            <a:off x="685800" y="2847975"/>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82E"/>
                </a:solidFill>
                <a:latin typeface="Arial"/>
                <a:ea typeface="Arial"/>
                <a:cs typeface="Arial"/>
              </a:defRPr>
            </a:pPr>
            <a:r>
              <a:rPr sz="2025" b="0">
                <a:solidFill>
                  <a:srgbClr val="16382E"/>
                </a:solidFill>
                <a:latin typeface="Arial"/>
                <a:ea typeface="Arial"/>
                <a:cs typeface="Arial"/>
              </a:rPr>
              <a:t>Der Nutzer entscheidet, ob Mergero</a:t>
            </a:r>
          </a:p>
          <a:p xmlns:a="http://schemas.openxmlformats.org/drawingml/2006/main">
            <a:pPr>
              <a:buNone/>
              <a:defRPr sz="2025" b="0">
                <a:solidFill>
                  <a:srgbClr val="16382E"/>
                </a:solidFill>
                <a:latin typeface="Arial"/>
                <a:ea typeface="Arial"/>
                <a:cs typeface="Arial"/>
              </a:defRPr>
            </a:pPr>
            <a:r>
              <a:rPr sz="2025" b="0">
                <a:solidFill>
                  <a:srgbClr val="16382E"/>
                </a:solidFill>
                <a:latin typeface="Arial"/>
                <a:ea typeface="Arial"/>
                <a:cs typeface="Arial"/>
              </a:rPr>
              <a:t>die Angaben für spätere Vermittlungen</a:t>
            </a:r>
          </a:p>
          <a:p xmlns:a="http://schemas.openxmlformats.org/drawingml/2006/main">
            <a:pPr>
              <a:buNone/>
              <a:defRPr sz="2025" b="0">
                <a:solidFill>
                  <a:srgbClr val="16382E"/>
                </a:solidFill>
                <a:latin typeface="Arial"/>
                <a:ea typeface="Arial"/>
                <a:cs typeface="Arial"/>
              </a:defRPr>
            </a:pPr>
            <a:r>
              <a:rPr sz="2025" b="0">
                <a:solidFill>
                  <a:srgbClr val="16382E"/>
                </a:solidFill>
                <a:latin typeface="Arial"/>
                <a:ea typeface="Arial"/>
                <a:cs typeface="Arial"/>
              </a:rPr>
              <a:t>behalten darf.</a:t>
            </a:r>
          </a:p>
        </p:txBody>
      </p:sp>
      <p:sp>
        <p:nvSpPr>
          <p:cNvPr id="6" name="">
            <a:extLst xmlns:a="http://schemas.openxmlformats.org/drawingml/2006/main">
              <a:ext uri="{FF2B5EF4-FFF2-40B4-BE49-F238E27FC236}">
                <a16:creationId xmlns:a16="http://schemas.microsoft.com/office/drawing/2014/main" id="{7B0BD51C-31CC-442C-94BE-D958E95EF746}"/>
              </a:ext>
            </a:extLst>
          </p:cNvPr>
          <p:cNvSpPr>
            <a:spLocks xmlns:a="http://schemas.openxmlformats.org/drawingml/2006/main" noGrp="1"/>
          </p:cNvSpPr>
          <p:nvPr/>
        </p:nvSpPr>
        <p:spPr>
          <a:xfrm xmlns:a="http://schemas.openxmlformats.org/drawingml/2006/main">
            <a:off x="6572250" y="190500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382E"/>
                </a:solidFill>
                <a:latin typeface="Arial"/>
                <a:ea typeface="Arial"/>
                <a:cs typeface="Arial"/>
              </a:defRPr>
            </a:pPr>
            <a:r>
              <a:rPr sz="2325" b="1">
                <a:solidFill>
                  <a:srgbClr val="16382E"/>
                </a:solidFill>
                <a:latin typeface="Arial"/>
                <a:ea typeface="Arial"/>
                <a:cs typeface="Arial"/>
              </a:rPr>
              <a:t>Contact when a buyer is interested</a:t>
            </a:r>
          </a:p>
        </p:txBody>
      </p:sp>
      <p:sp>
        <p:nvSpPr>
          <p:cNvPr id="7" name="">
            <a:extLst xmlns:a="http://schemas.openxmlformats.org/drawingml/2006/main">
              <a:ext uri="{FF2B5EF4-FFF2-40B4-BE49-F238E27FC236}">
                <a16:creationId xmlns:a16="http://schemas.microsoft.com/office/drawing/2014/main" id="{440FCBE2-880E-4B59-AE1F-47522D9EB2F1}"/>
              </a:ext>
            </a:extLst>
          </p:cNvPr>
          <p:cNvSpPr>
            <a:spLocks xmlns:a="http://schemas.openxmlformats.org/drawingml/2006/main" noGrp="1"/>
          </p:cNvSpPr>
          <p:nvPr/>
        </p:nvSpPr>
        <p:spPr>
          <a:xfrm xmlns:a="http://schemas.openxmlformats.org/drawingml/2006/main">
            <a:off x="6572250" y="28479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82E"/>
                </a:solidFill>
                <a:latin typeface="Arial"/>
                <a:ea typeface="Arial"/>
                <a:cs typeface="Arial"/>
              </a:defRPr>
            </a:pPr>
            <a:r>
              <a:rPr sz="2025" b="0">
                <a:solidFill>
                  <a:srgbClr val="16382E"/>
                </a:solidFill>
                <a:latin typeface="Arial"/>
                <a:ea typeface="Arial"/>
                <a:cs typeface="Arial"/>
              </a:rPr>
              <a:t>Eine eigene Opt-in-Auswahl hält fest,</a:t>
            </a:r>
          </a:p>
          <a:p xmlns:a="http://schemas.openxmlformats.org/drawingml/2006/main">
            <a:pPr>
              <a:buNone/>
              <a:defRPr sz="2025" b="0">
                <a:solidFill>
                  <a:srgbClr val="16382E"/>
                </a:solidFill>
                <a:latin typeface="Arial"/>
                <a:ea typeface="Arial"/>
                <a:cs typeface="Arial"/>
              </a:defRPr>
            </a:pPr>
            <a:r>
              <a:rPr sz="2025" b="0">
                <a:solidFill>
                  <a:srgbClr val="16382E"/>
                </a:solidFill>
                <a:latin typeface="Arial"/>
                <a:ea typeface="Arial"/>
                <a:cs typeface="Arial"/>
              </a:rPr>
              <a:t>ob Mergero den Inhaber bei passendem</a:t>
            </a:r>
          </a:p>
          <a:p xmlns:a="http://schemas.openxmlformats.org/drawingml/2006/main">
            <a:pPr>
              <a:buNone/>
              <a:defRPr sz="2025" b="0">
                <a:solidFill>
                  <a:srgbClr val="16382E"/>
                </a:solidFill>
                <a:latin typeface="Arial"/>
                <a:ea typeface="Arial"/>
                <a:cs typeface="Arial"/>
              </a:defRPr>
            </a:pPr>
            <a:r>
              <a:rPr sz="2025" b="0">
                <a:solidFill>
                  <a:srgbClr val="16382E"/>
                </a:solidFill>
                <a:latin typeface="Arial"/>
                <a:ea typeface="Arial"/>
                <a:cs typeface="Arial"/>
              </a:rPr>
              <a:t>Käuferinteresse kontaktieren soll.</a:t>
            </a:r>
          </a:p>
        </p:txBody>
      </p:sp>
      <p:sp>
        <p:nvSpPr>
          <p:cNvPr id="8" name="">
            <a:extLst xmlns:a="http://schemas.openxmlformats.org/drawingml/2006/main">
              <a:ext uri="{FF2B5EF4-FFF2-40B4-BE49-F238E27FC236}">
                <a16:creationId xmlns:a16="http://schemas.microsoft.com/office/drawing/2014/main" id="{35168C7B-8197-4007-8082-89FFDA4B7493}"/>
              </a:ext>
            </a:extLst>
          </p:cNvPr>
          <p:cNvSpPr>
            <a:spLocks xmlns:a="http://schemas.openxmlformats.org/drawingml/2006/main" noGrp="1"/>
          </p:cNvSpPr>
          <p:nvPr/>
        </p:nvSpPr>
        <p:spPr>
          <a:xfrm xmlns:a="http://schemas.openxmlformats.org/drawingml/2006/main">
            <a:off x="685800" y="46386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6382E"/>
                </a:solidFill>
                <a:latin typeface="Arial"/>
                <a:ea typeface="Arial"/>
                <a:cs typeface="Arial"/>
              </a:defRPr>
            </a:pPr>
            <a:r>
              <a:rPr sz="1950" b="1">
                <a:solidFill>
                  <a:srgbClr val="16382E"/>
                </a:solidFill>
                <a:latin typeface="Arial"/>
                <a:ea typeface="Arial"/>
                <a:cs typeface="Arial"/>
              </a:rPr>
              <a:t>An open decision in the original concept</a:t>
            </a:r>
          </a:p>
        </p:txBody>
      </p:sp>
      <p:sp>
        <p:nvSpPr>
          <p:cNvPr id="9" name="">
            <a:extLst xmlns:a="http://schemas.openxmlformats.org/drawingml/2006/main">
              <a:ext uri="{FF2B5EF4-FFF2-40B4-BE49-F238E27FC236}">
                <a16:creationId xmlns:a16="http://schemas.microsoft.com/office/drawing/2014/main" id="{50EE6607-5F9E-42EE-85B6-14643D4F7932}"/>
              </a:ext>
            </a:extLst>
          </p:cNvPr>
          <p:cNvSpPr>
            <a:spLocks xmlns:a="http://schemas.openxmlformats.org/drawingml/2006/main" noGrp="1"/>
          </p:cNvSpPr>
          <p:nvPr/>
        </p:nvSpPr>
        <p:spPr>
          <a:xfrm xmlns:a="http://schemas.openxmlformats.org/drawingml/2006/main">
            <a:off x="685800" y="52197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60"/>
                </a:solidFill>
                <a:latin typeface="Arial"/>
                <a:ea typeface="Arial"/>
                <a:cs typeface="Arial"/>
              </a:defRPr>
            </a:pPr>
            <a:r>
              <a:rPr sz="1875" b="0">
                <a:solidFill>
                  <a:srgbClr val="536B60"/>
                </a:solidFill>
                <a:latin typeface="Arial"/>
                <a:ea typeface="Arial"/>
                <a:cs typeface="Arial"/>
              </a:rPr>
              <a:t>„Trotz Opt-out kontaktieren“ widerspricht der Kontaktwahl.</a:t>
            </a:r>
          </a:p>
          <a:p xmlns:a="http://schemas.openxmlformats.org/drawingml/2006/main">
            <a:pPr>
              <a:buNone/>
              <a:defRPr sz="1875" b="0">
                <a:solidFill>
                  <a:srgbClr val="536B60"/>
                </a:solidFill>
                <a:latin typeface="Arial"/>
                <a:ea typeface="Arial"/>
                <a:cs typeface="Arial"/>
              </a:defRPr>
            </a:pPr>
            <a:r>
              <a:rPr sz="1875" b="0">
                <a:solidFill>
                  <a:srgbClr val="536B60"/>
                </a:solidFill>
                <a:latin typeface="Arial"/>
                <a:ea typeface="Arial"/>
                <a:cs typeface="Arial"/>
              </a:rPr>
              <a:t>Vorschlag: Kontakt nur bei Freigabe; ein Opt-out wird berücksichtigt.</a:t>
            </a:r>
          </a:p>
        </p:txBody>
      </p:sp>
    </p:spTree>
    <p:extLst>
      <p:ext uri="{BB962C8B-B14F-4D97-AF65-F5344CB8AC3E}">
        <p14:creationId xmlns:p14="http://schemas.microsoft.com/office/powerpoint/2010/main" val="638737059"/>
      </p:ext>
    </p:extLst>
  </p:cSld>
</p:sld>
</file>

<file path=ppt/slides/slide7.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918C89-2D68-4B06-9BFB-8FD21B3A21B8}"/>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An AI conversation captures further conditions</a:t>
            </a:r>
          </a:p>
        </p:txBody>
      </p:sp>
      <p:sp>
        <p:nvSpPr>
          <p:cNvPr id="2" name="">
            <a:extLst xmlns:a="http://schemas.openxmlformats.org/drawingml/2006/main">
              <a:ext uri="{FF2B5EF4-FFF2-40B4-BE49-F238E27FC236}">
                <a16:creationId xmlns:a16="http://schemas.microsoft.com/office/drawing/2014/main" id="{1EAB35E0-E1AE-4CB2-9355-458484EAD2E5}"/>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5AC7BAD0-29E3-4B78-AB85-6D0499E8E0E2}"/>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2777858-3119-4C85-BC40-E7A19C7D2468}"/>
              </a:ext>
            </a:extLst>
          </p:cNvPr>
          <p:cNvSpPr>
            <a:spLocks xmlns:a="http://schemas.openxmlformats.org/drawingml/2006/main" noGrp="1"/>
          </p:cNvSpPr>
          <p:nvPr/>
        </p:nvSpPr>
        <p:spPr>
          <a:xfrm xmlns:a="http://schemas.openxmlformats.org/drawingml/2006/main">
            <a:off x="685800" y="19812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6382E"/>
                </a:solidFill>
                <a:latin typeface="Arial"/>
                <a:ea typeface="Arial"/>
                <a:cs typeface="Arial"/>
              </a:defRPr>
            </a:pPr>
            <a:r>
              <a:rPr sz="2850" b="1">
                <a:solidFill>
                  <a:srgbClr val="16382E"/>
                </a:solidFill>
                <a:latin typeface="Arial"/>
                <a:ea typeface="Arial"/>
                <a:cs typeface="Arial"/>
              </a:rPr>
              <a:t>Optional calling service</a:t>
            </a:r>
          </a:p>
        </p:txBody>
      </p:sp>
      <p:sp>
        <p:nvSpPr>
          <p:cNvPr id="5" name="">
            <a:extLst xmlns:a="http://schemas.openxmlformats.org/drawingml/2006/main">
              <a:ext uri="{FF2B5EF4-FFF2-40B4-BE49-F238E27FC236}">
                <a16:creationId xmlns:a16="http://schemas.microsoft.com/office/drawing/2014/main" id="{8C9A7491-6CED-467F-8CEC-D818432BDD19}"/>
              </a:ext>
            </a:extLst>
          </p:cNvPr>
          <p:cNvSpPr>
            <a:spLocks xmlns:a="http://schemas.openxmlformats.org/drawingml/2006/main" noGrp="1"/>
          </p:cNvSpPr>
          <p:nvPr/>
        </p:nvSpPr>
        <p:spPr>
          <a:xfrm xmlns:a="http://schemas.openxmlformats.org/drawingml/2006/main">
            <a:off x="685800" y="311467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82E"/>
                </a:solidFill>
                <a:latin typeface="Arial"/>
                <a:ea typeface="Arial"/>
                <a:cs typeface="Arial"/>
              </a:defRPr>
            </a:pPr>
            <a:r>
              <a:rPr sz="2175" b="0">
                <a:solidFill>
                  <a:srgbClr val="16382E"/>
                </a:solidFill>
                <a:latin typeface="Arial"/>
                <a:ea typeface="Arial"/>
                <a:cs typeface="Arial"/>
              </a:rPr>
              <a:t>Der Inhaber kann ein automatisches</a:t>
            </a:r>
          </a:p>
          <a:p xmlns:a="http://schemas.openxmlformats.org/drawingml/2006/main">
            <a:pPr>
              <a:buNone/>
              <a:defRPr sz="2175" b="0">
                <a:solidFill>
                  <a:srgbClr val="16382E"/>
                </a:solidFill>
                <a:latin typeface="Arial"/>
                <a:ea typeface="Arial"/>
                <a:cs typeface="Arial"/>
              </a:defRPr>
            </a:pPr>
            <a:r>
              <a:rPr sz="2175" b="0">
                <a:solidFill>
                  <a:srgbClr val="16382E"/>
                </a:solidFill>
                <a:latin typeface="Arial"/>
                <a:ea typeface="Arial"/>
                <a:cs typeface="Arial"/>
              </a:rPr>
              <a:t>KI-Gespräch anfordern und einen</a:t>
            </a:r>
          </a:p>
          <a:p xmlns:a="http://schemas.openxmlformats.org/drawingml/2006/main">
            <a:pPr>
              <a:buNone/>
              <a:defRPr sz="2175" b="0">
                <a:solidFill>
                  <a:srgbClr val="16382E"/>
                </a:solidFill>
                <a:latin typeface="Arial"/>
                <a:ea typeface="Arial"/>
                <a:cs typeface="Arial"/>
              </a:defRPr>
            </a:pPr>
            <a:r>
              <a:rPr sz="2175" b="0">
                <a:solidFill>
                  <a:srgbClr val="16382E"/>
                </a:solidFill>
                <a:latin typeface="Arial"/>
                <a:ea typeface="Arial"/>
                <a:cs typeface="Arial"/>
              </a:rPr>
              <a:t>passenden Zeitpunkt wählen.</a:t>
            </a:r>
          </a:p>
        </p:txBody>
      </p:sp>
      <p:sp>
        <p:nvSpPr>
          <p:cNvPr id="6" name="">
            <a:extLst xmlns:a="http://schemas.openxmlformats.org/drawingml/2006/main">
              <a:ext uri="{FF2B5EF4-FFF2-40B4-BE49-F238E27FC236}">
                <a16:creationId xmlns:a16="http://schemas.microsoft.com/office/drawing/2014/main" id="{8D1A8E61-FBD5-40F8-B941-9CCC77FFE833}"/>
              </a:ext>
            </a:extLst>
          </p:cNvPr>
          <p:cNvSpPr>
            <a:spLocks xmlns:a="http://schemas.openxmlformats.org/drawingml/2006/main" noGrp="1"/>
          </p:cNvSpPr>
          <p:nvPr/>
        </p:nvSpPr>
        <p:spPr>
          <a:xfrm xmlns:a="http://schemas.openxmlformats.org/drawingml/2006/main">
            <a:off x="685800" y="5010150"/>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60"/>
                </a:solidFill>
                <a:latin typeface="Arial"/>
                <a:ea typeface="Arial"/>
                <a:cs typeface="Arial"/>
              </a:defRPr>
            </a:pPr>
            <a:r>
              <a:rPr sz="1875" b="0">
                <a:solidFill>
                  <a:srgbClr val="536B60"/>
                </a:solidFill>
                <a:latin typeface="Arial"/>
                <a:ea typeface="Arial"/>
                <a:cs typeface="Arial"/>
              </a:rPr>
              <a:t>Mergero ergänzt das Profil um die</a:t>
            </a:r>
          </a:p>
          <a:p xmlns:a="http://schemas.openxmlformats.org/drawingml/2006/main">
            <a:pPr>
              <a:buNone/>
              <a:defRPr sz="1875" b="0">
                <a:solidFill>
                  <a:srgbClr val="536B60"/>
                </a:solidFill>
                <a:latin typeface="Arial"/>
                <a:ea typeface="Arial"/>
                <a:cs typeface="Arial"/>
              </a:defRPr>
            </a:pPr>
            <a:r>
              <a:rPr sz="1875" b="0">
                <a:solidFill>
                  <a:srgbClr val="536B60"/>
                </a:solidFill>
                <a:latin typeface="Arial"/>
                <a:ea typeface="Arial"/>
                <a:cs typeface="Arial"/>
              </a:rPr>
              <a:t>bestätigte Gesprächszusammenfassung.</a:t>
            </a:r>
          </a:p>
        </p:txBody>
      </p:sp>
      <p:sp>
        <p:nvSpPr>
          <p:cNvPr id="7" name="">
            <a:extLst xmlns:a="http://schemas.openxmlformats.org/drawingml/2006/main">
              <a:ext uri="{FF2B5EF4-FFF2-40B4-BE49-F238E27FC236}">
                <a16:creationId xmlns:a16="http://schemas.microsoft.com/office/drawing/2014/main" id="{487A28F0-FE6A-4743-ADFF-BB8713070F25}"/>
              </a:ext>
            </a:extLst>
          </p:cNvPr>
          <p:cNvSpPr>
            <a:spLocks xmlns:a="http://schemas.openxmlformats.org/drawingml/2006/main" noGrp="1"/>
          </p:cNvSpPr>
          <p:nvPr/>
        </p:nvSpPr>
        <p:spPr>
          <a:xfrm xmlns:a="http://schemas.openxmlformats.org/drawingml/2006/main">
            <a:off x="6858000" y="20002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Possible topics</a:t>
            </a:r>
          </a:p>
        </p:txBody>
      </p:sp>
      <p:sp>
        <p:nvSpPr>
          <p:cNvPr id="8" name="">
            <a:extLst xmlns:a="http://schemas.openxmlformats.org/drawingml/2006/main">
              <a:ext uri="{FF2B5EF4-FFF2-40B4-BE49-F238E27FC236}">
                <a16:creationId xmlns:a16="http://schemas.microsoft.com/office/drawing/2014/main" id="{616A9033-2B28-42E7-9AB4-6592CE45CDF8}"/>
              </a:ext>
            </a:extLst>
          </p:cNvPr>
          <p:cNvSpPr>
            <a:spLocks xmlns:a="http://schemas.openxmlformats.org/drawingml/2006/main" noGrp="1"/>
          </p:cNvSpPr>
          <p:nvPr/>
        </p:nvSpPr>
        <p:spPr>
          <a:xfrm xmlns:a="http://schemas.openxmlformats.org/drawingml/2006/main">
            <a:off x="6858000" y="2914650"/>
            <a:ext cx="4667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Verkaufsinteresse und Zeithorizont</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Rolle des Inhabers nach Übergabe</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Wünsche an einen Käufer</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Besondere Bedingungen des Betriebs</a:t>
            </a:r>
          </a:p>
        </p:txBody>
      </p:sp>
    </p:spTree>
    <p:extLst>
      <p:ext uri="{BB962C8B-B14F-4D97-AF65-F5344CB8AC3E}">
        <p14:creationId xmlns:p14="http://schemas.microsoft.com/office/powerpoint/2010/main" val="896436085"/>
      </p:ext>
    </p:extLst>
  </p:cSld>
</p:sld>
</file>

<file path=ppt/slides/slide8.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B076C6-C040-48DF-A72D-95936B83449A}"/>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Company culture as part of the profile</a:t>
            </a:r>
          </a:p>
        </p:txBody>
      </p:sp>
      <p:sp>
        <p:nvSpPr>
          <p:cNvPr id="2" name="">
            <a:extLst xmlns:a="http://schemas.openxmlformats.org/drawingml/2006/main">
              <a:ext uri="{FF2B5EF4-FFF2-40B4-BE49-F238E27FC236}">
                <a16:creationId xmlns:a16="http://schemas.microsoft.com/office/drawing/2014/main" id="{C9C3D460-8A74-4E28-9364-3BFD4E4049BE}"/>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EFBB2CA5-4B0C-484C-B0C6-8105F721D63A}"/>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6B2348A-5F47-499E-9AD3-627CFE3BD9BE}"/>
              </a:ext>
            </a:extLst>
          </p:cNvPr>
          <p:cNvSpPr>
            <a:spLocks xmlns:a="http://schemas.openxmlformats.org/drawingml/2006/main" noGrp="1"/>
          </p:cNvSpPr>
          <p:nvPr/>
        </p:nvSpPr>
        <p:spPr>
          <a:xfrm xmlns:a="http://schemas.openxmlformats.org/drawingml/2006/main">
            <a:off x="685800" y="1952625"/>
            <a:ext cx="1081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6382E"/>
                </a:solidFill>
                <a:latin typeface="Arial"/>
                <a:ea typeface="Arial"/>
                <a:cs typeface="Arial"/>
              </a:defRPr>
            </a:pPr>
            <a:r>
              <a:rPr sz="2850" b="1">
                <a:solidFill>
                  <a:srgbClr val="16382E"/>
                </a:solidFill>
                <a:latin typeface="Arial"/>
                <a:ea typeface="Arial"/>
                <a:cs typeface="Arial"/>
              </a:rPr>
              <a:t>Zahlen erklären den Betrieb.</a:t>
            </a:r>
          </a:p>
          <a:p xmlns:a="http://schemas.openxmlformats.org/drawingml/2006/main">
            <a:pPr>
              <a:buNone/>
              <a:defRPr sz="2850" b="1">
                <a:solidFill>
                  <a:srgbClr val="16382E"/>
                </a:solidFill>
                <a:latin typeface="Arial"/>
                <a:ea typeface="Arial"/>
                <a:cs typeface="Arial"/>
              </a:defRPr>
            </a:pPr>
            <a:r>
              <a:rPr sz="2850" b="1">
                <a:solidFill>
                  <a:srgbClr val="16382E"/>
                </a:solidFill>
                <a:latin typeface="Arial"/>
                <a:ea typeface="Arial"/>
                <a:cs typeface="Arial"/>
              </a:rPr>
              <a:t>Der Inhaber beschreibt die Kultur.</a:t>
            </a:r>
          </a:p>
        </p:txBody>
      </p:sp>
      <p:sp>
        <p:nvSpPr>
          <p:cNvPr id="5" name="">
            <a:extLst xmlns:a="http://schemas.openxmlformats.org/drawingml/2006/main">
              <a:ext uri="{FF2B5EF4-FFF2-40B4-BE49-F238E27FC236}">
                <a16:creationId xmlns:a16="http://schemas.microsoft.com/office/drawing/2014/main" id="{DFFB23EF-A967-4CA3-AC40-4B922F24339C}"/>
              </a:ext>
            </a:extLst>
          </p:cNvPr>
          <p:cNvSpPr>
            <a:spLocks xmlns:a="http://schemas.openxmlformats.org/drawingml/2006/main" noGrp="1"/>
          </p:cNvSpPr>
          <p:nvPr/>
        </p:nvSpPr>
        <p:spPr>
          <a:xfrm xmlns:a="http://schemas.openxmlformats.org/drawingml/2006/main">
            <a:off x="685800" y="3524250"/>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AI chat as a writing aid</a:t>
            </a:r>
          </a:p>
        </p:txBody>
      </p:sp>
      <p:sp>
        <p:nvSpPr>
          <p:cNvPr id="6" name="">
            <a:extLst xmlns:a="http://schemas.openxmlformats.org/drawingml/2006/main">
              <a:ext uri="{FF2B5EF4-FFF2-40B4-BE49-F238E27FC236}">
                <a16:creationId xmlns:a16="http://schemas.microsoft.com/office/drawing/2014/main" id="{9571C466-A911-47B7-AC0D-52125B610236}"/>
              </a:ext>
            </a:extLst>
          </p:cNvPr>
          <p:cNvSpPr>
            <a:spLocks xmlns:a="http://schemas.openxmlformats.org/drawingml/2006/main" noGrp="1"/>
          </p:cNvSpPr>
          <p:nvPr/>
        </p:nvSpPr>
        <p:spPr>
          <a:xfrm xmlns:a="http://schemas.openxmlformats.org/drawingml/2006/main">
            <a:off x="685800" y="42576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Kurze Fragen zu Führung, Zusammenarbeit</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und Grundsätzen. Daraus entsteht ein</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Text mit etwa 500 Wörtern.</a:t>
            </a:r>
          </a:p>
        </p:txBody>
      </p:sp>
      <p:sp>
        <p:nvSpPr>
          <p:cNvPr id="7" name="">
            <a:extLst xmlns:a="http://schemas.openxmlformats.org/drawingml/2006/main">
              <a:ext uri="{FF2B5EF4-FFF2-40B4-BE49-F238E27FC236}">
                <a16:creationId xmlns:a16="http://schemas.microsoft.com/office/drawing/2014/main" id="{770C2428-AB12-480E-A86C-DFF04783CFB8}"/>
              </a:ext>
            </a:extLst>
          </p:cNvPr>
          <p:cNvSpPr>
            <a:spLocks xmlns:a="http://schemas.openxmlformats.org/drawingml/2006/main" noGrp="1"/>
          </p:cNvSpPr>
          <p:nvPr/>
        </p:nvSpPr>
        <p:spPr>
          <a:xfrm xmlns:a="http://schemas.openxmlformats.org/drawingml/2006/main">
            <a:off x="6858000" y="35242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382E"/>
                </a:solidFill>
                <a:latin typeface="Arial"/>
                <a:ea typeface="Arial"/>
                <a:cs typeface="Arial"/>
              </a:defRPr>
            </a:pPr>
            <a:r>
              <a:rPr sz="2175" b="1">
                <a:solidFill>
                  <a:srgbClr val="16382E"/>
                </a:solidFill>
                <a:latin typeface="Arial"/>
                <a:ea typeface="Arial"/>
                <a:cs typeface="Arial"/>
              </a:rPr>
              <a:t>The owner’s perspective</a:t>
            </a:r>
          </a:p>
        </p:txBody>
      </p:sp>
      <p:sp>
        <p:nvSpPr>
          <p:cNvPr id="8" name="">
            <a:extLst xmlns:a="http://schemas.openxmlformats.org/drawingml/2006/main">
              <a:ext uri="{FF2B5EF4-FFF2-40B4-BE49-F238E27FC236}">
                <a16:creationId xmlns:a16="http://schemas.microsoft.com/office/drawing/2014/main" id="{7C92FF49-7633-4470-AC84-29CE205ADAAE}"/>
              </a:ext>
            </a:extLst>
          </p:cNvPr>
          <p:cNvSpPr>
            <a:spLocks xmlns:a="http://schemas.openxmlformats.org/drawingml/2006/main" noGrp="1"/>
          </p:cNvSpPr>
          <p:nvPr/>
        </p:nvSpPr>
        <p:spPr>
          <a:xfrm xmlns:a="http://schemas.openxmlformats.org/drawingml/2006/main">
            <a:off x="6858000" y="425767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Der Inhaber prüft den Text und gibt ihn</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für Käufer frei. Die Selbsteinschätzung</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ergänzt die Unternehmenszahlen.</a:t>
            </a:r>
          </a:p>
        </p:txBody>
      </p:sp>
    </p:spTree>
    <p:extLst>
      <p:ext uri="{BB962C8B-B14F-4D97-AF65-F5344CB8AC3E}">
        <p14:creationId xmlns:p14="http://schemas.microsoft.com/office/powerpoint/2010/main" val="626807659"/>
      </p:ext>
    </p:extLst>
  </p:cSld>
</p:sld>
</file>

<file path=ppt/slides/slide9.xml><?xml version="1.0" encoding="utf-8"?>
<p:sld xmlns:p="http://schemas.openxmlformats.org/presentationml/2006/main">
  <p:cSld>
    <p:bg>
      <p:bgPr>
        <a:solidFill xmlns:a="http://schemas.openxmlformats.org/drawingml/2006/main">
          <a:srgbClr val="F4F2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065ED4-F02C-4FC4-A9D3-D7CBB7B8403F}"/>
              </a:ext>
            </a:extLst>
          </p:cNvPr>
          <p:cNvSpPr>
            <a:spLocks xmlns:a="http://schemas.openxmlformats.org/drawingml/2006/main" noGrp="1"/>
          </p:cNvSpPr>
          <p:nvPr/>
        </p:nvSpPr>
        <p:spPr>
          <a:xfrm xmlns:a="http://schemas.openxmlformats.org/drawingml/2006/main">
            <a:off x="685800" y="5238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82E"/>
                </a:solidFill>
                <a:latin typeface="Arial"/>
                <a:ea typeface="Arial"/>
                <a:cs typeface="Arial"/>
              </a:defRPr>
            </a:pPr>
            <a:r>
              <a:rPr sz="3450" b="1">
                <a:solidFill>
                  <a:srgbClr val="16382E"/>
                </a:solidFill>
                <a:latin typeface="Arial"/>
                <a:ea typeface="Arial"/>
                <a:cs typeface="Arial"/>
              </a:rPr>
              <a:t>Buyer introductions and initial implementation</a:t>
            </a:r>
          </a:p>
        </p:txBody>
      </p:sp>
      <p:sp>
        <p:nvSpPr>
          <p:cNvPr id="2" name="">
            <a:extLst xmlns:a="http://schemas.openxmlformats.org/drawingml/2006/main">
              <a:ext uri="{FF2B5EF4-FFF2-40B4-BE49-F238E27FC236}">
                <a16:creationId xmlns:a16="http://schemas.microsoft.com/office/drawing/2014/main" id="{C04EF6C0-2D9C-40AA-80A8-8732DCFDBA1A}"/>
              </a:ext>
            </a:extLst>
          </p:cNvPr>
          <p:cNvSpPr>
            <a:spLocks xmlns:a="http://schemas.openxmlformats.org/drawingml/2006/main" noGrp="1"/>
          </p:cNvSpPr>
          <p:nvPr/>
        </p:nvSpPr>
        <p:spPr>
          <a:xfrm xmlns:a="http://schemas.openxmlformats.org/drawingml/2006/main">
            <a:off x="6858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536B60"/>
                </a:solidFill>
                <a:latin typeface="Arial"/>
                <a:ea typeface="Arial"/>
                <a:cs typeface="Arial"/>
              </a:defRPr>
            </a:pPr>
            <a:r>
              <a:rPr sz="1200" b="1">
                <a:solidFill>
                  <a:srgbClr val="536B60"/>
                </a:solidFill>
                <a:latin typeface="Arial"/>
                <a:ea typeface="Arial"/>
                <a:cs typeface="Arial"/>
              </a:rPr>
              <a:t>MERGERO</a:t>
            </a:r>
          </a:p>
        </p:txBody>
      </p:sp>
      <p:sp>
        <p:nvSpPr>
          <p:cNvPr id="3" name="">
            <a:extLst xmlns:a="http://schemas.openxmlformats.org/drawingml/2006/main">
              <a:ext uri="{FF2B5EF4-FFF2-40B4-BE49-F238E27FC236}">
                <a16:creationId xmlns:a16="http://schemas.microsoft.com/office/drawing/2014/main" id="{0303785B-37C7-43AA-AF1F-C9AB976E75DB}"/>
              </a:ext>
            </a:extLst>
          </p:cNvPr>
          <p:cNvSpPr>
            <a:spLocks xmlns:a="http://schemas.openxmlformats.org/drawingml/2006/main" noGrp="1"/>
          </p:cNvSpPr>
          <p:nvPr/>
        </p:nvSpPr>
        <p:spPr>
          <a:xfrm xmlns:a="http://schemas.openxmlformats.org/drawingml/2006/main">
            <a:off x="10953750"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B60"/>
                </a:solidFill>
                <a:latin typeface="Arial"/>
                <a:ea typeface="Arial"/>
                <a:cs typeface="Arial"/>
              </a:defRPr>
            </a:pPr>
            <a:r>
              <a:rPr sz="1350" b="0">
                <a:solidFill>
                  <a:srgbClr val="536B6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6610583-77F3-41CC-964E-90A43BF349E3}"/>
              </a:ext>
            </a:extLst>
          </p:cNvPr>
          <p:cNvSpPr>
            <a:spLocks xmlns:a="http://schemas.openxmlformats.org/drawingml/2006/main" noGrp="1"/>
          </p:cNvSpPr>
          <p:nvPr/>
        </p:nvSpPr>
        <p:spPr>
          <a:xfrm xmlns:a="http://schemas.openxmlformats.org/drawingml/2006/main">
            <a:off x="685800" y="1857375"/>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6382E"/>
                </a:solidFill>
                <a:latin typeface="Arial"/>
                <a:ea typeface="Arial"/>
                <a:cs typeface="Arial"/>
              </a:defRPr>
            </a:pPr>
            <a:r>
              <a:rPr sz="2400" b="1">
                <a:solidFill>
                  <a:srgbClr val="16382E"/>
                </a:solidFill>
                <a:latin typeface="Arial"/>
                <a:ea typeface="Arial"/>
                <a:cs typeface="Arial"/>
              </a:rPr>
              <a:t>How an introduction takes shape</a:t>
            </a:r>
          </a:p>
        </p:txBody>
      </p:sp>
      <p:sp>
        <p:nvSpPr>
          <p:cNvPr id="5" name="">
            <a:extLst xmlns:a="http://schemas.openxmlformats.org/drawingml/2006/main">
              <a:ext uri="{FF2B5EF4-FFF2-40B4-BE49-F238E27FC236}">
                <a16:creationId xmlns:a16="http://schemas.microsoft.com/office/drawing/2014/main" id="{E60F6521-BCA6-4564-9600-43742967F47D}"/>
              </a:ext>
            </a:extLst>
          </p:cNvPr>
          <p:cNvSpPr>
            <a:spLocks xmlns:a="http://schemas.openxmlformats.org/drawingml/2006/main" noGrp="1"/>
          </p:cNvSpPr>
          <p:nvPr/>
        </p:nvSpPr>
        <p:spPr>
          <a:xfrm xmlns:a="http://schemas.openxmlformats.org/drawingml/2006/main">
            <a:off x="685800" y="28003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Gespeicherte Profile mit Suchwünschen</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potenzieller Käufer abgleichen.</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Bei passendem Interesse den Inhaber</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entsprechend seiner Freigabe kontaktieren.</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Weitere Details klären und beide Seiten</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bei gegenseitigem Interesse vernetzen.</a:t>
            </a:r>
          </a:p>
        </p:txBody>
      </p:sp>
      <p:sp>
        <p:nvSpPr>
          <p:cNvPr id="6" name="">
            <a:extLst xmlns:a="http://schemas.openxmlformats.org/drawingml/2006/main">
              <a:ext uri="{FF2B5EF4-FFF2-40B4-BE49-F238E27FC236}">
                <a16:creationId xmlns:a16="http://schemas.microsoft.com/office/drawing/2014/main" id="{C41DC93C-015C-42F3-81E4-BAD6670AE7E8}"/>
              </a:ext>
            </a:extLst>
          </p:cNvPr>
          <p:cNvSpPr>
            <a:spLocks xmlns:a="http://schemas.openxmlformats.org/drawingml/2006/main" noGrp="1"/>
          </p:cNvSpPr>
          <p:nvPr/>
        </p:nvSpPr>
        <p:spPr>
          <a:xfrm xmlns:a="http://schemas.openxmlformats.org/drawingml/2006/main">
            <a:off x="6953250" y="1857375"/>
            <a:ext cx="457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6382E"/>
                </a:solidFill>
                <a:latin typeface="Arial"/>
                <a:ea typeface="Arial"/>
                <a:cs typeface="Arial"/>
              </a:defRPr>
            </a:pPr>
            <a:r>
              <a:rPr sz="2400" b="1">
                <a:solidFill>
                  <a:srgbClr val="16382E"/>
                </a:solidFill>
                <a:latin typeface="Arial"/>
                <a:ea typeface="Arial"/>
                <a:cs typeface="Arial"/>
              </a:rPr>
              <a:t>Proposed first version</a:t>
            </a:r>
          </a:p>
        </p:txBody>
      </p:sp>
      <p:sp>
        <p:nvSpPr>
          <p:cNvPr id="7" name="">
            <a:extLst xmlns:a="http://schemas.openxmlformats.org/drawingml/2006/main">
              <a:ext uri="{FF2B5EF4-FFF2-40B4-BE49-F238E27FC236}">
                <a16:creationId xmlns:a16="http://schemas.microsoft.com/office/drawing/2014/main" id="{8FF1A717-0F91-41FA-818C-7681364DBE86}"/>
              </a:ext>
            </a:extLst>
          </p:cNvPr>
          <p:cNvSpPr>
            <a:spLocks xmlns:a="http://schemas.openxmlformats.org/drawingml/2006/main" noGrp="1"/>
          </p:cNvSpPr>
          <p:nvPr/>
        </p:nvSpPr>
        <p:spPr>
          <a:xfrm xmlns:a="http://schemas.openxmlformats.org/drawingml/2006/main">
            <a:off x="6953250" y="2800350"/>
            <a:ext cx="4619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Quick Check und Ergebnisausgabe</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Profilbestand mit getrennten Freigaben</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Käuferabgleich zunächst durch Mergero</a:t>
            </a:r>
          </a:p>
          <a:p xmlns:a="http://schemas.openxmlformats.org/drawingml/2006/main">
            <a:r>
              <a:t/>
            </a:r>
          </a:p>
          <a:p xmlns:a="http://schemas.openxmlformats.org/drawingml/2006/main">
            <a:pPr>
              <a:buNone/>
              <a:defRPr sz="1950" b="0">
                <a:solidFill>
                  <a:srgbClr val="16382E"/>
                </a:solidFill>
                <a:latin typeface="Arial"/>
                <a:ea typeface="Arial"/>
                <a:cs typeface="Arial"/>
              </a:defRPr>
            </a:pPr>
            <a:r>
              <a:rPr sz="1950" b="0">
                <a:solidFill>
                  <a:srgbClr val="16382E"/>
                </a:solidFill>
                <a:latin typeface="Arial"/>
                <a:ea typeface="Arial"/>
                <a:cs typeface="Arial"/>
              </a:rPr>
              <a:t>Danach: KI-Anruf und Kultur-Chat</a:t>
            </a:r>
          </a:p>
        </p:txBody>
      </p:sp>
    </p:spTree>
    <p:extLst>
      <p:ext uri="{BB962C8B-B14F-4D97-AF65-F5344CB8AC3E}">
        <p14:creationId xmlns:p14="http://schemas.microsoft.com/office/powerpoint/2010/main" val="21264503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2026-09-26T21:02:02.2860000Z</dcterms:created>
  <dcterms:modified xsi:type="dcterms:W3CDTF">2026-09-26T21:02:02.2860000Z</dcterms:modified>
</coreProperties>
</file>