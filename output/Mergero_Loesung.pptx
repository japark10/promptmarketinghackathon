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4cb2cc8f3424573" /><Relationship Type="http://schemas.openxmlformats.org/officeDocument/2006/relationships/extended-properties" Target="/docProps/app.xml" Id="R9e151c38527840ea" /><Relationship Type="http://schemas.openxmlformats.org/officeDocument/2006/relationships/officeDocument" Target="/ppt/presentation.xml" Id="Rfa78c7f949334e99" /></Relationships>
</file>

<file path=ppt/presentation.xml><?xml version="1.0" encoding="utf-8"?>
<p:presentation xmlns:p="http://schemas.openxmlformats.org/presentationml/2006/main">
  <p:sldMasterIdLst>
    <p:sldMasterId xmlns:r="http://schemas.openxmlformats.org/officeDocument/2006/relationships" id="2147483648" r:id="Rbbf8de8187cd4ec9"/>
  </p:sldMasterIdLst>
  <p:notesMasterIdLst>
    <p:notesMasterId xmlns:r="http://schemas.openxmlformats.org/officeDocument/2006/relationships" r:id="R4c54d7a7b73c42bc"/>
  </p:notesMasterIdLst>
  <p:sldIdLst>
    <p:sldId xmlns:r="http://schemas.openxmlformats.org/officeDocument/2006/relationships" id="256" r:id="Rf6ba2e9e39324ad1"/>
    <p:sldId xmlns:r="http://schemas.openxmlformats.org/officeDocument/2006/relationships" id="257" r:id="R75810de5b742495a"/>
    <p:sldId xmlns:r="http://schemas.openxmlformats.org/officeDocument/2006/relationships" id="258" r:id="Rf019d14943f0404f"/>
    <p:sldId xmlns:r="http://schemas.openxmlformats.org/officeDocument/2006/relationships" id="259" r:id="R887588c520c947e5"/>
    <p:sldId xmlns:r="http://schemas.openxmlformats.org/officeDocument/2006/relationships" id="260" r:id="R980818172f49470f"/>
    <p:sldId xmlns:r="http://schemas.openxmlformats.org/officeDocument/2006/relationships" id="261" r:id="R9a80c379cd724ed3"/>
    <p:sldId xmlns:r="http://schemas.openxmlformats.org/officeDocument/2006/relationships" id="262" r:id="R5abd6d4de8f94117"/>
    <p:sldId xmlns:r="http://schemas.openxmlformats.org/officeDocument/2006/relationships" id="263" r:id="R3a2e59d4a8a6491a"/>
    <p:sldId xmlns:r="http://schemas.openxmlformats.org/officeDocument/2006/relationships" id="264" r:id="Rf6b891b93e1145d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bedeb053a114dbe" /><Relationship Type="http://schemas.openxmlformats.org/officeDocument/2006/relationships/slideMaster" Target="/ppt/slideMasters/slideMaster1.xml" Id="Rbbf8de8187cd4ec9" /><Relationship Type="http://schemas.openxmlformats.org/officeDocument/2006/relationships/notesMaster" Target="/ppt/notesMasters/notesMaster1.xml" Id="R4c54d7a7b73c42bc" /><Relationship Type="http://schemas.openxmlformats.org/officeDocument/2006/relationships/presProps" Target="/ppt/presProps.xml" Id="Rcb03ec8770464e26" /><Relationship Type="http://schemas.openxmlformats.org/officeDocument/2006/relationships/tableStyles" Target="/ppt/tableStyles.xml" Id="R3b31c0af509045a5" /><Relationship Type="http://schemas.openxmlformats.org/officeDocument/2006/relationships/slide" Target="/ppt/slides/slide1.xml" Id="Rf6ba2e9e39324ad1" /><Relationship Type="http://schemas.openxmlformats.org/officeDocument/2006/relationships/slide" Target="/ppt/slides/slide2.xml" Id="R75810de5b742495a" /><Relationship Type="http://schemas.openxmlformats.org/officeDocument/2006/relationships/slide" Target="/ppt/slides/slide3.xml" Id="Rf019d14943f0404f" /><Relationship Type="http://schemas.openxmlformats.org/officeDocument/2006/relationships/slide" Target="/ppt/slides/slide4.xml" Id="R887588c520c947e5" /><Relationship Type="http://schemas.openxmlformats.org/officeDocument/2006/relationships/slide" Target="/ppt/slides/slide5.xml" Id="R980818172f49470f" /><Relationship Type="http://schemas.openxmlformats.org/officeDocument/2006/relationships/slide" Target="/ppt/slides/slide6.xml" Id="R9a80c379cd724ed3" /><Relationship Type="http://schemas.openxmlformats.org/officeDocument/2006/relationships/slide" Target="/ppt/slides/slide7.xml" Id="R5abd6d4de8f94117" /><Relationship Type="http://schemas.openxmlformats.org/officeDocument/2006/relationships/slide" Target="/ppt/slides/slide8.xml" Id="R3a2e59d4a8a6491a" /><Relationship Type="http://schemas.openxmlformats.org/officeDocument/2006/relationships/slide" Target="/ppt/slides/slide9.xml" Id="Rf6b891b93e1145d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83ab408dffb42d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22fdeb91e64259" /><Relationship Type="http://schemas.openxmlformats.org/officeDocument/2006/relationships/notesMaster" Target="/ppt/notesMasters/notesMaster1.xml" Id="Rfb1440e18ef94d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1446f178187a4372" /><Relationship Type="http://schemas.openxmlformats.org/officeDocument/2006/relationships/notesMaster" Target="/ppt/notesMasters/notesMaster1.xml" Id="R35d2715fe2ca46dd" /></Relationships>
</file>

<file path=ppt/notesSlides/_rels/notesSlide3.xml.rels>&#65279;<?xml version="1.0" encoding="utf-8"?><Relationships xmlns="http://schemas.openxmlformats.org/package/2006/relationships"><Relationship Type="http://schemas.openxmlformats.org/officeDocument/2006/relationships/slide" Target="/ppt/slides/slide3.xml" Id="Rc5e16b9f316e4ad9" /><Relationship Type="http://schemas.openxmlformats.org/officeDocument/2006/relationships/notesMaster" Target="/ppt/notesMasters/notesMaster1.xml" Id="R932a8836a38445cc" /></Relationships>
</file>

<file path=ppt/notesSlides/_rels/notesSlide4.xml.rels>&#65279;<?xml version="1.0" encoding="utf-8"?><Relationships xmlns="http://schemas.openxmlformats.org/package/2006/relationships"><Relationship Type="http://schemas.openxmlformats.org/officeDocument/2006/relationships/slide" Target="/ppt/slides/slide4.xml" Id="R73a6a7996f624bc1" /><Relationship Type="http://schemas.openxmlformats.org/officeDocument/2006/relationships/notesMaster" Target="/ppt/notesMasters/notesMaster1.xml" Id="R7fb9be02292548ef" /></Relationships>
</file>

<file path=ppt/notesSlides/_rels/notesSlide5.xml.rels>&#65279;<?xml version="1.0" encoding="utf-8"?><Relationships xmlns="http://schemas.openxmlformats.org/package/2006/relationships"><Relationship Type="http://schemas.openxmlformats.org/officeDocument/2006/relationships/slide" Target="/ppt/slides/slide5.xml" Id="R0807f329ac3744b7" /><Relationship Type="http://schemas.openxmlformats.org/officeDocument/2006/relationships/notesMaster" Target="/ppt/notesMasters/notesMaster1.xml" Id="Rd855b193e1a84e42" /></Relationships>
</file>

<file path=ppt/notesSlides/_rels/notesSlide6.xml.rels>&#65279;<?xml version="1.0" encoding="utf-8"?><Relationships xmlns="http://schemas.openxmlformats.org/package/2006/relationships"><Relationship Type="http://schemas.openxmlformats.org/officeDocument/2006/relationships/slide" Target="/ppt/slides/slide6.xml" Id="Re40a640c20ad487c" /><Relationship Type="http://schemas.openxmlformats.org/officeDocument/2006/relationships/notesMaster" Target="/ppt/notesMasters/notesMaster1.xml" Id="Rad926d5a58724da2" /></Relationships>
</file>

<file path=ppt/notesSlides/_rels/notesSlide7.xml.rels>&#65279;<?xml version="1.0" encoding="utf-8"?><Relationships xmlns="http://schemas.openxmlformats.org/package/2006/relationships"><Relationship Type="http://schemas.openxmlformats.org/officeDocument/2006/relationships/slide" Target="/ppt/slides/slide7.xml" Id="R83ff9668fbd64424" /><Relationship Type="http://schemas.openxmlformats.org/officeDocument/2006/relationships/notesMaster" Target="/ppt/notesMasters/notesMaster1.xml" Id="R07e3c8482f0e4987" /></Relationships>
</file>

<file path=ppt/notesSlides/_rels/notesSlide8.xml.rels>&#65279;<?xml version="1.0" encoding="utf-8"?><Relationships xmlns="http://schemas.openxmlformats.org/package/2006/relationships"><Relationship Type="http://schemas.openxmlformats.org/officeDocument/2006/relationships/slide" Target="/ppt/slides/slide8.xml" Id="R914d60d80ac24554" /><Relationship Type="http://schemas.openxmlformats.org/officeDocument/2006/relationships/notesMaster" Target="/ppt/notesMasters/notesMaster1.xml" Id="R8bd70b8c137b43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bc976cbc1a714a7e" /><Relationship Type="http://schemas.openxmlformats.org/officeDocument/2006/relationships/notesMaster" Target="/ppt/notesMasters/notesMaster1.xml" Id="Raee01828efce42b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Basis: Lösungsbeschreibung des Projektteams. Produktkonzept, keine bereits implementierten Funktionen. Arbeitstitel der Engine: Mergero Quick Check. Cover: konzeptionelle Illustration, erstellt mit dem integrierten Imagegen-Tool. Prompt: ivory business campus connected by a mint ribbon to a dark green building, editorial sculptural illustration, no text. Asset: .mergero-build/cover.png.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Basis: Lösungsbeschreibung des Projektteams. Produktkonzept, keine bereits implementierten Funktionen. Der Produktname „Mergero Quick Check“ ist ein Vorschlag. Der Nutzen für Mergero ist ein wachsender Bestand an Unternehmen mit dokumentierten Präferenzen.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Basis: Lösungsbeschreibung des Projektteams. Produktkonzept, keine bereits implementierten Funktionen. Vorschlag für die Nutzerführung. Ein gespeichertes Profil und ein späterer Kontakt sind getrennte Entscheidungen.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Basis: Lösungsbeschreibung des Projektteams. Produktkonzept, keine bereits implementierten Funktionen. Die drei Kernangaben stammen aus der Beschreibung. Branche und Standort sind ergänzende Vorschläge. Kontaktdaten werden für gewünschte Anschlussangebote erfasst.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Basis: Lösungsbeschreibung des Projektteams. Produktkonzept, keine bereits implementierten Funktionen. Konzeptvorschlag: Die Bewertungsmethodik, geeignete Vergleichsdaten und Regeln für Sonderfälle müssen vor Umsetzung festgelegt und geprüft werden. Es liegen keine Zahlen oder validierten Bewertungsmodelle vor. Die Darstellung enthält daher keine erfundenen Werte. Die Schätzung ist keine verbindliche Kaufpreisermittlung.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Basis: Lösungsbeschreibung des Projektteams. Produktkonzept, keine bereits implementierten Funktionen. Das Ausgangskonzept nennt sowohl Kontakt-Opt-in als auch Kontakt trotz Opt-out. Diese Folie legt den Widerspruch offen und kennzeichnet die empfohlene Produktentscheidung. Die konkrete Speicher- und Löschlogik muss für die Umsetzung festgelegt werden. Keine rechtliche Bewertung.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Basis: Lösungsbeschreibung des Projektteams. Produktkonzept, keine bereits implementierten Funktionen. Die Gesprächsinhalte sowie Terminwahl und Bestätigung der Zusammenfassung sind Vorschläge zur Konkretisierung des gewünschten KI-Anrufservices. Das Angebot ist optional.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Basis: Lösungsbeschreibung des Projektteams. Produktkonzept, keine bereits implementierten Funktionen. Der Kulturtext und ungefähr 500 Wörter stammen aus der Beschreibung. Bestätigung und Freigabe sind Prozessvorschläge. Käufer sehen eine gekennzeichnete Selbstauskunft, keine unabhängige Kulturbewertung.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Basis: Lösungsbeschreibung des Projektteams. Produktkonzept, keine bereits implementierten Funktionen. Priorisierung als Umsetzungsvorschlag. Das Matching ist zunächst manuell gedacht, um Anforderungen zu lernen. Erfolg kann anhand abgeschlossener Checks, gespeicherter Profile, Kontaktfreigaben und zustande gekommener Gespräche beurteilt werden. Keine Leistungs- oder Umsatzprognosen.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df8226ba124a4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dc24d2e2aa845be" /><Relationship Type="http://schemas.openxmlformats.org/officeDocument/2006/relationships/slideLayout" Target="/ppt/slideLayouts/slideLayout1.xml" Id="R38c89164ee004f0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8c89164ee004f0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009fdb438114c35" /><Relationship Type="http://schemas.openxmlformats.org/officeDocument/2006/relationships/image" Target="/ppt/media/image.png" Id="Ref19cd73447045c2" /><Relationship Type="http://schemas.openxmlformats.org/officeDocument/2006/relationships/notesSlide" Target="/ppt/notesSlides/notesSlide1.xml" Id="R225abbb0438543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42c0c3753e64640" /><Relationship Type="http://schemas.openxmlformats.org/officeDocument/2006/relationships/notesSlide" Target="/ppt/notesSlides/notesSlide2.xml" Id="Rca36326123944e5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d1816141ce04ccd" /><Relationship Type="http://schemas.openxmlformats.org/officeDocument/2006/relationships/notesSlide" Target="/ppt/notesSlides/notesSlide3.xml" Id="R2fc7a96f6cc541a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0d61840eeb54406" /><Relationship Type="http://schemas.openxmlformats.org/officeDocument/2006/relationships/notesSlide" Target="/ppt/notesSlides/notesSlide4.xml" Id="Rbfd26add58f24f2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e2aacd3dbde4380" /><Relationship Type="http://schemas.openxmlformats.org/officeDocument/2006/relationships/notesSlide" Target="/ppt/notesSlides/notesSlide5.xml" Id="R8786193d5cb34db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05c78e4b67a4b11" /><Relationship Type="http://schemas.openxmlformats.org/officeDocument/2006/relationships/notesSlide" Target="/ppt/notesSlides/notesSlide6.xml" Id="Rd2827a3932ae455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87cf0727e3c49ae" /><Relationship Type="http://schemas.openxmlformats.org/officeDocument/2006/relationships/notesSlide" Target="/ppt/notesSlides/notesSlide7.xml" Id="R026a9fc19cab446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085fc2c44944169" /><Relationship Type="http://schemas.openxmlformats.org/officeDocument/2006/relationships/notesSlide" Target="/ppt/notesSlides/notesSlide8.xml" Id="R71928024307740c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bf1a35e3ed64764" /><Relationship Type="http://schemas.openxmlformats.org/officeDocument/2006/relationships/notesSlide" Target="/ppt/notesSlides/notesSlide9.xml" Id="Rff05d467f94a49cc" /></Relationships>
</file>

<file path=ppt/slides/slide1.xml><?xml version="1.0" encoding="utf-8"?>
<p:sld xmlns:p="http://schemas.openxmlformats.org/presentationml/2006/main">
  <p:cSld>
    <p:bg>
      <p:bgPr>
        <a:solidFill xmlns:a="http://schemas.openxmlformats.org/drawingml/2006/main">
          <a:srgbClr val="102F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CB77EDD-C3D9-431C-B87F-9F34A5DAC749}"/>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4F2EA"/>
                </a:solidFill>
                <a:latin typeface="Arial"/>
                <a:ea typeface="Arial"/>
                <a:cs typeface="Arial"/>
              </a:defRPr>
            </a:pPr>
            <a:r>
              <a:rPr sz="3450" b="1">
                <a:solidFill>
                  <a:srgbClr val="F4F2EA"/>
                </a:solidFill>
                <a:latin typeface="Arial"/>
                <a:ea typeface="Arial"/>
                <a:cs typeface="Arial"/>
              </a:rPr>
              <a:t>Mergero</a:t>
            </a:r>
          </a:p>
        </p:txBody>
      </p:sp>
      <p:sp>
        <p:nvSpPr>
          <p:cNvPr id="2" name="">
            <a:extLst xmlns:a="http://schemas.openxmlformats.org/drawingml/2006/main">
              <a:ext uri="{FF2B5EF4-FFF2-40B4-BE49-F238E27FC236}">
                <a16:creationId xmlns:a16="http://schemas.microsoft.com/office/drawing/2014/main" id="{F6895AC0-043D-480E-AE50-16D9E3DF1A24}"/>
              </a:ext>
            </a:extLst>
          </p:cNvPr>
          <p:cNvSpPr>
            <a:spLocks xmlns:a="http://schemas.openxmlformats.org/drawingml/2006/main" noGrp="1"/>
          </p:cNvSpPr>
          <p:nvPr/>
        </p:nvSpPr>
        <p:spPr>
          <a:xfrm xmlns:a="http://schemas.openxmlformats.org/drawingml/2006/main">
            <a:off x="685800" y="6362700"/>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B9DEC7"/>
                </a:solidFill>
                <a:latin typeface="Arial"/>
                <a:ea typeface="Arial"/>
                <a:cs typeface="Arial"/>
              </a:defRPr>
            </a:pPr>
            <a:r>
              <a:rPr sz="1200" b="1">
                <a:solidFill>
                  <a:srgbClr val="B9DEC7"/>
                </a:solidFill>
                <a:latin typeface="Arial"/>
                <a:ea typeface="Arial"/>
                <a:cs typeface="Arial"/>
              </a:rPr>
              <a:t>MERGERO</a:t>
            </a:r>
          </a:p>
        </p:txBody>
      </p:sp>
      <p:sp>
        <p:nvSpPr>
          <p:cNvPr id="3" name="">
            <a:extLst xmlns:a="http://schemas.openxmlformats.org/drawingml/2006/main">
              <a:ext uri="{FF2B5EF4-FFF2-40B4-BE49-F238E27FC236}">
                <a16:creationId xmlns:a16="http://schemas.microsoft.com/office/drawing/2014/main" id="{5496B38F-B654-46E3-BD89-3A507BD12F4B}"/>
              </a:ext>
            </a:extLst>
          </p:cNvPr>
          <p:cNvSpPr>
            <a:spLocks xmlns:a="http://schemas.openxmlformats.org/drawingml/2006/main" noGrp="1"/>
          </p:cNvSpPr>
          <p:nvPr/>
        </p:nvSpPr>
        <p:spPr>
          <a:xfrm xmlns:a="http://schemas.openxmlformats.org/drawingml/2006/main">
            <a:off x="10953750"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DEC7"/>
                </a:solidFill>
                <a:latin typeface="Arial"/>
                <a:ea typeface="Arial"/>
                <a:cs typeface="Arial"/>
              </a:defRPr>
            </a:pPr>
            <a:r>
              <a:rPr sz="1350" b="0">
                <a:solidFill>
                  <a:srgbClr val="B9DEC7"/>
                </a:solidFill>
                <a:latin typeface="Arial"/>
                <a:ea typeface="Arial"/>
                <a:cs typeface="Arial"/>
              </a:rPr>
              <a:t>01</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f19cd73447045c2"/>
          <a:srcRect xmlns:a="http://schemas.openxmlformats.org/drawingml/2006/main" l="0" t="3555" r="0" b="3555"/>
          <a:stretch xmlns:a="http://schemas.openxmlformats.org/drawingml/2006/main">
            <a:fillRect l="0" t="0" r="0" b="0"/>
          </a:stretch>
        </p:blipFill>
        <p:spPr>
          <a:xfrm xmlns:a="http://schemas.openxmlformats.org/drawingml/2006/main">
            <a:off x="6858000" y="0"/>
            <a:ext cx="5334000" cy="6191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15DBA00-8DB4-48B5-B1A9-CC65C71A19B2}"/>
              </a:ext>
            </a:extLst>
          </p:cNvPr>
          <p:cNvSpPr>
            <a:spLocks xmlns:a="http://schemas.openxmlformats.org/drawingml/2006/main" noGrp="1"/>
          </p:cNvSpPr>
          <p:nvPr/>
        </p:nvSpPr>
        <p:spPr>
          <a:xfrm xmlns:a="http://schemas.openxmlformats.org/drawingml/2006/main">
            <a:off x="685800" y="2238375"/>
            <a:ext cx="6381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F4F2EA"/>
                </a:solidFill>
                <a:latin typeface="Arial"/>
                <a:ea typeface="Arial"/>
                <a:cs typeface="Arial"/>
              </a:defRPr>
            </a:pPr>
            <a:r>
              <a:rPr sz="3825" b="1">
                <a:solidFill>
                  <a:srgbClr val="F4F2EA"/>
                </a:solidFill>
                <a:latin typeface="Arial"/>
                <a:ea typeface="Arial"/>
                <a:cs typeface="Arial"/>
              </a:rPr>
              <a:t>Unternehmen einschätzen.</a:t>
            </a:r>
          </a:p>
          <a:p xmlns:a="http://schemas.openxmlformats.org/drawingml/2006/main">
            <a:pPr>
              <a:defRPr sz="3825" b="1">
                <a:solidFill>
                  <a:srgbClr val="F4F2EA"/>
                </a:solidFill>
                <a:latin typeface="Arial"/>
                <a:ea typeface="Arial"/>
                <a:cs typeface="Arial"/>
              </a:defRPr>
            </a:pPr>
            <a:r>
              <a:rPr sz="3825" b="1">
                <a:solidFill>
                  <a:srgbClr val="F4F2EA"/>
                </a:solidFill>
                <a:latin typeface="Arial"/>
                <a:ea typeface="Arial"/>
                <a:cs typeface="Arial"/>
              </a:rPr>
              <a:t>Käufer kennenlernen.</a:t>
            </a:r>
          </a:p>
        </p:txBody>
      </p:sp>
      <p:sp>
        <p:nvSpPr>
          <p:cNvPr id="6" name="">
            <a:extLst xmlns:a="http://schemas.openxmlformats.org/drawingml/2006/main">
              <a:ext uri="{FF2B5EF4-FFF2-40B4-BE49-F238E27FC236}">
                <a16:creationId xmlns:a16="http://schemas.microsoft.com/office/drawing/2014/main" id="{A14FF481-AAF7-423A-B90D-107180934C29}"/>
              </a:ext>
            </a:extLst>
          </p:cNvPr>
          <p:cNvSpPr>
            <a:spLocks xmlns:a="http://schemas.openxmlformats.org/drawingml/2006/main" noGrp="1"/>
          </p:cNvSpPr>
          <p:nvPr/>
        </p:nvSpPr>
        <p:spPr>
          <a:xfrm xmlns:a="http://schemas.openxmlformats.org/drawingml/2006/main">
            <a:off x="685800" y="4143375"/>
            <a:ext cx="6048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9DEC7"/>
                </a:solidFill>
                <a:latin typeface="Arial"/>
                <a:ea typeface="Arial"/>
                <a:cs typeface="Arial"/>
              </a:defRPr>
            </a:pPr>
            <a:r>
              <a:rPr sz="2100" b="0">
                <a:solidFill>
                  <a:srgbClr val="B9DEC7"/>
                </a:solidFill>
                <a:latin typeface="Arial"/>
                <a:ea typeface="Arial"/>
                <a:cs typeface="Arial"/>
              </a:rPr>
              <a:t>Ein kurzer Unternehmenscheck als Einstieg</a:t>
            </a:r>
          </a:p>
          <a:p xmlns:a="http://schemas.openxmlformats.org/drawingml/2006/main">
            <a:pPr>
              <a:defRPr sz="2100" b="0">
                <a:solidFill>
                  <a:srgbClr val="B9DEC7"/>
                </a:solidFill>
                <a:latin typeface="Arial"/>
                <a:ea typeface="Arial"/>
                <a:cs typeface="Arial"/>
              </a:defRPr>
            </a:pPr>
            <a:r>
              <a:rPr sz="2100" b="0">
                <a:solidFill>
                  <a:srgbClr val="B9DEC7"/>
                </a:solidFill>
                <a:latin typeface="Arial"/>
                <a:ea typeface="Arial"/>
                <a:cs typeface="Arial"/>
              </a:rPr>
              <a:t>in die mögliche Unternehmensnachfolge.</a:t>
            </a:r>
          </a:p>
        </p:txBody>
      </p:sp>
    </p:spTree>
    <p:extLst>
      <p:ext uri="{BB962C8B-B14F-4D97-AF65-F5344CB8AC3E}">
        <p14:creationId xmlns:p14="http://schemas.microsoft.com/office/powerpoint/2010/main" val="388147180"/>
      </p:ext>
    </p:extLst>
  </p:cSld>
</p:sld>
</file>

<file path=ppt/slides/slide2.xml><?xml version="1.0" encoding="utf-8"?>
<p:sld xmlns:p="http://schemas.openxmlformats.org/presentationml/2006/main">
  <p:cSld>
    <p:bg>
      <p:bgPr>
        <a:solidFill xmlns:a="http://schemas.openxmlformats.org/drawingml/2006/main">
          <a:srgbClr val="F4F2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5ED9FC5-7A6E-40DA-995A-9B984BC45666}"/>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6382E"/>
                </a:solidFill>
                <a:latin typeface="Arial"/>
                <a:ea typeface="Arial"/>
                <a:cs typeface="Arial"/>
              </a:defRPr>
            </a:pPr>
            <a:r>
              <a:rPr sz="3450" b="1">
                <a:solidFill>
                  <a:srgbClr val="16382E"/>
                </a:solidFill>
                <a:latin typeface="Arial"/>
                <a:ea typeface="Arial"/>
                <a:cs typeface="Arial"/>
              </a:rPr>
              <a:t>Die Lösung: Mergero Quick Check</a:t>
            </a:r>
          </a:p>
        </p:txBody>
      </p:sp>
      <p:sp>
        <p:nvSpPr>
          <p:cNvPr id="2" name="">
            <a:extLst xmlns:a="http://schemas.openxmlformats.org/drawingml/2006/main">
              <a:ext uri="{FF2B5EF4-FFF2-40B4-BE49-F238E27FC236}">
                <a16:creationId xmlns:a16="http://schemas.microsoft.com/office/drawing/2014/main" id="{B7D23E57-A3A6-46EF-AB61-DF5F2D8C3D3D}"/>
              </a:ext>
            </a:extLst>
          </p:cNvPr>
          <p:cNvSpPr>
            <a:spLocks xmlns:a="http://schemas.openxmlformats.org/drawingml/2006/main" noGrp="1"/>
          </p:cNvSpPr>
          <p:nvPr/>
        </p:nvSpPr>
        <p:spPr>
          <a:xfrm xmlns:a="http://schemas.openxmlformats.org/drawingml/2006/main">
            <a:off x="685800" y="6362700"/>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36B60"/>
                </a:solidFill>
                <a:latin typeface="Arial"/>
                <a:ea typeface="Arial"/>
                <a:cs typeface="Arial"/>
              </a:defRPr>
            </a:pPr>
            <a:r>
              <a:rPr sz="1200" b="1">
                <a:solidFill>
                  <a:srgbClr val="536B60"/>
                </a:solidFill>
                <a:latin typeface="Arial"/>
                <a:ea typeface="Arial"/>
                <a:cs typeface="Arial"/>
              </a:rPr>
              <a:t>MERGERO</a:t>
            </a:r>
          </a:p>
        </p:txBody>
      </p:sp>
      <p:sp>
        <p:nvSpPr>
          <p:cNvPr id="3" name="">
            <a:extLst xmlns:a="http://schemas.openxmlformats.org/drawingml/2006/main">
              <a:ext uri="{FF2B5EF4-FFF2-40B4-BE49-F238E27FC236}">
                <a16:creationId xmlns:a16="http://schemas.microsoft.com/office/drawing/2014/main" id="{0949356A-C421-4EA5-95A9-F056AC77BFF5}"/>
              </a:ext>
            </a:extLst>
          </p:cNvPr>
          <p:cNvSpPr>
            <a:spLocks xmlns:a="http://schemas.openxmlformats.org/drawingml/2006/main" noGrp="1"/>
          </p:cNvSpPr>
          <p:nvPr/>
        </p:nvSpPr>
        <p:spPr>
          <a:xfrm xmlns:a="http://schemas.openxmlformats.org/drawingml/2006/main">
            <a:off x="10953750"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B60"/>
                </a:solidFill>
                <a:latin typeface="Arial"/>
                <a:ea typeface="Arial"/>
                <a:cs typeface="Arial"/>
              </a:defRPr>
            </a:pPr>
            <a:r>
              <a:rPr sz="1350" b="0">
                <a:solidFill>
                  <a:srgbClr val="536B60"/>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380642EC-3930-46F7-AD82-8321CE006E83}"/>
              </a:ext>
            </a:extLst>
          </p:cNvPr>
          <p:cNvSpPr>
            <a:spLocks xmlns:a="http://schemas.openxmlformats.org/drawingml/2006/main" noGrp="1"/>
          </p:cNvSpPr>
          <p:nvPr/>
        </p:nvSpPr>
        <p:spPr>
          <a:xfrm xmlns:a="http://schemas.openxmlformats.org/drawingml/2006/main">
            <a:off x="685800" y="1971675"/>
            <a:ext cx="319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0">
                <a:solidFill>
                  <a:srgbClr val="536B60"/>
                </a:solidFill>
                <a:latin typeface="Arial"/>
                <a:ea typeface="Arial"/>
                <a:cs typeface="Arial"/>
              </a:defRPr>
            </a:pPr>
            <a:r>
              <a:rPr sz="3900" b="0">
                <a:solidFill>
                  <a:srgbClr val="536B6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516227D8-9358-43B7-9C11-D2626C71D38A}"/>
              </a:ext>
            </a:extLst>
          </p:cNvPr>
          <p:cNvSpPr>
            <a:spLocks xmlns:a="http://schemas.openxmlformats.org/drawingml/2006/main" noGrp="1"/>
          </p:cNvSpPr>
          <p:nvPr/>
        </p:nvSpPr>
        <p:spPr>
          <a:xfrm xmlns:a="http://schemas.openxmlformats.org/drawingml/2006/main">
            <a:off x="685800" y="2828925"/>
            <a:ext cx="319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382E"/>
                </a:solidFill>
                <a:latin typeface="Arial"/>
                <a:ea typeface="Arial"/>
                <a:cs typeface="Arial"/>
              </a:defRPr>
            </a:pPr>
            <a:r>
              <a:rPr sz="2175" b="1">
                <a:solidFill>
                  <a:srgbClr val="16382E"/>
                </a:solidFill>
                <a:latin typeface="Arial"/>
                <a:ea typeface="Arial"/>
                <a:cs typeface="Arial"/>
              </a:rPr>
              <a:t>Einfacher Einstieg</a:t>
            </a:r>
          </a:p>
        </p:txBody>
      </p:sp>
      <p:sp>
        <p:nvSpPr>
          <p:cNvPr id="6" name="">
            <a:extLst xmlns:a="http://schemas.openxmlformats.org/drawingml/2006/main">
              <a:ext uri="{FF2B5EF4-FFF2-40B4-BE49-F238E27FC236}">
                <a16:creationId xmlns:a16="http://schemas.microsoft.com/office/drawing/2014/main" id="{182465DE-FA6C-455B-9CFA-08201D3712EB}"/>
              </a:ext>
            </a:extLst>
          </p:cNvPr>
          <p:cNvSpPr>
            <a:spLocks xmlns:a="http://schemas.openxmlformats.org/drawingml/2006/main" noGrp="1"/>
          </p:cNvSpPr>
          <p:nvPr/>
        </p:nvSpPr>
        <p:spPr>
          <a:xfrm xmlns:a="http://schemas.openxmlformats.org/drawingml/2006/main">
            <a:off x="685800" y="3714750"/>
            <a:ext cx="319087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6382E"/>
                </a:solidFill>
                <a:latin typeface="Arial"/>
                <a:ea typeface="Arial"/>
                <a:cs typeface="Arial"/>
              </a:defRPr>
            </a:pPr>
            <a:r>
              <a:rPr sz="1875" b="0">
                <a:solidFill>
                  <a:srgbClr val="16382E"/>
                </a:solidFill>
                <a:latin typeface="Arial"/>
                <a:ea typeface="Arial"/>
                <a:cs typeface="Arial"/>
              </a:rPr>
              <a:t>Ein kurzes Online-Tool für Firmeninhaber. Direkt verlinkbar und für die Ansprache geeignet.</a:t>
            </a:r>
          </a:p>
        </p:txBody>
      </p:sp>
      <p:sp>
        <p:nvSpPr>
          <p:cNvPr id="7" name="">
            <a:extLst xmlns:a="http://schemas.openxmlformats.org/drawingml/2006/main">
              <a:ext uri="{FF2B5EF4-FFF2-40B4-BE49-F238E27FC236}">
                <a16:creationId xmlns:a16="http://schemas.microsoft.com/office/drawing/2014/main" id="{E7EF952D-3EE2-4637-8B8A-51E6975587A4}"/>
              </a:ext>
            </a:extLst>
          </p:cNvPr>
          <p:cNvSpPr>
            <a:spLocks xmlns:a="http://schemas.openxmlformats.org/drawingml/2006/main" noGrp="1"/>
          </p:cNvSpPr>
          <p:nvPr/>
        </p:nvSpPr>
        <p:spPr>
          <a:xfrm xmlns:a="http://schemas.openxmlformats.org/drawingml/2006/main">
            <a:off x="4400550" y="1971675"/>
            <a:ext cx="319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0">
                <a:solidFill>
                  <a:srgbClr val="536B60"/>
                </a:solidFill>
                <a:latin typeface="Arial"/>
                <a:ea typeface="Arial"/>
                <a:cs typeface="Arial"/>
              </a:defRPr>
            </a:pPr>
            <a:r>
              <a:rPr sz="3900" b="0">
                <a:solidFill>
                  <a:srgbClr val="536B60"/>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CE5FDF50-C3FB-4DEB-92A2-54792B25F080}"/>
              </a:ext>
            </a:extLst>
          </p:cNvPr>
          <p:cNvSpPr>
            <a:spLocks xmlns:a="http://schemas.openxmlformats.org/drawingml/2006/main" noGrp="1"/>
          </p:cNvSpPr>
          <p:nvPr/>
        </p:nvSpPr>
        <p:spPr>
          <a:xfrm xmlns:a="http://schemas.openxmlformats.org/drawingml/2006/main">
            <a:off x="4400550" y="2828925"/>
            <a:ext cx="319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382E"/>
                </a:solidFill>
                <a:latin typeface="Arial"/>
                <a:ea typeface="Arial"/>
                <a:cs typeface="Arial"/>
              </a:defRPr>
            </a:pPr>
            <a:r>
              <a:rPr sz="2175" b="1">
                <a:solidFill>
                  <a:srgbClr val="16382E"/>
                </a:solidFill>
                <a:latin typeface="Arial"/>
                <a:ea typeface="Arial"/>
                <a:cs typeface="Arial"/>
              </a:rPr>
              <a:t>Sofortiger Nutzen</a:t>
            </a:r>
          </a:p>
        </p:txBody>
      </p:sp>
      <p:sp>
        <p:nvSpPr>
          <p:cNvPr id="9" name="">
            <a:extLst xmlns:a="http://schemas.openxmlformats.org/drawingml/2006/main">
              <a:ext uri="{FF2B5EF4-FFF2-40B4-BE49-F238E27FC236}">
                <a16:creationId xmlns:a16="http://schemas.microsoft.com/office/drawing/2014/main" id="{1D35F324-9093-4FF1-B3D9-5C0E208DC0A4}"/>
              </a:ext>
            </a:extLst>
          </p:cNvPr>
          <p:cNvSpPr>
            <a:spLocks xmlns:a="http://schemas.openxmlformats.org/drawingml/2006/main" noGrp="1"/>
          </p:cNvSpPr>
          <p:nvPr/>
        </p:nvSpPr>
        <p:spPr>
          <a:xfrm xmlns:a="http://schemas.openxmlformats.org/drawingml/2006/main">
            <a:off x="4400550" y="3714750"/>
            <a:ext cx="319087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6382E"/>
                </a:solidFill>
                <a:latin typeface="Arial"/>
                <a:ea typeface="Arial"/>
                <a:cs typeface="Arial"/>
              </a:defRPr>
            </a:pPr>
            <a:r>
              <a:rPr sz="1875" b="0">
                <a:solidFill>
                  <a:srgbClr val="16382E"/>
                </a:solidFill>
                <a:latin typeface="Arial"/>
                <a:ea typeface="Arial"/>
                <a:cs typeface="Arial"/>
              </a:rPr>
              <a:t>Wenige Angaben liefern eine erste grobe Einschätzung des Unternehmenswerts.</a:t>
            </a:r>
          </a:p>
        </p:txBody>
      </p:sp>
      <p:sp>
        <p:nvSpPr>
          <p:cNvPr id="10" name="">
            <a:extLst xmlns:a="http://schemas.openxmlformats.org/drawingml/2006/main">
              <a:ext uri="{FF2B5EF4-FFF2-40B4-BE49-F238E27FC236}">
                <a16:creationId xmlns:a16="http://schemas.microsoft.com/office/drawing/2014/main" id="{81DB5349-306D-4440-915B-18DD8B91637A}"/>
              </a:ext>
            </a:extLst>
          </p:cNvPr>
          <p:cNvSpPr>
            <a:spLocks xmlns:a="http://schemas.openxmlformats.org/drawingml/2006/main" noGrp="1"/>
          </p:cNvSpPr>
          <p:nvPr/>
        </p:nvSpPr>
        <p:spPr>
          <a:xfrm xmlns:a="http://schemas.openxmlformats.org/drawingml/2006/main">
            <a:off x="8115300" y="1971675"/>
            <a:ext cx="319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0">
                <a:solidFill>
                  <a:srgbClr val="536B60"/>
                </a:solidFill>
                <a:latin typeface="Arial"/>
                <a:ea typeface="Arial"/>
                <a:cs typeface="Arial"/>
              </a:defRPr>
            </a:pPr>
            <a:r>
              <a:rPr sz="3900" b="0">
                <a:solidFill>
                  <a:srgbClr val="536B60"/>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53EA1851-FEE4-4EAE-B27D-173272B2461D}"/>
              </a:ext>
            </a:extLst>
          </p:cNvPr>
          <p:cNvSpPr>
            <a:spLocks xmlns:a="http://schemas.openxmlformats.org/drawingml/2006/main" noGrp="1"/>
          </p:cNvSpPr>
          <p:nvPr/>
        </p:nvSpPr>
        <p:spPr>
          <a:xfrm xmlns:a="http://schemas.openxmlformats.org/drawingml/2006/main">
            <a:off x="8115300" y="2828925"/>
            <a:ext cx="319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382E"/>
                </a:solidFill>
                <a:latin typeface="Arial"/>
                <a:ea typeface="Arial"/>
                <a:cs typeface="Arial"/>
              </a:defRPr>
            </a:pPr>
            <a:r>
              <a:rPr sz="2175" b="1">
                <a:solidFill>
                  <a:srgbClr val="16382E"/>
                </a:solidFill>
                <a:latin typeface="Arial"/>
                <a:ea typeface="Arial"/>
                <a:cs typeface="Arial"/>
              </a:rPr>
              <a:t>Optionale Vermittlung</a:t>
            </a:r>
          </a:p>
        </p:txBody>
      </p:sp>
      <p:sp>
        <p:nvSpPr>
          <p:cNvPr id="12" name="">
            <a:extLst xmlns:a="http://schemas.openxmlformats.org/drawingml/2006/main">
              <a:ext uri="{FF2B5EF4-FFF2-40B4-BE49-F238E27FC236}">
                <a16:creationId xmlns:a16="http://schemas.microsoft.com/office/drawing/2014/main" id="{606A63A8-7AD1-4660-8D2C-605F96CF2386}"/>
              </a:ext>
            </a:extLst>
          </p:cNvPr>
          <p:cNvSpPr>
            <a:spLocks xmlns:a="http://schemas.openxmlformats.org/drawingml/2006/main" noGrp="1"/>
          </p:cNvSpPr>
          <p:nvPr/>
        </p:nvSpPr>
        <p:spPr>
          <a:xfrm xmlns:a="http://schemas.openxmlformats.org/drawingml/2006/main">
            <a:off x="8115300" y="3714750"/>
            <a:ext cx="319087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6382E"/>
                </a:solidFill>
                <a:latin typeface="Arial"/>
                <a:ea typeface="Arial"/>
                <a:cs typeface="Arial"/>
              </a:defRPr>
            </a:pPr>
            <a:r>
              <a:rPr sz="1875" b="0">
                <a:solidFill>
                  <a:srgbClr val="16382E"/>
                </a:solidFill>
                <a:latin typeface="Arial"/>
                <a:ea typeface="Arial"/>
                <a:cs typeface="Arial"/>
              </a:rPr>
              <a:t>Interessierte Unternehmen können ein Profil hinterlegen und passende Käufer kennenlernen.</a:t>
            </a:r>
          </a:p>
        </p:txBody>
      </p:sp>
    </p:spTree>
    <p:extLst>
      <p:ext uri="{BB962C8B-B14F-4D97-AF65-F5344CB8AC3E}">
        <p14:creationId xmlns:p14="http://schemas.microsoft.com/office/powerpoint/2010/main" val="952428501"/>
      </p:ext>
    </p:extLst>
  </p:cSld>
</p:sld>
</file>

<file path=ppt/slides/slide3.xml><?xml version="1.0" encoding="utf-8"?>
<p:sld xmlns:p="http://schemas.openxmlformats.org/presentationml/2006/main">
  <p:cSld>
    <p:bg>
      <p:bgPr>
        <a:solidFill xmlns:a="http://schemas.openxmlformats.org/drawingml/2006/main">
          <a:srgbClr val="F4F2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B9875BB-D425-47AD-9D09-5E773FD18D1E}"/>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6382E"/>
                </a:solidFill>
                <a:latin typeface="Arial"/>
                <a:ea typeface="Arial"/>
                <a:cs typeface="Arial"/>
              </a:defRPr>
            </a:pPr>
            <a:r>
              <a:rPr sz="3450" b="1">
                <a:solidFill>
                  <a:srgbClr val="16382E"/>
                </a:solidFill>
                <a:latin typeface="Arial"/>
                <a:ea typeface="Arial"/>
                <a:cs typeface="Arial"/>
              </a:rPr>
              <a:t>Der Weg durch das Tool</a:t>
            </a:r>
          </a:p>
        </p:txBody>
      </p:sp>
      <p:sp>
        <p:nvSpPr>
          <p:cNvPr id="2" name="">
            <a:extLst xmlns:a="http://schemas.openxmlformats.org/drawingml/2006/main">
              <a:ext uri="{FF2B5EF4-FFF2-40B4-BE49-F238E27FC236}">
                <a16:creationId xmlns:a16="http://schemas.microsoft.com/office/drawing/2014/main" id="{FA4304B0-6543-44EF-90EA-5461BA5AD83C}"/>
              </a:ext>
            </a:extLst>
          </p:cNvPr>
          <p:cNvSpPr>
            <a:spLocks xmlns:a="http://schemas.openxmlformats.org/drawingml/2006/main" noGrp="1"/>
          </p:cNvSpPr>
          <p:nvPr/>
        </p:nvSpPr>
        <p:spPr>
          <a:xfrm xmlns:a="http://schemas.openxmlformats.org/drawingml/2006/main">
            <a:off x="685800" y="6362700"/>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36B60"/>
                </a:solidFill>
                <a:latin typeface="Arial"/>
                <a:ea typeface="Arial"/>
                <a:cs typeface="Arial"/>
              </a:defRPr>
            </a:pPr>
            <a:r>
              <a:rPr sz="1200" b="1">
                <a:solidFill>
                  <a:srgbClr val="536B60"/>
                </a:solidFill>
                <a:latin typeface="Arial"/>
                <a:ea typeface="Arial"/>
                <a:cs typeface="Arial"/>
              </a:rPr>
              <a:t>MERGERO</a:t>
            </a:r>
          </a:p>
        </p:txBody>
      </p:sp>
      <p:sp>
        <p:nvSpPr>
          <p:cNvPr id="3" name="">
            <a:extLst xmlns:a="http://schemas.openxmlformats.org/drawingml/2006/main">
              <a:ext uri="{FF2B5EF4-FFF2-40B4-BE49-F238E27FC236}">
                <a16:creationId xmlns:a16="http://schemas.microsoft.com/office/drawing/2014/main" id="{F8C62405-F7D4-4546-80D2-F786FA83D36A}"/>
              </a:ext>
            </a:extLst>
          </p:cNvPr>
          <p:cNvSpPr>
            <a:spLocks xmlns:a="http://schemas.openxmlformats.org/drawingml/2006/main" noGrp="1"/>
          </p:cNvSpPr>
          <p:nvPr/>
        </p:nvSpPr>
        <p:spPr>
          <a:xfrm xmlns:a="http://schemas.openxmlformats.org/drawingml/2006/main">
            <a:off x="10953750"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B60"/>
                </a:solidFill>
                <a:latin typeface="Arial"/>
                <a:ea typeface="Arial"/>
                <a:cs typeface="Arial"/>
              </a:defRPr>
            </a:pPr>
            <a:r>
              <a:rPr sz="1350" b="0">
                <a:solidFill>
                  <a:srgbClr val="536B60"/>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30F066ED-2783-426C-9309-9DFC5C08DF69}"/>
              </a:ext>
            </a:extLst>
          </p:cNvPr>
          <p:cNvSpPr>
            <a:spLocks xmlns:a="http://schemas.openxmlformats.org/drawingml/2006/main" noGrp="1"/>
          </p:cNvSpPr>
          <p:nvPr/>
        </p:nvSpPr>
        <p:spPr>
          <a:xfrm xmlns:a="http://schemas.openxmlformats.org/drawingml/2006/main">
            <a:off x="685800" y="18288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536B60"/>
                </a:solidFill>
                <a:latin typeface="Arial"/>
                <a:ea typeface="Arial"/>
                <a:cs typeface="Arial"/>
              </a:defRPr>
            </a:pPr>
            <a:r>
              <a:rPr sz="2925" b="1">
                <a:solidFill>
                  <a:srgbClr val="536B60"/>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E132CC27-FB9E-4FAF-93F7-4EC37895018F}"/>
              </a:ext>
            </a:extLst>
          </p:cNvPr>
          <p:cNvSpPr>
            <a:spLocks xmlns:a="http://schemas.openxmlformats.org/drawingml/2006/main" noGrp="1"/>
          </p:cNvSpPr>
          <p:nvPr/>
        </p:nvSpPr>
        <p:spPr>
          <a:xfrm xmlns:a="http://schemas.openxmlformats.org/drawingml/2006/main">
            <a:off x="1524000" y="1828800"/>
            <a:ext cx="3857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382E"/>
                </a:solidFill>
                <a:latin typeface="Arial"/>
                <a:ea typeface="Arial"/>
                <a:cs typeface="Arial"/>
              </a:defRPr>
            </a:pPr>
            <a:r>
              <a:rPr sz="2175" b="1">
                <a:solidFill>
                  <a:srgbClr val="16382E"/>
                </a:solidFill>
                <a:latin typeface="Arial"/>
                <a:ea typeface="Arial"/>
                <a:cs typeface="Arial"/>
              </a:rPr>
              <a:t>Einladung öffnen</a:t>
            </a:r>
          </a:p>
        </p:txBody>
      </p:sp>
      <p:sp>
        <p:nvSpPr>
          <p:cNvPr id="6" name="">
            <a:extLst xmlns:a="http://schemas.openxmlformats.org/drawingml/2006/main">
              <a:ext uri="{FF2B5EF4-FFF2-40B4-BE49-F238E27FC236}">
                <a16:creationId xmlns:a16="http://schemas.microsoft.com/office/drawing/2014/main" id="{92F5DB80-D8F4-4B3F-90E5-AF340A84A79C}"/>
              </a:ext>
            </a:extLst>
          </p:cNvPr>
          <p:cNvSpPr>
            <a:spLocks xmlns:a="http://schemas.openxmlformats.org/drawingml/2006/main" noGrp="1"/>
          </p:cNvSpPr>
          <p:nvPr/>
        </p:nvSpPr>
        <p:spPr>
          <a:xfrm xmlns:a="http://schemas.openxmlformats.org/drawingml/2006/main">
            <a:off x="5667375" y="1828800"/>
            <a:ext cx="5810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6382E"/>
                </a:solidFill>
                <a:latin typeface="Arial"/>
                <a:ea typeface="Arial"/>
                <a:cs typeface="Arial"/>
              </a:defRPr>
            </a:pPr>
            <a:r>
              <a:rPr sz="1875" b="0">
                <a:solidFill>
                  <a:srgbClr val="16382E"/>
                </a:solidFill>
                <a:latin typeface="Arial"/>
                <a:ea typeface="Arial"/>
                <a:cs typeface="Arial"/>
              </a:rPr>
              <a:t>Kurzer Nutzenhinweis und direkter Link zum Check.</a:t>
            </a:r>
          </a:p>
        </p:txBody>
      </p:sp>
      <p:sp>
        <p:nvSpPr>
          <p:cNvPr id="7" name="">
            <a:extLst xmlns:a="http://schemas.openxmlformats.org/drawingml/2006/main">
              <a:ext uri="{FF2B5EF4-FFF2-40B4-BE49-F238E27FC236}">
                <a16:creationId xmlns:a16="http://schemas.microsoft.com/office/drawing/2014/main" id="{8750F2C5-90C0-4F8A-8716-E4895C323A22}"/>
              </a:ext>
            </a:extLst>
          </p:cNvPr>
          <p:cNvSpPr>
            <a:spLocks xmlns:a="http://schemas.openxmlformats.org/drawingml/2006/main" noGrp="1"/>
          </p:cNvSpPr>
          <p:nvPr/>
        </p:nvSpPr>
        <p:spPr>
          <a:xfrm xmlns:a="http://schemas.openxmlformats.org/drawingml/2006/main">
            <a:off x="685800" y="284797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536B60"/>
                </a:solidFill>
                <a:latin typeface="Arial"/>
                <a:ea typeface="Arial"/>
                <a:cs typeface="Arial"/>
              </a:defRPr>
            </a:pPr>
            <a:r>
              <a:rPr sz="2925" b="1">
                <a:solidFill>
                  <a:srgbClr val="536B60"/>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49F5100A-E2C9-4DCF-A9D2-8BFA2D3C3EB9}"/>
              </a:ext>
            </a:extLst>
          </p:cNvPr>
          <p:cNvSpPr>
            <a:spLocks xmlns:a="http://schemas.openxmlformats.org/drawingml/2006/main" noGrp="1"/>
          </p:cNvSpPr>
          <p:nvPr/>
        </p:nvSpPr>
        <p:spPr>
          <a:xfrm xmlns:a="http://schemas.openxmlformats.org/drawingml/2006/main">
            <a:off x="1524000" y="2847975"/>
            <a:ext cx="3857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382E"/>
                </a:solidFill>
                <a:latin typeface="Arial"/>
                <a:ea typeface="Arial"/>
                <a:cs typeface="Arial"/>
              </a:defRPr>
            </a:pPr>
            <a:r>
              <a:rPr sz="2175" b="1">
                <a:solidFill>
                  <a:srgbClr val="16382E"/>
                </a:solidFill>
                <a:latin typeface="Arial"/>
                <a:ea typeface="Arial"/>
                <a:cs typeface="Arial"/>
              </a:rPr>
              <a:t>Basisdaten eingeben</a:t>
            </a:r>
          </a:p>
        </p:txBody>
      </p:sp>
      <p:sp>
        <p:nvSpPr>
          <p:cNvPr id="9" name="">
            <a:extLst xmlns:a="http://schemas.openxmlformats.org/drawingml/2006/main">
              <a:ext uri="{FF2B5EF4-FFF2-40B4-BE49-F238E27FC236}">
                <a16:creationId xmlns:a16="http://schemas.microsoft.com/office/drawing/2014/main" id="{23168B6B-FA60-484F-A782-EFE77686E501}"/>
              </a:ext>
            </a:extLst>
          </p:cNvPr>
          <p:cNvSpPr>
            <a:spLocks xmlns:a="http://schemas.openxmlformats.org/drawingml/2006/main" noGrp="1"/>
          </p:cNvSpPr>
          <p:nvPr/>
        </p:nvSpPr>
        <p:spPr>
          <a:xfrm xmlns:a="http://schemas.openxmlformats.org/drawingml/2006/main">
            <a:off x="5667375" y="2847975"/>
            <a:ext cx="5810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6382E"/>
                </a:solidFill>
                <a:latin typeface="Arial"/>
                <a:ea typeface="Arial"/>
                <a:cs typeface="Arial"/>
              </a:defRPr>
            </a:pPr>
            <a:r>
              <a:rPr sz="1875" b="0">
                <a:solidFill>
                  <a:srgbClr val="16382E"/>
                </a:solidFill>
                <a:latin typeface="Arial"/>
                <a:ea typeface="Arial"/>
                <a:cs typeface="Arial"/>
              </a:rPr>
              <a:t>Zahlen angeben, die der Inhaber schnell zur Hand hat.</a:t>
            </a:r>
          </a:p>
        </p:txBody>
      </p:sp>
      <p:sp>
        <p:nvSpPr>
          <p:cNvPr id="10" name="">
            <a:extLst xmlns:a="http://schemas.openxmlformats.org/drawingml/2006/main">
              <a:ext uri="{FF2B5EF4-FFF2-40B4-BE49-F238E27FC236}">
                <a16:creationId xmlns:a16="http://schemas.microsoft.com/office/drawing/2014/main" id="{8AD376C9-2F93-4184-A690-001A5ACD7FC5}"/>
              </a:ext>
            </a:extLst>
          </p:cNvPr>
          <p:cNvSpPr>
            <a:spLocks xmlns:a="http://schemas.openxmlformats.org/drawingml/2006/main" noGrp="1"/>
          </p:cNvSpPr>
          <p:nvPr/>
        </p:nvSpPr>
        <p:spPr>
          <a:xfrm xmlns:a="http://schemas.openxmlformats.org/drawingml/2006/main">
            <a:off x="685800" y="386715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536B60"/>
                </a:solidFill>
                <a:latin typeface="Arial"/>
                <a:ea typeface="Arial"/>
                <a:cs typeface="Arial"/>
              </a:defRPr>
            </a:pPr>
            <a:r>
              <a:rPr sz="2925" b="1">
                <a:solidFill>
                  <a:srgbClr val="536B60"/>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7FA42AE4-E753-4149-9179-5969F2F954C8}"/>
              </a:ext>
            </a:extLst>
          </p:cNvPr>
          <p:cNvSpPr>
            <a:spLocks xmlns:a="http://schemas.openxmlformats.org/drawingml/2006/main" noGrp="1"/>
          </p:cNvSpPr>
          <p:nvPr/>
        </p:nvSpPr>
        <p:spPr>
          <a:xfrm xmlns:a="http://schemas.openxmlformats.org/drawingml/2006/main">
            <a:off x="1524000" y="3867150"/>
            <a:ext cx="3857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382E"/>
                </a:solidFill>
                <a:latin typeface="Arial"/>
                <a:ea typeface="Arial"/>
                <a:cs typeface="Arial"/>
              </a:defRPr>
            </a:pPr>
            <a:r>
              <a:rPr sz="2175" b="1">
                <a:solidFill>
                  <a:srgbClr val="16382E"/>
                </a:solidFill>
                <a:latin typeface="Arial"/>
                <a:ea typeface="Arial"/>
                <a:cs typeface="Arial"/>
              </a:rPr>
              <a:t>Einschätzung erhalten</a:t>
            </a:r>
          </a:p>
        </p:txBody>
      </p:sp>
      <p:sp>
        <p:nvSpPr>
          <p:cNvPr id="12" name="">
            <a:extLst xmlns:a="http://schemas.openxmlformats.org/drawingml/2006/main">
              <a:ext uri="{FF2B5EF4-FFF2-40B4-BE49-F238E27FC236}">
                <a16:creationId xmlns:a16="http://schemas.microsoft.com/office/drawing/2014/main" id="{51B87D3E-11F4-4DF8-830F-CA828D9317B9}"/>
              </a:ext>
            </a:extLst>
          </p:cNvPr>
          <p:cNvSpPr>
            <a:spLocks xmlns:a="http://schemas.openxmlformats.org/drawingml/2006/main" noGrp="1"/>
          </p:cNvSpPr>
          <p:nvPr/>
        </p:nvSpPr>
        <p:spPr>
          <a:xfrm xmlns:a="http://schemas.openxmlformats.org/drawingml/2006/main">
            <a:off x="5667375" y="3867150"/>
            <a:ext cx="5810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6382E"/>
                </a:solidFill>
                <a:latin typeface="Arial"/>
                <a:ea typeface="Arial"/>
                <a:cs typeface="Arial"/>
              </a:defRPr>
            </a:pPr>
            <a:r>
              <a:rPr sz="1875" b="0">
                <a:solidFill>
                  <a:srgbClr val="16382E"/>
                </a:solidFill>
                <a:latin typeface="Arial"/>
                <a:ea typeface="Arial"/>
                <a:cs typeface="Arial"/>
              </a:rPr>
              <a:t>Grobe Wertspanne mit Annahmen und offenen Fragen.</a:t>
            </a:r>
          </a:p>
        </p:txBody>
      </p:sp>
      <p:sp>
        <p:nvSpPr>
          <p:cNvPr id="13" name="">
            <a:extLst xmlns:a="http://schemas.openxmlformats.org/drawingml/2006/main">
              <a:ext uri="{FF2B5EF4-FFF2-40B4-BE49-F238E27FC236}">
                <a16:creationId xmlns:a16="http://schemas.microsoft.com/office/drawing/2014/main" id="{AA30A34E-805D-45CF-846E-9D1A541DCB67}"/>
              </a:ext>
            </a:extLst>
          </p:cNvPr>
          <p:cNvSpPr>
            <a:spLocks xmlns:a="http://schemas.openxmlformats.org/drawingml/2006/main" noGrp="1"/>
          </p:cNvSpPr>
          <p:nvPr/>
        </p:nvSpPr>
        <p:spPr>
          <a:xfrm xmlns:a="http://schemas.openxmlformats.org/drawingml/2006/main">
            <a:off x="685800" y="488632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536B60"/>
                </a:solidFill>
                <a:latin typeface="Arial"/>
                <a:ea typeface="Arial"/>
                <a:cs typeface="Arial"/>
              </a:defRPr>
            </a:pPr>
            <a:r>
              <a:rPr sz="2925" b="1">
                <a:solidFill>
                  <a:srgbClr val="536B60"/>
                </a:solidFill>
                <a:latin typeface="Arial"/>
                <a:ea typeface="Arial"/>
                <a:cs typeface="Arial"/>
              </a:rPr>
              <a:t>4</a:t>
            </a:r>
          </a:p>
        </p:txBody>
      </p:sp>
      <p:sp>
        <p:nvSpPr>
          <p:cNvPr id="14" name="">
            <a:extLst xmlns:a="http://schemas.openxmlformats.org/drawingml/2006/main">
              <a:ext uri="{FF2B5EF4-FFF2-40B4-BE49-F238E27FC236}">
                <a16:creationId xmlns:a16="http://schemas.microsoft.com/office/drawing/2014/main" id="{2A4BE777-7332-440C-908A-A01BBDE5DA5B}"/>
              </a:ext>
            </a:extLst>
          </p:cNvPr>
          <p:cNvSpPr>
            <a:spLocks xmlns:a="http://schemas.openxmlformats.org/drawingml/2006/main" noGrp="1"/>
          </p:cNvSpPr>
          <p:nvPr/>
        </p:nvSpPr>
        <p:spPr>
          <a:xfrm xmlns:a="http://schemas.openxmlformats.org/drawingml/2006/main">
            <a:off x="1524000" y="4886325"/>
            <a:ext cx="3857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382E"/>
                </a:solidFill>
                <a:latin typeface="Arial"/>
                <a:ea typeface="Arial"/>
                <a:cs typeface="Arial"/>
              </a:defRPr>
            </a:pPr>
            <a:r>
              <a:rPr sz="2175" b="1">
                <a:solidFill>
                  <a:srgbClr val="16382E"/>
                </a:solidFill>
                <a:latin typeface="Arial"/>
                <a:ea typeface="Arial"/>
                <a:cs typeface="Arial"/>
              </a:rPr>
              <a:t>Nächsten Schritt wählen</a:t>
            </a:r>
          </a:p>
        </p:txBody>
      </p:sp>
      <p:sp>
        <p:nvSpPr>
          <p:cNvPr id="15" name="">
            <a:extLst xmlns:a="http://schemas.openxmlformats.org/drawingml/2006/main">
              <a:ext uri="{FF2B5EF4-FFF2-40B4-BE49-F238E27FC236}">
                <a16:creationId xmlns:a16="http://schemas.microsoft.com/office/drawing/2014/main" id="{736F7A8A-7D01-4D58-9AB9-8B9DFD3D5778}"/>
              </a:ext>
            </a:extLst>
          </p:cNvPr>
          <p:cNvSpPr>
            <a:spLocks xmlns:a="http://schemas.openxmlformats.org/drawingml/2006/main" noGrp="1"/>
          </p:cNvSpPr>
          <p:nvPr/>
        </p:nvSpPr>
        <p:spPr>
          <a:xfrm xmlns:a="http://schemas.openxmlformats.org/drawingml/2006/main">
            <a:off x="5667375" y="4886325"/>
            <a:ext cx="5810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6382E"/>
                </a:solidFill>
                <a:latin typeface="Arial"/>
                <a:ea typeface="Arial"/>
                <a:cs typeface="Arial"/>
              </a:defRPr>
            </a:pPr>
            <a:r>
              <a:rPr sz="1875" b="0">
                <a:solidFill>
                  <a:srgbClr val="16382E"/>
                </a:solidFill>
                <a:latin typeface="Arial"/>
                <a:ea typeface="Arial"/>
                <a:cs typeface="Arial"/>
              </a:rPr>
              <a:t>Profil speichern, Gespräch anfragen oder Check beenden.</a:t>
            </a:r>
          </a:p>
        </p:txBody>
      </p:sp>
    </p:spTree>
    <p:extLst>
      <p:ext uri="{BB962C8B-B14F-4D97-AF65-F5344CB8AC3E}">
        <p14:creationId xmlns:p14="http://schemas.microsoft.com/office/powerpoint/2010/main" val="393428336"/>
      </p:ext>
    </p:extLst>
  </p:cSld>
</p:sld>
</file>

<file path=ppt/slides/slide4.xml><?xml version="1.0" encoding="utf-8"?>
<p:sld xmlns:p="http://schemas.openxmlformats.org/presentationml/2006/main">
  <p:cSld>
    <p:bg>
      <p:bgPr>
        <a:solidFill xmlns:a="http://schemas.openxmlformats.org/drawingml/2006/main">
          <a:srgbClr val="F4F2E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34BEA2B-4263-4149-AC33-4D556FE72950}"/>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6382E"/>
                </a:solidFill>
                <a:latin typeface="Arial"/>
                <a:ea typeface="Arial"/>
                <a:cs typeface="Arial"/>
              </a:defRPr>
            </a:pPr>
            <a:r>
              <a:rPr sz="3450" b="1">
                <a:solidFill>
                  <a:srgbClr val="16382E"/>
                </a:solidFill>
                <a:latin typeface="Arial"/>
                <a:ea typeface="Arial"/>
                <a:cs typeface="Arial"/>
              </a:rPr>
              <a:t>Wenige Angaben für die erste Schätzung</a:t>
            </a:r>
          </a:p>
        </p:txBody>
      </p:sp>
      <p:sp>
        <p:nvSpPr>
          <p:cNvPr id="2" name="">
            <a:extLst xmlns:a="http://schemas.openxmlformats.org/drawingml/2006/main">
              <a:ext uri="{FF2B5EF4-FFF2-40B4-BE49-F238E27FC236}">
                <a16:creationId xmlns:a16="http://schemas.microsoft.com/office/drawing/2014/main" id="{DC5E1A7B-F76E-4328-9C8F-52A2791A50CE}"/>
              </a:ext>
            </a:extLst>
          </p:cNvPr>
          <p:cNvSpPr>
            <a:spLocks xmlns:a="http://schemas.openxmlformats.org/drawingml/2006/main" noGrp="1"/>
          </p:cNvSpPr>
          <p:nvPr/>
        </p:nvSpPr>
        <p:spPr>
          <a:xfrm xmlns:a="http://schemas.openxmlformats.org/drawingml/2006/main">
            <a:off x="685800" y="6362700"/>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36B60"/>
                </a:solidFill>
                <a:latin typeface="Arial"/>
                <a:ea typeface="Arial"/>
                <a:cs typeface="Arial"/>
              </a:defRPr>
            </a:pPr>
            <a:r>
              <a:rPr sz="1200" b="1">
                <a:solidFill>
                  <a:srgbClr val="536B60"/>
                </a:solidFill>
                <a:latin typeface="Arial"/>
                <a:ea typeface="Arial"/>
                <a:cs typeface="Arial"/>
              </a:rPr>
              <a:t>MERGERO</a:t>
            </a:r>
          </a:p>
        </p:txBody>
      </p:sp>
      <p:sp>
        <p:nvSpPr>
          <p:cNvPr id="3" name="">
            <a:extLst xmlns:a="http://schemas.openxmlformats.org/drawingml/2006/main">
              <a:ext uri="{FF2B5EF4-FFF2-40B4-BE49-F238E27FC236}">
                <a16:creationId xmlns:a16="http://schemas.microsoft.com/office/drawing/2014/main" id="{8526182F-C963-4B6E-A7A4-0F41360A631F}"/>
              </a:ext>
            </a:extLst>
          </p:cNvPr>
          <p:cNvSpPr>
            <a:spLocks xmlns:a="http://schemas.openxmlformats.org/drawingml/2006/main" noGrp="1"/>
          </p:cNvSpPr>
          <p:nvPr/>
        </p:nvSpPr>
        <p:spPr>
          <a:xfrm xmlns:a="http://schemas.openxmlformats.org/drawingml/2006/main">
            <a:off x="10953750"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B60"/>
                </a:solidFill>
                <a:latin typeface="Arial"/>
                <a:ea typeface="Arial"/>
                <a:cs typeface="Arial"/>
              </a:defRPr>
            </a:pPr>
            <a:r>
              <a:rPr sz="1350" b="0">
                <a:solidFill>
                  <a:srgbClr val="536B60"/>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86A87D45-52A5-4432-A51D-F14D03E80AD8}"/>
              </a:ext>
            </a:extLst>
          </p:cNvPr>
          <p:cNvSpPr>
            <a:spLocks xmlns:a="http://schemas.openxmlformats.org/drawingml/2006/main" noGrp="1"/>
          </p:cNvSpPr>
          <p:nvPr/>
        </p:nvSpPr>
        <p:spPr>
          <a:xfrm xmlns:a="http://schemas.openxmlformats.org/drawingml/2006/main">
            <a:off x="685800" y="1971675"/>
            <a:ext cx="319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0">
                <a:solidFill>
                  <a:srgbClr val="536B60"/>
                </a:solidFill>
                <a:latin typeface="Arial"/>
                <a:ea typeface="Arial"/>
                <a:cs typeface="Arial"/>
              </a:defRPr>
            </a:pPr>
            <a:r>
              <a:rPr sz="3900" b="0">
                <a:solidFill>
                  <a:srgbClr val="536B60"/>
                </a:solidFill>
                <a:latin typeface="Arial"/>
                <a:ea typeface="Arial"/>
                <a:cs typeface="Arial"/>
              </a:rPr>
              <a:t>€</a:t>
            </a:r>
          </a:p>
        </p:txBody>
      </p:sp>
      <p:sp>
        <p:nvSpPr>
          <p:cNvPr id="5" name="">
            <a:extLst xmlns:a="http://schemas.openxmlformats.org/drawingml/2006/main">
              <a:ext uri="{FF2B5EF4-FFF2-40B4-BE49-F238E27FC236}">
                <a16:creationId xmlns:a16="http://schemas.microsoft.com/office/drawing/2014/main" id="{D44B8FFF-9439-409D-84AE-B78B0612C237}"/>
              </a:ext>
            </a:extLst>
          </p:cNvPr>
          <p:cNvSpPr>
            <a:spLocks xmlns:a="http://schemas.openxmlformats.org/drawingml/2006/main" noGrp="1"/>
          </p:cNvSpPr>
          <p:nvPr/>
        </p:nvSpPr>
        <p:spPr>
          <a:xfrm xmlns:a="http://schemas.openxmlformats.org/drawingml/2006/main">
            <a:off x="685800" y="2828925"/>
            <a:ext cx="319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382E"/>
                </a:solidFill>
                <a:latin typeface="Arial"/>
                <a:ea typeface="Arial"/>
                <a:cs typeface="Arial"/>
              </a:defRPr>
            </a:pPr>
            <a:r>
              <a:rPr sz="2175" b="1">
                <a:solidFill>
                  <a:srgbClr val="16382E"/>
                </a:solidFill>
                <a:latin typeface="Arial"/>
                <a:ea typeface="Arial"/>
                <a:cs typeface="Arial"/>
              </a:rPr>
              <a:t>Umsatz</a:t>
            </a:r>
          </a:p>
        </p:txBody>
      </p:sp>
      <p:sp>
        <p:nvSpPr>
          <p:cNvPr id="6" name="">
            <a:extLst xmlns:a="http://schemas.openxmlformats.org/drawingml/2006/main">
              <a:ext uri="{FF2B5EF4-FFF2-40B4-BE49-F238E27FC236}">
                <a16:creationId xmlns:a16="http://schemas.microsoft.com/office/drawing/2014/main" id="{D02D170D-15FD-4DDB-805E-DC86477B18EA}"/>
              </a:ext>
            </a:extLst>
          </p:cNvPr>
          <p:cNvSpPr>
            <a:spLocks xmlns:a="http://schemas.openxmlformats.org/drawingml/2006/main" noGrp="1"/>
          </p:cNvSpPr>
          <p:nvPr/>
        </p:nvSpPr>
        <p:spPr>
          <a:xfrm xmlns:a="http://schemas.openxmlformats.org/drawingml/2006/main">
            <a:off x="685800" y="3714750"/>
            <a:ext cx="319087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6382E"/>
                </a:solidFill>
                <a:latin typeface="Arial"/>
                <a:ea typeface="Arial"/>
                <a:cs typeface="Arial"/>
              </a:defRPr>
            </a:pPr>
            <a:r>
              <a:rPr sz="1875" b="0">
                <a:solidFill>
                  <a:srgbClr val="16382E"/>
                </a:solidFill>
                <a:latin typeface="Arial"/>
                <a:ea typeface="Arial"/>
                <a:cs typeface="Arial"/>
              </a:rPr>
              <a:t>Umsatz des letzten abgeschlossenen Geschäftsjahres. Zeitraum und Währung angeben.</a:t>
            </a:r>
          </a:p>
        </p:txBody>
      </p:sp>
      <p:sp>
        <p:nvSpPr>
          <p:cNvPr id="7" name="">
            <a:extLst xmlns:a="http://schemas.openxmlformats.org/drawingml/2006/main">
              <a:ext uri="{FF2B5EF4-FFF2-40B4-BE49-F238E27FC236}">
                <a16:creationId xmlns:a16="http://schemas.microsoft.com/office/drawing/2014/main" id="{6D172439-A03F-49F7-B2BC-B94F45963A53}"/>
              </a:ext>
            </a:extLst>
          </p:cNvPr>
          <p:cNvSpPr>
            <a:spLocks xmlns:a="http://schemas.openxmlformats.org/drawingml/2006/main" noGrp="1"/>
          </p:cNvSpPr>
          <p:nvPr/>
        </p:nvSpPr>
        <p:spPr>
          <a:xfrm xmlns:a="http://schemas.openxmlformats.org/drawingml/2006/main">
            <a:off x="4400550" y="1971675"/>
            <a:ext cx="319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0">
                <a:solidFill>
                  <a:srgbClr val="536B60"/>
                </a:solidFill>
                <a:latin typeface="Arial"/>
                <a:ea typeface="Arial"/>
                <a:cs typeface="Arial"/>
              </a:defRPr>
            </a:pPr>
            <a:r>
              <a:rPr sz="3900" b="0">
                <a:solidFill>
                  <a:srgbClr val="536B60"/>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9F683D84-6315-4E12-AA68-C8FEA04E648C}"/>
              </a:ext>
            </a:extLst>
          </p:cNvPr>
          <p:cNvSpPr>
            <a:spLocks xmlns:a="http://schemas.openxmlformats.org/drawingml/2006/main" noGrp="1"/>
          </p:cNvSpPr>
          <p:nvPr/>
        </p:nvSpPr>
        <p:spPr>
          <a:xfrm xmlns:a="http://schemas.openxmlformats.org/drawingml/2006/main">
            <a:off x="4400550" y="2828925"/>
            <a:ext cx="319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382E"/>
                </a:solidFill>
                <a:latin typeface="Arial"/>
                <a:ea typeface="Arial"/>
                <a:cs typeface="Arial"/>
              </a:defRPr>
            </a:pPr>
            <a:r>
              <a:rPr sz="2175" b="1">
                <a:solidFill>
                  <a:srgbClr val="16382E"/>
                </a:solidFill>
                <a:latin typeface="Arial"/>
                <a:ea typeface="Arial"/>
                <a:cs typeface="Arial"/>
              </a:rPr>
              <a:t>Gewinn</a:t>
            </a:r>
          </a:p>
        </p:txBody>
      </p:sp>
      <p:sp>
        <p:nvSpPr>
          <p:cNvPr id="9" name="">
            <a:extLst xmlns:a="http://schemas.openxmlformats.org/drawingml/2006/main">
              <a:ext uri="{FF2B5EF4-FFF2-40B4-BE49-F238E27FC236}">
                <a16:creationId xmlns:a16="http://schemas.microsoft.com/office/drawing/2014/main" id="{29B11EEF-5EDF-44B9-874D-EFFB5103C6DA}"/>
              </a:ext>
            </a:extLst>
          </p:cNvPr>
          <p:cNvSpPr>
            <a:spLocks xmlns:a="http://schemas.openxmlformats.org/drawingml/2006/main" noGrp="1"/>
          </p:cNvSpPr>
          <p:nvPr/>
        </p:nvSpPr>
        <p:spPr>
          <a:xfrm xmlns:a="http://schemas.openxmlformats.org/drawingml/2006/main">
            <a:off x="4400550" y="3714750"/>
            <a:ext cx="319087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6382E"/>
                </a:solidFill>
                <a:latin typeface="Arial"/>
                <a:ea typeface="Arial"/>
                <a:cs typeface="Arial"/>
              </a:defRPr>
            </a:pPr>
            <a:r>
              <a:rPr sz="1875" b="0">
                <a:solidFill>
                  <a:srgbClr val="16382E"/>
                </a:solidFill>
                <a:latin typeface="Arial"/>
                <a:ea typeface="Arial"/>
                <a:cs typeface="Arial"/>
              </a:rPr>
              <a:t>Gewinn für denselben Zeitraum. Die verwendete Gewinngröße klar benennen.</a:t>
            </a:r>
          </a:p>
        </p:txBody>
      </p:sp>
      <p:sp>
        <p:nvSpPr>
          <p:cNvPr id="10" name="">
            <a:extLst xmlns:a="http://schemas.openxmlformats.org/drawingml/2006/main">
              <a:ext uri="{FF2B5EF4-FFF2-40B4-BE49-F238E27FC236}">
                <a16:creationId xmlns:a16="http://schemas.microsoft.com/office/drawing/2014/main" id="{2E72EF2D-855E-4083-A1E7-398FA5089CE7}"/>
              </a:ext>
            </a:extLst>
          </p:cNvPr>
          <p:cNvSpPr>
            <a:spLocks xmlns:a="http://schemas.openxmlformats.org/drawingml/2006/main" noGrp="1"/>
          </p:cNvSpPr>
          <p:nvPr/>
        </p:nvSpPr>
        <p:spPr>
          <a:xfrm xmlns:a="http://schemas.openxmlformats.org/drawingml/2006/main">
            <a:off x="8115300" y="1971675"/>
            <a:ext cx="319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0">
                <a:solidFill>
                  <a:srgbClr val="536B60"/>
                </a:solidFill>
                <a:latin typeface="Arial"/>
                <a:ea typeface="Arial"/>
                <a:cs typeface="Arial"/>
              </a:defRPr>
            </a:pPr>
            <a:r>
              <a:rPr sz="3900" b="0">
                <a:solidFill>
                  <a:srgbClr val="536B60"/>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4A6F1DFB-B380-4EF6-B70A-B6AFF20BCE61}"/>
              </a:ext>
            </a:extLst>
          </p:cNvPr>
          <p:cNvSpPr>
            <a:spLocks xmlns:a="http://schemas.openxmlformats.org/drawingml/2006/main" noGrp="1"/>
          </p:cNvSpPr>
          <p:nvPr/>
        </p:nvSpPr>
        <p:spPr>
          <a:xfrm xmlns:a="http://schemas.openxmlformats.org/drawingml/2006/main">
            <a:off x="8115300" y="2828925"/>
            <a:ext cx="319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382E"/>
                </a:solidFill>
                <a:latin typeface="Arial"/>
                <a:ea typeface="Arial"/>
                <a:cs typeface="Arial"/>
              </a:defRPr>
            </a:pPr>
            <a:r>
              <a:rPr sz="2175" b="1">
                <a:solidFill>
                  <a:srgbClr val="16382E"/>
                </a:solidFill>
                <a:latin typeface="Arial"/>
                <a:ea typeface="Arial"/>
                <a:cs typeface="Arial"/>
              </a:rPr>
              <a:t>Beschäftigte</a:t>
            </a:r>
          </a:p>
        </p:txBody>
      </p:sp>
      <p:sp>
        <p:nvSpPr>
          <p:cNvPr id="12" name="">
            <a:extLst xmlns:a="http://schemas.openxmlformats.org/drawingml/2006/main">
              <a:ext uri="{FF2B5EF4-FFF2-40B4-BE49-F238E27FC236}">
                <a16:creationId xmlns:a16="http://schemas.microsoft.com/office/drawing/2014/main" id="{97A8961C-3AAE-4B22-9A75-B9FA05282AE8}"/>
              </a:ext>
            </a:extLst>
          </p:cNvPr>
          <p:cNvSpPr>
            <a:spLocks xmlns:a="http://schemas.openxmlformats.org/drawingml/2006/main" noGrp="1"/>
          </p:cNvSpPr>
          <p:nvPr/>
        </p:nvSpPr>
        <p:spPr>
          <a:xfrm xmlns:a="http://schemas.openxmlformats.org/drawingml/2006/main">
            <a:off x="8115300" y="3714750"/>
            <a:ext cx="319087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6382E"/>
                </a:solidFill>
                <a:latin typeface="Arial"/>
                <a:ea typeface="Arial"/>
                <a:cs typeface="Arial"/>
              </a:defRPr>
            </a:pPr>
            <a:r>
              <a:rPr sz="1875" b="0">
                <a:solidFill>
                  <a:srgbClr val="16382E"/>
                </a:solidFill>
                <a:latin typeface="Arial"/>
                <a:ea typeface="Arial"/>
                <a:cs typeface="Arial"/>
              </a:rPr>
              <a:t>Aktuelle Beschäftigtenzahl. Eine einfache Zahl genügt für den Einstieg.</a:t>
            </a:r>
          </a:p>
        </p:txBody>
      </p:sp>
      <p:sp>
        <p:nvSpPr>
          <p:cNvPr id="13" name="">
            <a:extLst xmlns:a="http://schemas.openxmlformats.org/drawingml/2006/main">
              <a:ext uri="{FF2B5EF4-FFF2-40B4-BE49-F238E27FC236}">
                <a16:creationId xmlns:a16="http://schemas.microsoft.com/office/drawing/2014/main" id="{D2E79AAC-26A7-48C9-9F58-3664126BDDEB}"/>
              </a:ext>
            </a:extLst>
          </p:cNvPr>
          <p:cNvSpPr>
            <a:spLocks xmlns:a="http://schemas.openxmlformats.org/drawingml/2006/main" noGrp="1"/>
          </p:cNvSpPr>
          <p:nvPr/>
        </p:nvSpPr>
        <p:spPr>
          <a:xfrm xmlns:a="http://schemas.openxmlformats.org/drawingml/2006/main">
            <a:off x="685800" y="57150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B60"/>
                </a:solidFill>
                <a:latin typeface="Arial"/>
                <a:ea typeface="Arial"/>
                <a:cs typeface="Arial"/>
              </a:defRPr>
            </a:pPr>
            <a:r>
              <a:rPr sz="1725" b="0">
                <a:solidFill>
                  <a:srgbClr val="536B60"/>
                </a:solidFill>
                <a:latin typeface="Arial"/>
                <a:ea typeface="Arial"/>
                <a:cs typeface="Arial"/>
              </a:rPr>
              <a:t>Ergänzungsvorschlag: Branche und Standort als kurze Auswahlfelder.</a:t>
            </a:r>
          </a:p>
        </p:txBody>
      </p:sp>
    </p:spTree>
    <p:extLst>
      <p:ext uri="{BB962C8B-B14F-4D97-AF65-F5344CB8AC3E}">
        <p14:creationId xmlns:p14="http://schemas.microsoft.com/office/powerpoint/2010/main" val="1570903523"/>
      </p:ext>
    </p:extLst>
  </p:cSld>
</p:sld>
</file>

<file path=ppt/slides/slide5.xml><?xml version="1.0" encoding="utf-8"?>
<p:sld xmlns:p="http://schemas.openxmlformats.org/presentationml/2006/main">
  <p:cSld>
    <p:bg>
      <p:bgPr>
        <a:solidFill xmlns:a="http://schemas.openxmlformats.org/drawingml/2006/main">
          <a:srgbClr val="102F2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FBB16DC-5CE0-453A-98C5-9300DEE0232A}"/>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4F2EA"/>
                </a:solidFill>
                <a:latin typeface="Arial"/>
                <a:ea typeface="Arial"/>
                <a:cs typeface="Arial"/>
              </a:defRPr>
            </a:pPr>
            <a:r>
              <a:rPr sz="3450" b="1">
                <a:solidFill>
                  <a:srgbClr val="F4F2EA"/>
                </a:solidFill>
                <a:latin typeface="Arial"/>
                <a:ea typeface="Arial"/>
                <a:cs typeface="Arial"/>
              </a:rPr>
              <a:t>Das Ergebnis: eine grobe Wertspanne</a:t>
            </a:r>
          </a:p>
        </p:txBody>
      </p:sp>
      <p:sp>
        <p:nvSpPr>
          <p:cNvPr id="2" name="">
            <a:extLst xmlns:a="http://schemas.openxmlformats.org/drawingml/2006/main">
              <a:ext uri="{FF2B5EF4-FFF2-40B4-BE49-F238E27FC236}">
                <a16:creationId xmlns:a16="http://schemas.microsoft.com/office/drawing/2014/main" id="{AE2A774A-BE89-4CCF-AB38-E0C0B06AE828}"/>
              </a:ext>
            </a:extLst>
          </p:cNvPr>
          <p:cNvSpPr>
            <a:spLocks xmlns:a="http://schemas.openxmlformats.org/drawingml/2006/main" noGrp="1"/>
          </p:cNvSpPr>
          <p:nvPr/>
        </p:nvSpPr>
        <p:spPr>
          <a:xfrm xmlns:a="http://schemas.openxmlformats.org/drawingml/2006/main">
            <a:off x="685800" y="6362700"/>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B9DEC7"/>
                </a:solidFill>
                <a:latin typeface="Arial"/>
                <a:ea typeface="Arial"/>
                <a:cs typeface="Arial"/>
              </a:defRPr>
            </a:pPr>
            <a:r>
              <a:rPr sz="1200" b="1">
                <a:solidFill>
                  <a:srgbClr val="B9DEC7"/>
                </a:solidFill>
                <a:latin typeface="Arial"/>
                <a:ea typeface="Arial"/>
                <a:cs typeface="Arial"/>
              </a:rPr>
              <a:t>MERGERO</a:t>
            </a:r>
          </a:p>
        </p:txBody>
      </p:sp>
      <p:sp>
        <p:nvSpPr>
          <p:cNvPr id="3" name="">
            <a:extLst xmlns:a="http://schemas.openxmlformats.org/drawingml/2006/main">
              <a:ext uri="{FF2B5EF4-FFF2-40B4-BE49-F238E27FC236}">
                <a16:creationId xmlns:a16="http://schemas.microsoft.com/office/drawing/2014/main" id="{2A341BE8-F1A1-4620-9E90-01265BF286C1}"/>
              </a:ext>
            </a:extLst>
          </p:cNvPr>
          <p:cNvSpPr>
            <a:spLocks xmlns:a="http://schemas.openxmlformats.org/drawingml/2006/main" noGrp="1"/>
          </p:cNvSpPr>
          <p:nvPr/>
        </p:nvSpPr>
        <p:spPr>
          <a:xfrm xmlns:a="http://schemas.openxmlformats.org/drawingml/2006/main">
            <a:off x="10953750"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DEC7"/>
                </a:solidFill>
                <a:latin typeface="Arial"/>
                <a:ea typeface="Arial"/>
                <a:cs typeface="Arial"/>
              </a:defRPr>
            </a:pPr>
            <a:r>
              <a:rPr sz="1350" b="0">
                <a:solidFill>
                  <a:srgbClr val="B9DEC7"/>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C81BDDFE-62A9-444D-AC03-2525DD459AA3}"/>
              </a:ext>
            </a:extLst>
          </p:cNvPr>
          <p:cNvSpPr>
            <a:spLocks xmlns:a="http://schemas.openxmlformats.org/drawingml/2006/main" noGrp="1"/>
          </p:cNvSpPr>
          <p:nvPr/>
        </p:nvSpPr>
        <p:spPr>
          <a:xfrm xmlns:a="http://schemas.openxmlformats.org/drawingml/2006/main">
            <a:off x="685800" y="2000250"/>
            <a:ext cx="6096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B9DEC7"/>
                </a:solidFill>
                <a:latin typeface="Arial"/>
                <a:ea typeface="Arial"/>
                <a:cs typeface="Arial"/>
              </a:defRPr>
            </a:pPr>
            <a:r>
              <a:rPr sz="3600" b="1">
                <a:solidFill>
                  <a:srgbClr val="B9DEC7"/>
                </a:solidFill>
                <a:latin typeface="Arial"/>
                <a:ea typeface="Arial"/>
                <a:cs typeface="Arial"/>
              </a:rPr>
              <a:t>Erste Orientierung</a:t>
            </a:r>
          </a:p>
        </p:txBody>
      </p:sp>
      <p:sp>
        <p:nvSpPr>
          <p:cNvPr id="5" name="">
            <a:extLst xmlns:a="http://schemas.openxmlformats.org/drawingml/2006/main">
              <a:ext uri="{FF2B5EF4-FFF2-40B4-BE49-F238E27FC236}">
                <a16:creationId xmlns:a16="http://schemas.microsoft.com/office/drawing/2014/main" id="{FA184C8C-EE0F-4096-A1F2-3FF5A0476914}"/>
              </a:ext>
            </a:extLst>
          </p:cNvPr>
          <p:cNvSpPr>
            <a:spLocks xmlns:a="http://schemas.openxmlformats.org/drawingml/2006/main" noGrp="1"/>
          </p:cNvSpPr>
          <p:nvPr/>
        </p:nvSpPr>
        <p:spPr>
          <a:xfrm xmlns:a="http://schemas.openxmlformats.org/drawingml/2006/main">
            <a:off x="685800" y="3000375"/>
            <a:ext cx="5810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4F2EA"/>
                </a:solidFill>
                <a:latin typeface="Arial"/>
                <a:ea typeface="Arial"/>
                <a:cs typeface="Arial"/>
              </a:defRPr>
            </a:pPr>
            <a:r>
              <a:rPr sz="2325" b="0">
                <a:solidFill>
                  <a:srgbClr val="F4F2EA"/>
                </a:solidFill>
                <a:latin typeface="Arial"/>
                <a:ea typeface="Arial"/>
                <a:cs typeface="Arial"/>
              </a:rPr>
              <a:t>Die Engine nutzt die Basisdaten für</a:t>
            </a:r>
          </a:p>
          <a:p xmlns:a="http://schemas.openxmlformats.org/drawingml/2006/main">
            <a:pPr>
              <a:defRPr sz="2325" b="0">
                <a:solidFill>
                  <a:srgbClr val="F4F2EA"/>
                </a:solidFill>
                <a:latin typeface="Arial"/>
                <a:ea typeface="Arial"/>
                <a:cs typeface="Arial"/>
              </a:defRPr>
            </a:pPr>
            <a:r>
              <a:rPr sz="2325" b="0">
                <a:solidFill>
                  <a:srgbClr val="F4F2EA"/>
                </a:solidFill>
                <a:latin typeface="Arial"/>
                <a:ea typeface="Arial"/>
                <a:cs typeface="Arial"/>
              </a:rPr>
              <a:t>einen vorläufigen Schätzwert.</a:t>
            </a:r>
          </a:p>
        </p:txBody>
      </p:sp>
      <p:sp>
        <p:nvSpPr>
          <p:cNvPr id="6" name="">
            <a:extLst xmlns:a="http://schemas.openxmlformats.org/drawingml/2006/main">
              <a:ext uri="{FF2B5EF4-FFF2-40B4-BE49-F238E27FC236}">
                <a16:creationId xmlns:a16="http://schemas.microsoft.com/office/drawing/2014/main" id="{E103C53B-D181-4C98-A7BD-CDFDC3A76BC4}"/>
              </a:ext>
            </a:extLst>
          </p:cNvPr>
          <p:cNvSpPr>
            <a:spLocks xmlns:a="http://schemas.openxmlformats.org/drawingml/2006/main" noGrp="1"/>
          </p:cNvSpPr>
          <p:nvPr/>
        </p:nvSpPr>
        <p:spPr>
          <a:xfrm xmlns:a="http://schemas.openxmlformats.org/drawingml/2006/main">
            <a:off x="685800" y="4552950"/>
            <a:ext cx="6000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4F2EA"/>
                </a:solidFill>
                <a:latin typeface="Arial"/>
                <a:ea typeface="Arial"/>
                <a:cs typeface="Arial"/>
              </a:defRPr>
            </a:pPr>
            <a:r>
              <a:rPr sz="2025" b="0">
                <a:solidFill>
                  <a:srgbClr val="F4F2EA"/>
                </a:solidFill>
                <a:latin typeface="Arial"/>
                <a:ea typeface="Arial"/>
                <a:cs typeface="Arial"/>
              </a:rPr>
              <a:t>Bei Interesse fragt Mergero gezielt nach</a:t>
            </a:r>
          </a:p>
          <a:p xmlns:a="http://schemas.openxmlformats.org/drawingml/2006/main">
            <a:pPr>
              <a:defRPr sz="2025" b="0">
                <a:solidFill>
                  <a:srgbClr val="F4F2EA"/>
                </a:solidFill>
                <a:latin typeface="Arial"/>
                <a:ea typeface="Arial"/>
                <a:cs typeface="Arial"/>
              </a:defRPr>
            </a:pPr>
            <a:r>
              <a:rPr sz="2025" b="0">
                <a:solidFill>
                  <a:srgbClr val="F4F2EA"/>
                </a:solidFill>
                <a:latin typeface="Arial"/>
                <a:ea typeface="Arial"/>
                <a:cs typeface="Arial"/>
              </a:rPr>
              <a:t>und präzisiert das Unternehmensprofil.</a:t>
            </a:r>
          </a:p>
        </p:txBody>
      </p:sp>
      <p:sp>
        <p:nvSpPr>
          <p:cNvPr id="7" name="">
            <a:extLst xmlns:a="http://schemas.openxmlformats.org/drawingml/2006/main">
              <a:ext uri="{FF2B5EF4-FFF2-40B4-BE49-F238E27FC236}">
                <a16:creationId xmlns:a16="http://schemas.microsoft.com/office/drawing/2014/main" id="{20724D13-5613-4D1B-9C93-3150438F1DFE}"/>
              </a:ext>
            </a:extLst>
          </p:cNvPr>
          <p:cNvSpPr>
            <a:spLocks xmlns:a="http://schemas.openxmlformats.org/drawingml/2006/main" noGrp="1"/>
          </p:cNvSpPr>
          <p:nvPr/>
        </p:nvSpPr>
        <p:spPr>
          <a:xfrm xmlns:a="http://schemas.openxmlformats.org/drawingml/2006/main">
            <a:off x="7858125" y="2076450"/>
            <a:ext cx="3571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B9DEC7"/>
                </a:solidFill>
                <a:latin typeface="Arial"/>
                <a:ea typeface="Arial"/>
                <a:cs typeface="Arial"/>
              </a:defRPr>
            </a:pPr>
            <a:r>
              <a:rPr sz="2100" b="1">
                <a:solidFill>
                  <a:srgbClr val="B9DEC7"/>
                </a:solidFill>
                <a:latin typeface="Arial"/>
                <a:ea typeface="Arial"/>
                <a:cs typeface="Arial"/>
              </a:rPr>
              <a:t>Im Ergebnis sichtbar</a:t>
            </a:r>
          </a:p>
        </p:txBody>
      </p:sp>
      <p:sp>
        <p:nvSpPr>
          <p:cNvPr id="8" name="">
            <a:extLst xmlns:a="http://schemas.openxmlformats.org/drawingml/2006/main">
              <a:ext uri="{FF2B5EF4-FFF2-40B4-BE49-F238E27FC236}">
                <a16:creationId xmlns:a16="http://schemas.microsoft.com/office/drawing/2014/main" id="{7EB54DC8-78BF-4937-AF77-CE918F91714E}"/>
              </a:ext>
            </a:extLst>
          </p:cNvPr>
          <p:cNvSpPr>
            <a:spLocks xmlns:a="http://schemas.openxmlformats.org/drawingml/2006/main" noGrp="1"/>
          </p:cNvSpPr>
          <p:nvPr/>
        </p:nvSpPr>
        <p:spPr>
          <a:xfrm xmlns:a="http://schemas.openxmlformats.org/drawingml/2006/main">
            <a:off x="7858125" y="2886075"/>
            <a:ext cx="3714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4F2EA"/>
                </a:solidFill>
                <a:latin typeface="Arial"/>
                <a:ea typeface="Arial"/>
                <a:cs typeface="Arial"/>
              </a:defRPr>
            </a:pPr>
            <a:r>
              <a:rPr sz="1875" b="0">
                <a:solidFill>
                  <a:srgbClr val="F4F2EA"/>
                </a:solidFill>
                <a:latin typeface="Arial"/>
                <a:ea typeface="Arial"/>
                <a:cs typeface="Arial"/>
              </a:rPr>
              <a:t>Wertspanne</a:t>
            </a:r>
          </a:p>
          <a:p xmlns:a="http://schemas.openxmlformats.org/drawingml/2006/main">
            <a:r>
              <a:t/>
            </a:r>
          </a:p>
          <a:p xmlns:a="http://schemas.openxmlformats.org/drawingml/2006/main">
            <a:pPr>
              <a:defRPr sz="1875" b="0">
                <a:solidFill>
                  <a:srgbClr val="F4F2EA"/>
                </a:solidFill>
                <a:latin typeface="Arial"/>
                <a:ea typeface="Arial"/>
                <a:cs typeface="Arial"/>
              </a:defRPr>
            </a:pPr>
            <a:r>
              <a:rPr sz="1875" b="0">
                <a:solidFill>
                  <a:srgbClr val="F4F2EA"/>
                </a:solidFill>
                <a:latin typeface="Arial"/>
                <a:ea typeface="Arial"/>
                <a:cs typeface="Arial"/>
              </a:rPr>
              <a:t>Verwendete Angaben</a:t>
            </a:r>
          </a:p>
          <a:p xmlns:a="http://schemas.openxmlformats.org/drawingml/2006/main">
            <a:r>
              <a:t/>
            </a:r>
          </a:p>
          <a:p xmlns:a="http://schemas.openxmlformats.org/drawingml/2006/main">
            <a:pPr>
              <a:defRPr sz="1875" b="0">
                <a:solidFill>
                  <a:srgbClr val="F4F2EA"/>
                </a:solidFill>
                <a:latin typeface="Arial"/>
                <a:ea typeface="Arial"/>
                <a:cs typeface="Arial"/>
              </a:defRPr>
            </a:pPr>
            <a:r>
              <a:rPr sz="1875" b="0">
                <a:solidFill>
                  <a:srgbClr val="F4F2EA"/>
                </a:solidFill>
                <a:latin typeface="Arial"/>
                <a:ea typeface="Arial"/>
                <a:cs typeface="Arial"/>
              </a:rPr>
              <a:t>Annahmen und Grenzen</a:t>
            </a:r>
          </a:p>
          <a:p xmlns:a="http://schemas.openxmlformats.org/drawingml/2006/main">
            <a:r>
              <a:t/>
            </a:r>
          </a:p>
          <a:p xmlns:a="http://schemas.openxmlformats.org/drawingml/2006/main">
            <a:pPr>
              <a:defRPr sz="1875" b="0">
                <a:solidFill>
                  <a:srgbClr val="F4F2EA"/>
                </a:solidFill>
                <a:latin typeface="Arial"/>
                <a:ea typeface="Arial"/>
                <a:cs typeface="Arial"/>
              </a:defRPr>
            </a:pPr>
            <a:r>
              <a:rPr sz="1875" b="0">
                <a:solidFill>
                  <a:srgbClr val="F4F2EA"/>
                </a:solidFill>
                <a:latin typeface="Arial"/>
                <a:ea typeface="Arial"/>
                <a:cs typeface="Arial"/>
              </a:rPr>
              <a:t>Mögliche nächste Schritte</a:t>
            </a:r>
          </a:p>
        </p:txBody>
      </p:sp>
    </p:spTree>
    <p:extLst>
      <p:ext uri="{BB962C8B-B14F-4D97-AF65-F5344CB8AC3E}">
        <p14:creationId xmlns:p14="http://schemas.microsoft.com/office/powerpoint/2010/main" val="699746246"/>
      </p:ext>
    </p:extLst>
  </p:cSld>
</p:sld>
</file>

<file path=ppt/slides/slide6.xml><?xml version="1.0" encoding="utf-8"?>
<p:sld xmlns:p="http://schemas.openxmlformats.org/presentationml/2006/main">
  <p:cSld>
    <p:bg>
      <p:bgPr>
        <a:solidFill xmlns:a="http://schemas.openxmlformats.org/drawingml/2006/main">
          <a:srgbClr val="F4F2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7FEFCEF-5250-45C0-9282-A6BCE14BFD47}"/>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6382E"/>
                </a:solidFill>
                <a:latin typeface="Arial"/>
                <a:ea typeface="Arial"/>
                <a:cs typeface="Arial"/>
              </a:defRPr>
            </a:pPr>
            <a:r>
              <a:rPr sz="3450" b="1">
                <a:solidFill>
                  <a:srgbClr val="16382E"/>
                </a:solidFill>
                <a:latin typeface="Arial"/>
                <a:ea typeface="Arial"/>
                <a:cs typeface="Arial"/>
              </a:rPr>
              <a:t>Datenspeicherung und Kontakt getrennt wählen</a:t>
            </a:r>
          </a:p>
        </p:txBody>
      </p:sp>
      <p:sp>
        <p:nvSpPr>
          <p:cNvPr id="2" name="">
            <a:extLst xmlns:a="http://schemas.openxmlformats.org/drawingml/2006/main">
              <a:ext uri="{FF2B5EF4-FFF2-40B4-BE49-F238E27FC236}">
                <a16:creationId xmlns:a16="http://schemas.microsoft.com/office/drawing/2014/main" id="{4EEFA99C-9098-4291-8FCF-1848ECF8C049}"/>
              </a:ext>
            </a:extLst>
          </p:cNvPr>
          <p:cNvSpPr>
            <a:spLocks xmlns:a="http://schemas.openxmlformats.org/drawingml/2006/main" noGrp="1"/>
          </p:cNvSpPr>
          <p:nvPr/>
        </p:nvSpPr>
        <p:spPr>
          <a:xfrm xmlns:a="http://schemas.openxmlformats.org/drawingml/2006/main">
            <a:off x="685800" y="6362700"/>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36B60"/>
                </a:solidFill>
                <a:latin typeface="Arial"/>
                <a:ea typeface="Arial"/>
                <a:cs typeface="Arial"/>
              </a:defRPr>
            </a:pPr>
            <a:r>
              <a:rPr sz="1200" b="1">
                <a:solidFill>
                  <a:srgbClr val="536B60"/>
                </a:solidFill>
                <a:latin typeface="Arial"/>
                <a:ea typeface="Arial"/>
                <a:cs typeface="Arial"/>
              </a:rPr>
              <a:t>MERGERO</a:t>
            </a:r>
          </a:p>
        </p:txBody>
      </p:sp>
      <p:sp>
        <p:nvSpPr>
          <p:cNvPr id="3" name="">
            <a:extLst xmlns:a="http://schemas.openxmlformats.org/drawingml/2006/main">
              <a:ext uri="{FF2B5EF4-FFF2-40B4-BE49-F238E27FC236}">
                <a16:creationId xmlns:a16="http://schemas.microsoft.com/office/drawing/2014/main" id="{B8C0A0F2-E505-403B-A502-F465762FB8F2}"/>
              </a:ext>
            </a:extLst>
          </p:cNvPr>
          <p:cNvSpPr>
            <a:spLocks xmlns:a="http://schemas.openxmlformats.org/drawingml/2006/main" noGrp="1"/>
          </p:cNvSpPr>
          <p:nvPr/>
        </p:nvSpPr>
        <p:spPr>
          <a:xfrm xmlns:a="http://schemas.openxmlformats.org/drawingml/2006/main">
            <a:off x="10953750"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B60"/>
                </a:solidFill>
                <a:latin typeface="Arial"/>
                <a:ea typeface="Arial"/>
                <a:cs typeface="Arial"/>
              </a:defRPr>
            </a:pPr>
            <a:r>
              <a:rPr sz="1350" b="0">
                <a:solidFill>
                  <a:srgbClr val="536B60"/>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EAB1094C-CA4F-4331-A79B-6F57F5B7DBE6}"/>
              </a:ext>
            </a:extLst>
          </p:cNvPr>
          <p:cNvSpPr>
            <a:spLocks xmlns:a="http://schemas.openxmlformats.org/drawingml/2006/main" noGrp="1"/>
          </p:cNvSpPr>
          <p:nvPr/>
        </p:nvSpPr>
        <p:spPr>
          <a:xfrm xmlns:a="http://schemas.openxmlformats.org/drawingml/2006/main">
            <a:off x="685800" y="1905000"/>
            <a:ext cx="5095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6382E"/>
                </a:solidFill>
                <a:latin typeface="Arial"/>
                <a:ea typeface="Arial"/>
                <a:cs typeface="Arial"/>
              </a:defRPr>
            </a:pPr>
            <a:r>
              <a:rPr sz="2325" b="1">
                <a:solidFill>
                  <a:srgbClr val="16382E"/>
                </a:solidFill>
                <a:latin typeface="Arial"/>
                <a:ea typeface="Arial"/>
                <a:cs typeface="Arial"/>
              </a:rPr>
              <a:t>Unternehmensprofil speichern</a:t>
            </a:r>
          </a:p>
        </p:txBody>
      </p:sp>
      <p:sp>
        <p:nvSpPr>
          <p:cNvPr id="5" name="">
            <a:extLst xmlns:a="http://schemas.openxmlformats.org/drawingml/2006/main">
              <a:ext uri="{FF2B5EF4-FFF2-40B4-BE49-F238E27FC236}">
                <a16:creationId xmlns:a16="http://schemas.microsoft.com/office/drawing/2014/main" id="{9B3B107B-E36B-4219-8AF5-09AD9334DFC9}"/>
              </a:ext>
            </a:extLst>
          </p:cNvPr>
          <p:cNvSpPr>
            <a:spLocks xmlns:a="http://schemas.openxmlformats.org/drawingml/2006/main" noGrp="1"/>
          </p:cNvSpPr>
          <p:nvPr/>
        </p:nvSpPr>
        <p:spPr>
          <a:xfrm xmlns:a="http://schemas.openxmlformats.org/drawingml/2006/main">
            <a:off x="685800" y="2847975"/>
            <a:ext cx="5143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382E"/>
                </a:solidFill>
                <a:latin typeface="Arial"/>
                <a:ea typeface="Arial"/>
                <a:cs typeface="Arial"/>
              </a:defRPr>
            </a:pPr>
            <a:r>
              <a:rPr sz="2025" b="0">
                <a:solidFill>
                  <a:srgbClr val="16382E"/>
                </a:solidFill>
                <a:latin typeface="Arial"/>
                <a:ea typeface="Arial"/>
                <a:cs typeface="Arial"/>
              </a:rPr>
              <a:t>Der Nutzer entscheidet, ob Mergero</a:t>
            </a:r>
          </a:p>
          <a:p xmlns:a="http://schemas.openxmlformats.org/drawingml/2006/main">
            <a:pPr>
              <a:defRPr sz="2025" b="0">
                <a:solidFill>
                  <a:srgbClr val="16382E"/>
                </a:solidFill>
                <a:latin typeface="Arial"/>
                <a:ea typeface="Arial"/>
                <a:cs typeface="Arial"/>
              </a:defRPr>
            </a:pPr>
            <a:r>
              <a:rPr sz="2025" b="0">
                <a:solidFill>
                  <a:srgbClr val="16382E"/>
                </a:solidFill>
                <a:latin typeface="Arial"/>
                <a:ea typeface="Arial"/>
                <a:cs typeface="Arial"/>
              </a:rPr>
              <a:t>die Angaben für spätere Vermittlungen</a:t>
            </a:r>
          </a:p>
          <a:p xmlns:a="http://schemas.openxmlformats.org/drawingml/2006/main">
            <a:pPr>
              <a:defRPr sz="2025" b="0">
                <a:solidFill>
                  <a:srgbClr val="16382E"/>
                </a:solidFill>
                <a:latin typeface="Arial"/>
                <a:ea typeface="Arial"/>
                <a:cs typeface="Arial"/>
              </a:defRPr>
            </a:pPr>
            <a:r>
              <a:rPr sz="2025" b="0">
                <a:solidFill>
                  <a:srgbClr val="16382E"/>
                </a:solidFill>
                <a:latin typeface="Arial"/>
                <a:ea typeface="Arial"/>
                <a:cs typeface="Arial"/>
              </a:rPr>
              <a:t>behalten darf.</a:t>
            </a:r>
          </a:p>
        </p:txBody>
      </p:sp>
      <p:sp>
        <p:nvSpPr>
          <p:cNvPr id="6" name="">
            <a:extLst xmlns:a="http://schemas.openxmlformats.org/drawingml/2006/main">
              <a:ext uri="{FF2B5EF4-FFF2-40B4-BE49-F238E27FC236}">
                <a16:creationId xmlns:a16="http://schemas.microsoft.com/office/drawing/2014/main" id="{7B0BD51C-31CC-442C-94BE-D958E95EF746}"/>
              </a:ext>
            </a:extLst>
          </p:cNvPr>
          <p:cNvSpPr>
            <a:spLocks xmlns:a="http://schemas.openxmlformats.org/drawingml/2006/main" noGrp="1"/>
          </p:cNvSpPr>
          <p:nvPr/>
        </p:nvSpPr>
        <p:spPr>
          <a:xfrm xmlns:a="http://schemas.openxmlformats.org/drawingml/2006/main">
            <a:off x="6572250" y="1905000"/>
            <a:ext cx="495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6382E"/>
                </a:solidFill>
                <a:latin typeface="Arial"/>
                <a:ea typeface="Arial"/>
                <a:cs typeface="Arial"/>
              </a:defRPr>
            </a:pPr>
            <a:r>
              <a:rPr sz="2325" b="1">
                <a:solidFill>
                  <a:srgbClr val="16382E"/>
                </a:solidFill>
                <a:latin typeface="Arial"/>
                <a:ea typeface="Arial"/>
                <a:cs typeface="Arial"/>
              </a:rPr>
              <a:t>Kontakt bei Käuferinteresse</a:t>
            </a:r>
          </a:p>
        </p:txBody>
      </p:sp>
      <p:sp>
        <p:nvSpPr>
          <p:cNvPr id="7" name="">
            <a:extLst xmlns:a="http://schemas.openxmlformats.org/drawingml/2006/main">
              <a:ext uri="{FF2B5EF4-FFF2-40B4-BE49-F238E27FC236}">
                <a16:creationId xmlns:a16="http://schemas.microsoft.com/office/drawing/2014/main" id="{440FCBE2-880E-4B59-AE1F-47522D9EB2F1}"/>
              </a:ext>
            </a:extLst>
          </p:cNvPr>
          <p:cNvSpPr>
            <a:spLocks xmlns:a="http://schemas.openxmlformats.org/drawingml/2006/main" noGrp="1"/>
          </p:cNvSpPr>
          <p:nvPr/>
        </p:nvSpPr>
        <p:spPr>
          <a:xfrm xmlns:a="http://schemas.openxmlformats.org/drawingml/2006/main">
            <a:off x="6572250" y="2847975"/>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382E"/>
                </a:solidFill>
                <a:latin typeface="Arial"/>
                <a:ea typeface="Arial"/>
                <a:cs typeface="Arial"/>
              </a:defRPr>
            </a:pPr>
            <a:r>
              <a:rPr sz="2025" b="0">
                <a:solidFill>
                  <a:srgbClr val="16382E"/>
                </a:solidFill>
                <a:latin typeface="Arial"/>
                <a:ea typeface="Arial"/>
                <a:cs typeface="Arial"/>
              </a:rPr>
              <a:t>Eine eigene Opt-in-Auswahl hält fest,</a:t>
            </a:r>
          </a:p>
          <a:p xmlns:a="http://schemas.openxmlformats.org/drawingml/2006/main">
            <a:pPr>
              <a:defRPr sz="2025" b="0">
                <a:solidFill>
                  <a:srgbClr val="16382E"/>
                </a:solidFill>
                <a:latin typeface="Arial"/>
                <a:ea typeface="Arial"/>
                <a:cs typeface="Arial"/>
              </a:defRPr>
            </a:pPr>
            <a:r>
              <a:rPr sz="2025" b="0">
                <a:solidFill>
                  <a:srgbClr val="16382E"/>
                </a:solidFill>
                <a:latin typeface="Arial"/>
                <a:ea typeface="Arial"/>
                <a:cs typeface="Arial"/>
              </a:rPr>
              <a:t>ob Mergero den Inhaber bei passendem</a:t>
            </a:r>
          </a:p>
          <a:p xmlns:a="http://schemas.openxmlformats.org/drawingml/2006/main">
            <a:pPr>
              <a:defRPr sz="2025" b="0">
                <a:solidFill>
                  <a:srgbClr val="16382E"/>
                </a:solidFill>
                <a:latin typeface="Arial"/>
                <a:ea typeface="Arial"/>
                <a:cs typeface="Arial"/>
              </a:defRPr>
            </a:pPr>
            <a:r>
              <a:rPr sz="2025" b="0">
                <a:solidFill>
                  <a:srgbClr val="16382E"/>
                </a:solidFill>
                <a:latin typeface="Arial"/>
                <a:ea typeface="Arial"/>
                <a:cs typeface="Arial"/>
              </a:rPr>
              <a:t>Käuferinteresse kontaktieren soll.</a:t>
            </a:r>
          </a:p>
        </p:txBody>
      </p:sp>
      <p:sp>
        <p:nvSpPr>
          <p:cNvPr id="8" name="">
            <a:extLst xmlns:a="http://schemas.openxmlformats.org/drawingml/2006/main">
              <a:ext uri="{FF2B5EF4-FFF2-40B4-BE49-F238E27FC236}">
                <a16:creationId xmlns:a16="http://schemas.microsoft.com/office/drawing/2014/main" id="{35168C7B-8197-4007-8082-89FFDA4B7493}"/>
              </a:ext>
            </a:extLst>
          </p:cNvPr>
          <p:cNvSpPr>
            <a:spLocks xmlns:a="http://schemas.openxmlformats.org/drawingml/2006/main" noGrp="1"/>
          </p:cNvSpPr>
          <p:nvPr/>
        </p:nvSpPr>
        <p:spPr>
          <a:xfrm xmlns:a="http://schemas.openxmlformats.org/drawingml/2006/main">
            <a:off x="685800" y="463867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382E"/>
                </a:solidFill>
                <a:latin typeface="Arial"/>
                <a:ea typeface="Arial"/>
                <a:cs typeface="Arial"/>
              </a:defRPr>
            </a:pPr>
            <a:r>
              <a:rPr sz="1950" b="1">
                <a:solidFill>
                  <a:srgbClr val="16382E"/>
                </a:solidFill>
                <a:latin typeface="Arial"/>
                <a:ea typeface="Arial"/>
                <a:cs typeface="Arial"/>
              </a:rPr>
              <a:t>Offene Entscheidung im Ausgangskonzept</a:t>
            </a:r>
          </a:p>
        </p:txBody>
      </p:sp>
      <p:sp>
        <p:nvSpPr>
          <p:cNvPr id="9" name="">
            <a:extLst xmlns:a="http://schemas.openxmlformats.org/drawingml/2006/main">
              <a:ext uri="{FF2B5EF4-FFF2-40B4-BE49-F238E27FC236}">
                <a16:creationId xmlns:a16="http://schemas.microsoft.com/office/drawing/2014/main" id="{50EE6607-5F9E-42EE-85B6-14643D4F7932}"/>
              </a:ext>
            </a:extLst>
          </p:cNvPr>
          <p:cNvSpPr>
            <a:spLocks xmlns:a="http://schemas.openxmlformats.org/drawingml/2006/main" noGrp="1"/>
          </p:cNvSpPr>
          <p:nvPr/>
        </p:nvSpPr>
        <p:spPr>
          <a:xfrm xmlns:a="http://schemas.openxmlformats.org/drawingml/2006/main">
            <a:off x="685800" y="521970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B60"/>
                </a:solidFill>
                <a:latin typeface="Arial"/>
                <a:ea typeface="Arial"/>
                <a:cs typeface="Arial"/>
              </a:defRPr>
            </a:pPr>
            <a:r>
              <a:rPr sz="1875" b="0">
                <a:solidFill>
                  <a:srgbClr val="536B60"/>
                </a:solidFill>
                <a:latin typeface="Arial"/>
                <a:ea typeface="Arial"/>
                <a:cs typeface="Arial"/>
              </a:rPr>
              <a:t>„Trotz Opt-out kontaktieren“ widerspricht der Kontaktwahl.</a:t>
            </a:r>
          </a:p>
          <a:p xmlns:a="http://schemas.openxmlformats.org/drawingml/2006/main">
            <a:pPr>
              <a:defRPr sz="1875" b="0">
                <a:solidFill>
                  <a:srgbClr val="536B60"/>
                </a:solidFill>
                <a:latin typeface="Arial"/>
                <a:ea typeface="Arial"/>
                <a:cs typeface="Arial"/>
              </a:defRPr>
            </a:pPr>
            <a:r>
              <a:rPr sz="1875" b="0">
                <a:solidFill>
                  <a:srgbClr val="536B60"/>
                </a:solidFill>
                <a:latin typeface="Arial"/>
                <a:ea typeface="Arial"/>
                <a:cs typeface="Arial"/>
              </a:rPr>
              <a:t>Vorschlag: Kontakt nur bei Freigabe; ein Opt-out wird berücksichtigt.</a:t>
            </a:r>
          </a:p>
        </p:txBody>
      </p:sp>
    </p:spTree>
    <p:extLst>
      <p:ext uri="{BB962C8B-B14F-4D97-AF65-F5344CB8AC3E}">
        <p14:creationId xmlns:p14="http://schemas.microsoft.com/office/powerpoint/2010/main" val="638737059"/>
      </p:ext>
    </p:extLst>
  </p:cSld>
</p:sld>
</file>

<file path=ppt/slides/slide7.xml><?xml version="1.0" encoding="utf-8"?>
<p:sld xmlns:p="http://schemas.openxmlformats.org/presentationml/2006/main">
  <p:cSld>
    <p:bg>
      <p:bgPr>
        <a:solidFill xmlns:a="http://schemas.openxmlformats.org/drawingml/2006/main">
          <a:srgbClr val="F4F2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A918C89-2D68-4B06-9BFB-8FD21B3A21B8}"/>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6382E"/>
                </a:solidFill>
                <a:latin typeface="Arial"/>
                <a:ea typeface="Arial"/>
                <a:cs typeface="Arial"/>
              </a:defRPr>
            </a:pPr>
            <a:r>
              <a:rPr sz="3450" b="1">
                <a:solidFill>
                  <a:srgbClr val="16382E"/>
                </a:solidFill>
                <a:latin typeface="Arial"/>
                <a:ea typeface="Arial"/>
                <a:cs typeface="Arial"/>
              </a:rPr>
              <a:t>Ein KI-Gespräch ergänzt die Rahmenbedingungen</a:t>
            </a:r>
          </a:p>
        </p:txBody>
      </p:sp>
      <p:sp>
        <p:nvSpPr>
          <p:cNvPr id="2" name="">
            <a:extLst xmlns:a="http://schemas.openxmlformats.org/drawingml/2006/main">
              <a:ext uri="{FF2B5EF4-FFF2-40B4-BE49-F238E27FC236}">
                <a16:creationId xmlns:a16="http://schemas.microsoft.com/office/drawing/2014/main" id="{1EAB35E0-E1AE-4CB2-9355-458484EAD2E5}"/>
              </a:ext>
            </a:extLst>
          </p:cNvPr>
          <p:cNvSpPr>
            <a:spLocks xmlns:a="http://schemas.openxmlformats.org/drawingml/2006/main" noGrp="1"/>
          </p:cNvSpPr>
          <p:nvPr/>
        </p:nvSpPr>
        <p:spPr>
          <a:xfrm xmlns:a="http://schemas.openxmlformats.org/drawingml/2006/main">
            <a:off x="685800" y="6362700"/>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36B60"/>
                </a:solidFill>
                <a:latin typeface="Arial"/>
                <a:ea typeface="Arial"/>
                <a:cs typeface="Arial"/>
              </a:defRPr>
            </a:pPr>
            <a:r>
              <a:rPr sz="1200" b="1">
                <a:solidFill>
                  <a:srgbClr val="536B60"/>
                </a:solidFill>
                <a:latin typeface="Arial"/>
                <a:ea typeface="Arial"/>
                <a:cs typeface="Arial"/>
              </a:rPr>
              <a:t>MERGERO</a:t>
            </a:r>
          </a:p>
        </p:txBody>
      </p:sp>
      <p:sp>
        <p:nvSpPr>
          <p:cNvPr id="3" name="">
            <a:extLst xmlns:a="http://schemas.openxmlformats.org/drawingml/2006/main">
              <a:ext uri="{FF2B5EF4-FFF2-40B4-BE49-F238E27FC236}">
                <a16:creationId xmlns:a16="http://schemas.microsoft.com/office/drawing/2014/main" id="{5AC7BAD0-29E3-4B78-AB85-6D0499E8E0E2}"/>
              </a:ext>
            </a:extLst>
          </p:cNvPr>
          <p:cNvSpPr>
            <a:spLocks xmlns:a="http://schemas.openxmlformats.org/drawingml/2006/main" noGrp="1"/>
          </p:cNvSpPr>
          <p:nvPr/>
        </p:nvSpPr>
        <p:spPr>
          <a:xfrm xmlns:a="http://schemas.openxmlformats.org/drawingml/2006/main">
            <a:off x="10953750"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B60"/>
                </a:solidFill>
                <a:latin typeface="Arial"/>
                <a:ea typeface="Arial"/>
                <a:cs typeface="Arial"/>
              </a:defRPr>
            </a:pPr>
            <a:r>
              <a:rPr sz="1350" b="0">
                <a:solidFill>
                  <a:srgbClr val="536B60"/>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22777858-3119-4C85-BC40-E7A19C7D2468}"/>
              </a:ext>
            </a:extLst>
          </p:cNvPr>
          <p:cNvSpPr>
            <a:spLocks xmlns:a="http://schemas.openxmlformats.org/drawingml/2006/main" noGrp="1"/>
          </p:cNvSpPr>
          <p:nvPr/>
        </p:nvSpPr>
        <p:spPr>
          <a:xfrm xmlns:a="http://schemas.openxmlformats.org/drawingml/2006/main">
            <a:off x="685800" y="1981200"/>
            <a:ext cx="495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6382E"/>
                </a:solidFill>
                <a:latin typeface="Arial"/>
                <a:ea typeface="Arial"/>
                <a:cs typeface="Arial"/>
              </a:defRPr>
            </a:pPr>
            <a:r>
              <a:rPr sz="2850" b="1">
                <a:solidFill>
                  <a:srgbClr val="16382E"/>
                </a:solidFill>
                <a:latin typeface="Arial"/>
                <a:ea typeface="Arial"/>
                <a:cs typeface="Arial"/>
              </a:rPr>
              <a:t>Optionaler Anrufservice</a:t>
            </a:r>
          </a:p>
        </p:txBody>
      </p:sp>
      <p:sp>
        <p:nvSpPr>
          <p:cNvPr id="5" name="">
            <a:extLst xmlns:a="http://schemas.openxmlformats.org/drawingml/2006/main">
              <a:ext uri="{FF2B5EF4-FFF2-40B4-BE49-F238E27FC236}">
                <a16:creationId xmlns:a16="http://schemas.microsoft.com/office/drawing/2014/main" id="{8C9A7491-6CED-467F-8CEC-D818432BDD19}"/>
              </a:ext>
            </a:extLst>
          </p:cNvPr>
          <p:cNvSpPr>
            <a:spLocks xmlns:a="http://schemas.openxmlformats.org/drawingml/2006/main" noGrp="1"/>
          </p:cNvSpPr>
          <p:nvPr/>
        </p:nvSpPr>
        <p:spPr>
          <a:xfrm xmlns:a="http://schemas.openxmlformats.org/drawingml/2006/main">
            <a:off x="685800" y="3114675"/>
            <a:ext cx="4953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2E"/>
                </a:solidFill>
                <a:latin typeface="Arial"/>
                <a:ea typeface="Arial"/>
                <a:cs typeface="Arial"/>
              </a:defRPr>
            </a:pPr>
            <a:r>
              <a:rPr sz="2175" b="0">
                <a:solidFill>
                  <a:srgbClr val="16382E"/>
                </a:solidFill>
                <a:latin typeface="Arial"/>
                <a:ea typeface="Arial"/>
                <a:cs typeface="Arial"/>
              </a:rPr>
              <a:t>Der Inhaber kann ein automatisches</a:t>
            </a:r>
          </a:p>
          <a:p xmlns:a="http://schemas.openxmlformats.org/drawingml/2006/main">
            <a:pPr>
              <a:defRPr sz="2175" b="0">
                <a:solidFill>
                  <a:srgbClr val="16382E"/>
                </a:solidFill>
                <a:latin typeface="Arial"/>
                <a:ea typeface="Arial"/>
                <a:cs typeface="Arial"/>
              </a:defRPr>
            </a:pPr>
            <a:r>
              <a:rPr sz="2175" b="0">
                <a:solidFill>
                  <a:srgbClr val="16382E"/>
                </a:solidFill>
                <a:latin typeface="Arial"/>
                <a:ea typeface="Arial"/>
                <a:cs typeface="Arial"/>
              </a:rPr>
              <a:t>KI-Gespräch anfordern und einen</a:t>
            </a:r>
          </a:p>
          <a:p xmlns:a="http://schemas.openxmlformats.org/drawingml/2006/main">
            <a:pPr>
              <a:defRPr sz="2175" b="0">
                <a:solidFill>
                  <a:srgbClr val="16382E"/>
                </a:solidFill>
                <a:latin typeface="Arial"/>
                <a:ea typeface="Arial"/>
                <a:cs typeface="Arial"/>
              </a:defRPr>
            </a:pPr>
            <a:r>
              <a:rPr sz="2175" b="0">
                <a:solidFill>
                  <a:srgbClr val="16382E"/>
                </a:solidFill>
                <a:latin typeface="Arial"/>
                <a:ea typeface="Arial"/>
                <a:cs typeface="Arial"/>
              </a:rPr>
              <a:t>passenden Zeitpunkt wählen.</a:t>
            </a:r>
          </a:p>
        </p:txBody>
      </p:sp>
      <p:sp>
        <p:nvSpPr>
          <p:cNvPr id="6" name="">
            <a:extLst xmlns:a="http://schemas.openxmlformats.org/drawingml/2006/main">
              <a:ext uri="{FF2B5EF4-FFF2-40B4-BE49-F238E27FC236}">
                <a16:creationId xmlns:a16="http://schemas.microsoft.com/office/drawing/2014/main" id="{8D1A8E61-FBD5-40F8-B941-9CCC77FFE833}"/>
              </a:ext>
            </a:extLst>
          </p:cNvPr>
          <p:cNvSpPr>
            <a:spLocks xmlns:a="http://schemas.openxmlformats.org/drawingml/2006/main" noGrp="1"/>
          </p:cNvSpPr>
          <p:nvPr/>
        </p:nvSpPr>
        <p:spPr>
          <a:xfrm xmlns:a="http://schemas.openxmlformats.org/drawingml/2006/main">
            <a:off x="685800" y="5010150"/>
            <a:ext cx="5143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B60"/>
                </a:solidFill>
                <a:latin typeface="Arial"/>
                <a:ea typeface="Arial"/>
                <a:cs typeface="Arial"/>
              </a:defRPr>
            </a:pPr>
            <a:r>
              <a:rPr sz="1875" b="0">
                <a:solidFill>
                  <a:srgbClr val="536B60"/>
                </a:solidFill>
                <a:latin typeface="Arial"/>
                <a:ea typeface="Arial"/>
                <a:cs typeface="Arial"/>
              </a:rPr>
              <a:t>Mergero ergänzt das Profil um die</a:t>
            </a:r>
          </a:p>
          <a:p xmlns:a="http://schemas.openxmlformats.org/drawingml/2006/main">
            <a:pPr>
              <a:defRPr sz="1875" b="0">
                <a:solidFill>
                  <a:srgbClr val="536B60"/>
                </a:solidFill>
                <a:latin typeface="Arial"/>
                <a:ea typeface="Arial"/>
                <a:cs typeface="Arial"/>
              </a:defRPr>
            </a:pPr>
            <a:r>
              <a:rPr sz="1875" b="0">
                <a:solidFill>
                  <a:srgbClr val="536B60"/>
                </a:solidFill>
                <a:latin typeface="Arial"/>
                <a:ea typeface="Arial"/>
                <a:cs typeface="Arial"/>
              </a:rPr>
              <a:t>bestätigte Gesprächszusammenfassung.</a:t>
            </a:r>
          </a:p>
        </p:txBody>
      </p:sp>
      <p:sp>
        <p:nvSpPr>
          <p:cNvPr id="7" name="">
            <a:extLst xmlns:a="http://schemas.openxmlformats.org/drawingml/2006/main">
              <a:ext uri="{FF2B5EF4-FFF2-40B4-BE49-F238E27FC236}">
                <a16:creationId xmlns:a16="http://schemas.microsoft.com/office/drawing/2014/main" id="{487A28F0-FE6A-4743-ADFF-BB8713070F25}"/>
              </a:ext>
            </a:extLst>
          </p:cNvPr>
          <p:cNvSpPr>
            <a:spLocks xmlns:a="http://schemas.openxmlformats.org/drawingml/2006/main" noGrp="1"/>
          </p:cNvSpPr>
          <p:nvPr/>
        </p:nvSpPr>
        <p:spPr>
          <a:xfrm xmlns:a="http://schemas.openxmlformats.org/drawingml/2006/main">
            <a:off x="6858000" y="2000250"/>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382E"/>
                </a:solidFill>
                <a:latin typeface="Arial"/>
                <a:ea typeface="Arial"/>
                <a:cs typeface="Arial"/>
              </a:defRPr>
            </a:pPr>
            <a:r>
              <a:rPr sz="2175" b="1">
                <a:solidFill>
                  <a:srgbClr val="16382E"/>
                </a:solidFill>
                <a:latin typeface="Arial"/>
                <a:ea typeface="Arial"/>
                <a:cs typeface="Arial"/>
              </a:rPr>
              <a:t>Mögliche Gesprächsinhalte</a:t>
            </a:r>
          </a:p>
        </p:txBody>
      </p:sp>
      <p:sp>
        <p:nvSpPr>
          <p:cNvPr id="8" name="">
            <a:extLst xmlns:a="http://schemas.openxmlformats.org/drawingml/2006/main">
              <a:ext uri="{FF2B5EF4-FFF2-40B4-BE49-F238E27FC236}">
                <a16:creationId xmlns:a16="http://schemas.microsoft.com/office/drawing/2014/main" id="{616A9033-2B28-42E7-9AB4-6592CE45CDF8}"/>
              </a:ext>
            </a:extLst>
          </p:cNvPr>
          <p:cNvSpPr>
            <a:spLocks xmlns:a="http://schemas.openxmlformats.org/drawingml/2006/main" noGrp="1"/>
          </p:cNvSpPr>
          <p:nvPr/>
        </p:nvSpPr>
        <p:spPr>
          <a:xfrm xmlns:a="http://schemas.openxmlformats.org/drawingml/2006/main">
            <a:off x="6858000" y="2914650"/>
            <a:ext cx="46672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382E"/>
                </a:solidFill>
                <a:latin typeface="Arial"/>
                <a:ea typeface="Arial"/>
                <a:cs typeface="Arial"/>
              </a:defRPr>
            </a:pPr>
            <a:r>
              <a:rPr sz="1950" b="0">
                <a:solidFill>
                  <a:srgbClr val="16382E"/>
                </a:solidFill>
                <a:latin typeface="Arial"/>
                <a:ea typeface="Arial"/>
                <a:cs typeface="Arial"/>
              </a:rPr>
              <a:t>Verkaufsinteresse und Zeithorizont</a:t>
            </a:r>
          </a:p>
          <a:p xmlns:a="http://schemas.openxmlformats.org/drawingml/2006/main">
            <a:r>
              <a:t/>
            </a:r>
          </a:p>
          <a:p xmlns:a="http://schemas.openxmlformats.org/drawingml/2006/main">
            <a:pPr>
              <a:defRPr sz="1950" b="0">
                <a:solidFill>
                  <a:srgbClr val="16382E"/>
                </a:solidFill>
                <a:latin typeface="Arial"/>
                <a:ea typeface="Arial"/>
                <a:cs typeface="Arial"/>
              </a:defRPr>
            </a:pPr>
            <a:r>
              <a:rPr sz="1950" b="0">
                <a:solidFill>
                  <a:srgbClr val="16382E"/>
                </a:solidFill>
                <a:latin typeface="Arial"/>
                <a:ea typeface="Arial"/>
                <a:cs typeface="Arial"/>
              </a:rPr>
              <a:t>Rolle des Inhabers nach Übergabe</a:t>
            </a:r>
          </a:p>
          <a:p xmlns:a="http://schemas.openxmlformats.org/drawingml/2006/main">
            <a:r>
              <a:t/>
            </a:r>
          </a:p>
          <a:p xmlns:a="http://schemas.openxmlformats.org/drawingml/2006/main">
            <a:pPr>
              <a:defRPr sz="1950" b="0">
                <a:solidFill>
                  <a:srgbClr val="16382E"/>
                </a:solidFill>
                <a:latin typeface="Arial"/>
                <a:ea typeface="Arial"/>
                <a:cs typeface="Arial"/>
              </a:defRPr>
            </a:pPr>
            <a:r>
              <a:rPr sz="1950" b="0">
                <a:solidFill>
                  <a:srgbClr val="16382E"/>
                </a:solidFill>
                <a:latin typeface="Arial"/>
                <a:ea typeface="Arial"/>
                <a:cs typeface="Arial"/>
              </a:rPr>
              <a:t>Wünsche an einen Käufer</a:t>
            </a:r>
          </a:p>
          <a:p xmlns:a="http://schemas.openxmlformats.org/drawingml/2006/main">
            <a:r>
              <a:t/>
            </a:r>
          </a:p>
          <a:p xmlns:a="http://schemas.openxmlformats.org/drawingml/2006/main">
            <a:pPr>
              <a:defRPr sz="1950" b="0">
                <a:solidFill>
                  <a:srgbClr val="16382E"/>
                </a:solidFill>
                <a:latin typeface="Arial"/>
                <a:ea typeface="Arial"/>
                <a:cs typeface="Arial"/>
              </a:defRPr>
            </a:pPr>
            <a:r>
              <a:rPr sz="1950" b="0">
                <a:solidFill>
                  <a:srgbClr val="16382E"/>
                </a:solidFill>
                <a:latin typeface="Arial"/>
                <a:ea typeface="Arial"/>
                <a:cs typeface="Arial"/>
              </a:rPr>
              <a:t>Besondere Bedingungen des Betriebs</a:t>
            </a:r>
          </a:p>
        </p:txBody>
      </p:sp>
    </p:spTree>
    <p:extLst>
      <p:ext uri="{BB962C8B-B14F-4D97-AF65-F5344CB8AC3E}">
        <p14:creationId xmlns:p14="http://schemas.microsoft.com/office/powerpoint/2010/main" val="896436085"/>
      </p:ext>
    </p:extLst>
  </p:cSld>
</p:sld>
</file>

<file path=ppt/slides/slide8.xml><?xml version="1.0" encoding="utf-8"?>
<p:sld xmlns:p="http://schemas.openxmlformats.org/presentationml/2006/main">
  <p:cSld>
    <p:bg>
      <p:bgPr>
        <a:solidFill xmlns:a="http://schemas.openxmlformats.org/drawingml/2006/main">
          <a:srgbClr val="F4F2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8B076C6-C040-48DF-A72D-95936B83449A}"/>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6382E"/>
                </a:solidFill>
                <a:latin typeface="Arial"/>
                <a:ea typeface="Arial"/>
                <a:cs typeface="Arial"/>
              </a:defRPr>
            </a:pPr>
            <a:r>
              <a:rPr sz="3450" b="1">
                <a:solidFill>
                  <a:srgbClr val="16382E"/>
                </a:solidFill>
                <a:latin typeface="Arial"/>
                <a:ea typeface="Arial"/>
                <a:cs typeface="Arial"/>
              </a:rPr>
              <a:t>Unternehmenskultur als Teil des Profils</a:t>
            </a:r>
          </a:p>
        </p:txBody>
      </p:sp>
      <p:sp>
        <p:nvSpPr>
          <p:cNvPr id="2" name="">
            <a:extLst xmlns:a="http://schemas.openxmlformats.org/drawingml/2006/main">
              <a:ext uri="{FF2B5EF4-FFF2-40B4-BE49-F238E27FC236}">
                <a16:creationId xmlns:a16="http://schemas.microsoft.com/office/drawing/2014/main" id="{C9C3D460-8A74-4E28-9364-3BFD4E4049BE}"/>
              </a:ext>
            </a:extLst>
          </p:cNvPr>
          <p:cNvSpPr>
            <a:spLocks xmlns:a="http://schemas.openxmlformats.org/drawingml/2006/main" noGrp="1"/>
          </p:cNvSpPr>
          <p:nvPr/>
        </p:nvSpPr>
        <p:spPr>
          <a:xfrm xmlns:a="http://schemas.openxmlformats.org/drawingml/2006/main">
            <a:off x="685800" y="6362700"/>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36B60"/>
                </a:solidFill>
                <a:latin typeface="Arial"/>
                <a:ea typeface="Arial"/>
                <a:cs typeface="Arial"/>
              </a:defRPr>
            </a:pPr>
            <a:r>
              <a:rPr sz="1200" b="1">
                <a:solidFill>
                  <a:srgbClr val="536B60"/>
                </a:solidFill>
                <a:latin typeface="Arial"/>
                <a:ea typeface="Arial"/>
                <a:cs typeface="Arial"/>
              </a:rPr>
              <a:t>MERGERO</a:t>
            </a:r>
          </a:p>
        </p:txBody>
      </p:sp>
      <p:sp>
        <p:nvSpPr>
          <p:cNvPr id="3" name="">
            <a:extLst xmlns:a="http://schemas.openxmlformats.org/drawingml/2006/main">
              <a:ext uri="{FF2B5EF4-FFF2-40B4-BE49-F238E27FC236}">
                <a16:creationId xmlns:a16="http://schemas.microsoft.com/office/drawing/2014/main" id="{EFBB2CA5-4B0C-484C-B0C6-8105F721D63A}"/>
              </a:ext>
            </a:extLst>
          </p:cNvPr>
          <p:cNvSpPr>
            <a:spLocks xmlns:a="http://schemas.openxmlformats.org/drawingml/2006/main" noGrp="1"/>
          </p:cNvSpPr>
          <p:nvPr/>
        </p:nvSpPr>
        <p:spPr>
          <a:xfrm xmlns:a="http://schemas.openxmlformats.org/drawingml/2006/main">
            <a:off x="10953750"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B60"/>
                </a:solidFill>
                <a:latin typeface="Arial"/>
                <a:ea typeface="Arial"/>
                <a:cs typeface="Arial"/>
              </a:defRPr>
            </a:pPr>
            <a:r>
              <a:rPr sz="1350" b="0">
                <a:solidFill>
                  <a:srgbClr val="536B60"/>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56B2348A-5F47-499E-9AD3-627CFE3BD9BE}"/>
              </a:ext>
            </a:extLst>
          </p:cNvPr>
          <p:cNvSpPr>
            <a:spLocks xmlns:a="http://schemas.openxmlformats.org/drawingml/2006/main" noGrp="1"/>
          </p:cNvSpPr>
          <p:nvPr/>
        </p:nvSpPr>
        <p:spPr>
          <a:xfrm xmlns:a="http://schemas.openxmlformats.org/drawingml/2006/main">
            <a:off x="685800" y="1952625"/>
            <a:ext cx="10810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6382E"/>
                </a:solidFill>
                <a:latin typeface="Arial"/>
                <a:ea typeface="Arial"/>
                <a:cs typeface="Arial"/>
              </a:defRPr>
            </a:pPr>
            <a:r>
              <a:rPr sz="2850" b="1">
                <a:solidFill>
                  <a:srgbClr val="16382E"/>
                </a:solidFill>
                <a:latin typeface="Arial"/>
                <a:ea typeface="Arial"/>
                <a:cs typeface="Arial"/>
              </a:rPr>
              <a:t>Zahlen erklären den Betrieb.</a:t>
            </a:r>
          </a:p>
          <a:p xmlns:a="http://schemas.openxmlformats.org/drawingml/2006/main">
            <a:pPr>
              <a:defRPr sz="2850" b="1">
                <a:solidFill>
                  <a:srgbClr val="16382E"/>
                </a:solidFill>
                <a:latin typeface="Arial"/>
                <a:ea typeface="Arial"/>
                <a:cs typeface="Arial"/>
              </a:defRPr>
            </a:pPr>
            <a:r>
              <a:rPr sz="2850" b="1">
                <a:solidFill>
                  <a:srgbClr val="16382E"/>
                </a:solidFill>
                <a:latin typeface="Arial"/>
                <a:ea typeface="Arial"/>
                <a:cs typeface="Arial"/>
              </a:rPr>
              <a:t>Der Inhaber beschreibt die Kultur.</a:t>
            </a:r>
          </a:p>
        </p:txBody>
      </p:sp>
      <p:sp>
        <p:nvSpPr>
          <p:cNvPr id="5" name="">
            <a:extLst xmlns:a="http://schemas.openxmlformats.org/drawingml/2006/main">
              <a:ext uri="{FF2B5EF4-FFF2-40B4-BE49-F238E27FC236}">
                <a16:creationId xmlns:a16="http://schemas.microsoft.com/office/drawing/2014/main" id="{DFFB23EF-A967-4CA3-AC40-4B922F24339C}"/>
              </a:ext>
            </a:extLst>
          </p:cNvPr>
          <p:cNvSpPr>
            <a:spLocks xmlns:a="http://schemas.openxmlformats.org/drawingml/2006/main" noGrp="1"/>
          </p:cNvSpPr>
          <p:nvPr/>
        </p:nvSpPr>
        <p:spPr>
          <a:xfrm xmlns:a="http://schemas.openxmlformats.org/drawingml/2006/main">
            <a:off x="685800" y="3524250"/>
            <a:ext cx="4905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382E"/>
                </a:solidFill>
                <a:latin typeface="Arial"/>
                <a:ea typeface="Arial"/>
                <a:cs typeface="Arial"/>
              </a:defRPr>
            </a:pPr>
            <a:r>
              <a:rPr sz="2175" b="1">
                <a:solidFill>
                  <a:srgbClr val="16382E"/>
                </a:solidFill>
                <a:latin typeface="Arial"/>
                <a:ea typeface="Arial"/>
                <a:cs typeface="Arial"/>
              </a:rPr>
              <a:t>KI-Chat als Schreibhilfe</a:t>
            </a:r>
          </a:p>
        </p:txBody>
      </p:sp>
      <p:sp>
        <p:nvSpPr>
          <p:cNvPr id="6" name="">
            <a:extLst xmlns:a="http://schemas.openxmlformats.org/drawingml/2006/main">
              <a:ext uri="{FF2B5EF4-FFF2-40B4-BE49-F238E27FC236}">
                <a16:creationId xmlns:a16="http://schemas.microsoft.com/office/drawing/2014/main" id="{9571C466-A911-47B7-AC0D-52125B610236}"/>
              </a:ext>
            </a:extLst>
          </p:cNvPr>
          <p:cNvSpPr>
            <a:spLocks xmlns:a="http://schemas.openxmlformats.org/drawingml/2006/main" noGrp="1"/>
          </p:cNvSpPr>
          <p:nvPr/>
        </p:nvSpPr>
        <p:spPr>
          <a:xfrm xmlns:a="http://schemas.openxmlformats.org/drawingml/2006/main">
            <a:off x="685800" y="4257675"/>
            <a:ext cx="5048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382E"/>
                </a:solidFill>
                <a:latin typeface="Arial"/>
                <a:ea typeface="Arial"/>
                <a:cs typeface="Arial"/>
              </a:defRPr>
            </a:pPr>
            <a:r>
              <a:rPr sz="1950" b="0">
                <a:solidFill>
                  <a:srgbClr val="16382E"/>
                </a:solidFill>
                <a:latin typeface="Arial"/>
                <a:ea typeface="Arial"/>
                <a:cs typeface="Arial"/>
              </a:rPr>
              <a:t>Kurze Fragen zu Führung, Zusammenarbeit</a:t>
            </a:r>
          </a:p>
          <a:p xmlns:a="http://schemas.openxmlformats.org/drawingml/2006/main">
            <a:pPr>
              <a:defRPr sz="1950" b="0">
                <a:solidFill>
                  <a:srgbClr val="16382E"/>
                </a:solidFill>
                <a:latin typeface="Arial"/>
                <a:ea typeface="Arial"/>
                <a:cs typeface="Arial"/>
              </a:defRPr>
            </a:pPr>
            <a:r>
              <a:rPr sz="1950" b="0">
                <a:solidFill>
                  <a:srgbClr val="16382E"/>
                </a:solidFill>
                <a:latin typeface="Arial"/>
                <a:ea typeface="Arial"/>
                <a:cs typeface="Arial"/>
              </a:rPr>
              <a:t>und Grundsätzen. Daraus entsteht ein</a:t>
            </a:r>
          </a:p>
          <a:p xmlns:a="http://schemas.openxmlformats.org/drawingml/2006/main">
            <a:pPr>
              <a:defRPr sz="1950" b="0">
                <a:solidFill>
                  <a:srgbClr val="16382E"/>
                </a:solidFill>
                <a:latin typeface="Arial"/>
                <a:ea typeface="Arial"/>
                <a:cs typeface="Arial"/>
              </a:defRPr>
            </a:pPr>
            <a:r>
              <a:rPr sz="1950" b="0">
                <a:solidFill>
                  <a:srgbClr val="16382E"/>
                </a:solidFill>
                <a:latin typeface="Arial"/>
                <a:ea typeface="Arial"/>
                <a:cs typeface="Arial"/>
              </a:rPr>
              <a:t>Text mit etwa 500 Wörtern.</a:t>
            </a:r>
          </a:p>
        </p:txBody>
      </p:sp>
      <p:sp>
        <p:nvSpPr>
          <p:cNvPr id="7" name="">
            <a:extLst xmlns:a="http://schemas.openxmlformats.org/drawingml/2006/main">
              <a:ext uri="{FF2B5EF4-FFF2-40B4-BE49-F238E27FC236}">
                <a16:creationId xmlns:a16="http://schemas.microsoft.com/office/drawing/2014/main" id="{770C2428-AB12-480E-A86C-DFF04783CFB8}"/>
              </a:ext>
            </a:extLst>
          </p:cNvPr>
          <p:cNvSpPr>
            <a:spLocks xmlns:a="http://schemas.openxmlformats.org/drawingml/2006/main" noGrp="1"/>
          </p:cNvSpPr>
          <p:nvPr/>
        </p:nvSpPr>
        <p:spPr>
          <a:xfrm xmlns:a="http://schemas.openxmlformats.org/drawingml/2006/main">
            <a:off x="6858000" y="3524250"/>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382E"/>
                </a:solidFill>
                <a:latin typeface="Arial"/>
                <a:ea typeface="Arial"/>
                <a:cs typeface="Arial"/>
              </a:defRPr>
            </a:pPr>
            <a:r>
              <a:rPr sz="2175" b="1">
                <a:solidFill>
                  <a:srgbClr val="16382E"/>
                </a:solidFill>
                <a:latin typeface="Arial"/>
                <a:ea typeface="Arial"/>
                <a:cs typeface="Arial"/>
              </a:rPr>
              <a:t>Perspektive des Inhabers</a:t>
            </a:r>
          </a:p>
        </p:txBody>
      </p:sp>
      <p:sp>
        <p:nvSpPr>
          <p:cNvPr id="8" name="">
            <a:extLst xmlns:a="http://schemas.openxmlformats.org/drawingml/2006/main">
              <a:ext uri="{FF2B5EF4-FFF2-40B4-BE49-F238E27FC236}">
                <a16:creationId xmlns:a16="http://schemas.microsoft.com/office/drawing/2014/main" id="{7C92FF49-7633-4470-AC84-29CE205ADAAE}"/>
              </a:ext>
            </a:extLst>
          </p:cNvPr>
          <p:cNvSpPr>
            <a:spLocks xmlns:a="http://schemas.openxmlformats.org/drawingml/2006/main" noGrp="1"/>
          </p:cNvSpPr>
          <p:nvPr/>
        </p:nvSpPr>
        <p:spPr>
          <a:xfrm xmlns:a="http://schemas.openxmlformats.org/drawingml/2006/main">
            <a:off x="6858000" y="4257675"/>
            <a:ext cx="4667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382E"/>
                </a:solidFill>
                <a:latin typeface="Arial"/>
                <a:ea typeface="Arial"/>
                <a:cs typeface="Arial"/>
              </a:defRPr>
            </a:pPr>
            <a:r>
              <a:rPr sz="1950" b="0">
                <a:solidFill>
                  <a:srgbClr val="16382E"/>
                </a:solidFill>
                <a:latin typeface="Arial"/>
                <a:ea typeface="Arial"/>
                <a:cs typeface="Arial"/>
              </a:rPr>
              <a:t>Der Inhaber prüft den Text und gibt ihn</a:t>
            </a:r>
          </a:p>
          <a:p xmlns:a="http://schemas.openxmlformats.org/drawingml/2006/main">
            <a:pPr>
              <a:defRPr sz="1950" b="0">
                <a:solidFill>
                  <a:srgbClr val="16382E"/>
                </a:solidFill>
                <a:latin typeface="Arial"/>
                <a:ea typeface="Arial"/>
                <a:cs typeface="Arial"/>
              </a:defRPr>
            </a:pPr>
            <a:r>
              <a:rPr sz="1950" b="0">
                <a:solidFill>
                  <a:srgbClr val="16382E"/>
                </a:solidFill>
                <a:latin typeface="Arial"/>
                <a:ea typeface="Arial"/>
                <a:cs typeface="Arial"/>
              </a:rPr>
              <a:t>für Käufer frei. Die Selbsteinschätzung</a:t>
            </a:r>
          </a:p>
          <a:p xmlns:a="http://schemas.openxmlformats.org/drawingml/2006/main">
            <a:pPr>
              <a:defRPr sz="1950" b="0">
                <a:solidFill>
                  <a:srgbClr val="16382E"/>
                </a:solidFill>
                <a:latin typeface="Arial"/>
                <a:ea typeface="Arial"/>
                <a:cs typeface="Arial"/>
              </a:defRPr>
            </a:pPr>
            <a:r>
              <a:rPr sz="1950" b="0">
                <a:solidFill>
                  <a:srgbClr val="16382E"/>
                </a:solidFill>
                <a:latin typeface="Arial"/>
                <a:ea typeface="Arial"/>
                <a:cs typeface="Arial"/>
              </a:rPr>
              <a:t>ergänzt die Unternehmenszahlen.</a:t>
            </a:r>
          </a:p>
        </p:txBody>
      </p:sp>
    </p:spTree>
    <p:extLst>
      <p:ext uri="{BB962C8B-B14F-4D97-AF65-F5344CB8AC3E}">
        <p14:creationId xmlns:p14="http://schemas.microsoft.com/office/powerpoint/2010/main" val="626807659"/>
      </p:ext>
    </p:extLst>
  </p:cSld>
</p:sld>
</file>

<file path=ppt/slides/slide9.xml><?xml version="1.0" encoding="utf-8"?>
<p:sld xmlns:p="http://schemas.openxmlformats.org/presentationml/2006/main">
  <p:cSld>
    <p:bg>
      <p:bgPr>
        <a:solidFill xmlns:a="http://schemas.openxmlformats.org/drawingml/2006/main">
          <a:srgbClr val="F4F2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A065ED4-F02C-4FC4-A9D3-D7CBB7B8403F}"/>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6382E"/>
                </a:solidFill>
                <a:latin typeface="Arial"/>
                <a:ea typeface="Arial"/>
                <a:cs typeface="Arial"/>
              </a:defRPr>
            </a:pPr>
            <a:r>
              <a:rPr sz="3450" b="1">
                <a:solidFill>
                  <a:srgbClr val="16382E"/>
                </a:solidFill>
                <a:latin typeface="Arial"/>
                <a:ea typeface="Arial"/>
                <a:cs typeface="Arial"/>
              </a:rPr>
              <a:t>Käufervermittlung und erste Umsetzung</a:t>
            </a:r>
          </a:p>
        </p:txBody>
      </p:sp>
      <p:sp>
        <p:nvSpPr>
          <p:cNvPr id="2" name="">
            <a:extLst xmlns:a="http://schemas.openxmlformats.org/drawingml/2006/main">
              <a:ext uri="{FF2B5EF4-FFF2-40B4-BE49-F238E27FC236}">
                <a16:creationId xmlns:a16="http://schemas.microsoft.com/office/drawing/2014/main" id="{C04EF6C0-2D9C-40AA-80A8-8732DCFDBA1A}"/>
              </a:ext>
            </a:extLst>
          </p:cNvPr>
          <p:cNvSpPr>
            <a:spLocks xmlns:a="http://schemas.openxmlformats.org/drawingml/2006/main" noGrp="1"/>
          </p:cNvSpPr>
          <p:nvPr/>
        </p:nvSpPr>
        <p:spPr>
          <a:xfrm xmlns:a="http://schemas.openxmlformats.org/drawingml/2006/main">
            <a:off x="685800" y="6362700"/>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36B60"/>
                </a:solidFill>
                <a:latin typeface="Arial"/>
                <a:ea typeface="Arial"/>
                <a:cs typeface="Arial"/>
              </a:defRPr>
            </a:pPr>
            <a:r>
              <a:rPr sz="1200" b="1">
                <a:solidFill>
                  <a:srgbClr val="536B60"/>
                </a:solidFill>
                <a:latin typeface="Arial"/>
                <a:ea typeface="Arial"/>
                <a:cs typeface="Arial"/>
              </a:rPr>
              <a:t>MERGERO</a:t>
            </a:r>
          </a:p>
        </p:txBody>
      </p:sp>
      <p:sp>
        <p:nvSpPr>
          <p:cNvPr id="3" name="">
            <a:extLst xmlns:a="http://schemas.openxmlformats.org/drawingml/2006/main">
              <a:ext uri="{FF2B5EF4-FFF2-40B4-BE49-F238E27FC236}">
                <a16:creationId xmlns:a16="http://schemas.microsoft.com/office/drawing/2014/main" id="{0303785B-37C7-43AA-AF1F-C9AB976E75DB}"/>
              </a:ext>
            </a:extLst>
          </p:cNvPr>
          <p:cNvSpPr>
            <a:spLocks xmlns:a="http://schemas.openxmlformats.org/drawingml/2006/main" noGrp="1"/>
          </p:cNvSpPr>
          <p:nvPr/>
        </p:nvSpPr>
        <p:spPr>
          <a:xfrm xmlns:a="http://schemas.openxmlformats.org/drawingml/2006/main">
            <a:off x="10953750"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B60"/>
                </a:solidFill>
                <a:latin typeface="Arial"/>
                <a:ea typeface="Arial"/>
                <a:cs typeface="Arial"/>
              </a:defRPr>
            </a:pPr>
            <a:r>
              <a:rPr sz="1350" b="0">
                <a:solidFill>
                  <a:srgbClr val="536B60"/>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16610583-77F3-41CC-964E-90A43BF349E3}"/>
              </a:ext>
            </a:extLst>
          </p:cNvPr>
          <p:cNvSpPr>
            <a:spLocks xmlns:a="http://schemas.openxmlformats.org/drawingml/2006/main" noGrp="1"/>
          </p:cNvSpPr>
          <p:nvPr/>
        </p:nvSpPr>
        <p:spPr>
          <a:xfrm xmlns:a="http://schemas.openxmlformats.org/drawingml/2006/main">
            <a:off x="685800" y="1857375"/>
            <a:ext cx="5191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6382E"/>
                </a:solidFill>
                <a:latin typeface="Arial"/>
                <a:ea typeface="Arial"/>
                <a:cs typeface="Arial"/>
              </a:defRPr>
            </a:pPr>
            <a:r>
              <a:rPr sz="2400" b="1">
                <a:solidFill>
                  <a:srgbClr val="16382E"/>
                </a:solidFill>
                <a:latin typeface="Arial"/>
                <a:ea typeface="Arial"/>
                <a:cs typeface="Arial"/>
              </a:rPr>
              <a:t>So entsteht eine Vermittlung</a:t>
            </a:r>
          </a:p>
        </p:txBody>
      </p:sp>
      <p:sp>
        <p:nvSpPr>
          <p:cNvPr id="5" name="">
            <a:extLst xmlns:a="http://schemas.openxmlformats.org/drawingml/2006/main">
              <a:ext uri="{FF2B5EF4-FFF2-40B4-BE49-F238E27FC236}">
                <a16:creationId xmlns:a16="http://schemas.microsoft.com/office/drawing/2014/main" id="{E60F6521-BCA6-4564-9600-43742967F47D}"/>
              </a:ext>
            </a:extLst>
          </p:cNvPr>
          <p:cNvSpPr>
            <a:spLocks xmlns:a="http://schemas.openxmlformats.org/drawingml/2006/main" noGrp="1"/>
          </p:cNvSpPr>
          <p:nvPr/>
        </p:nvSpPr>
        <p:spPr>
          <a:xfrm xmlns:a="http://schemas.openxmlformats.org/drawingml/2006/main">
            <a:off x="685800" y="2800350"/>
            <a:ext cx="528637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382E"/>
                </a:solidFill>
                <a:latin typeface="Arial"/>
                <a:ea typeface="Arial"/>
                <a:cs typeface="Arial"/>
              </a:defRPr>
            </a:pPr>
            <a:r>
              <a:rPr sz="1950" b="0">
                <a:solidFill>
                  <a:srgbClr val="16382E"/>
                </a:solidFill>
                <a:latin typeface="Arial"/>
                <a:ea typeface="Arial"/>
                <a:cs typeface="Arial"/>
              </a:rPr>
              <a:t>Gespeicherte Profile mit Suchwünschen</a:t>
            </a:r>
          </a:p>
          <a:p xmlns:a="http://schemas.openxmlformats.org/drawingml/2006/main">
            <a:pPr>
              <a:defRPr sz="1950" b="0">
                <a:solidFill>
                  <a:srgbClr val="16382E"/>
                </a:solidFill>
                <a:latin typeface="Arial"/>
                <a:ea typeface="Arial"/>
                <a:cs typeface="Arial"/>
              </a:defRPr>
            </a:pPr>
            <a:r>
              <a:rPr sz="1950" b="0">
                <a:solidFill>
                  <a:srgbClr val="16382E"/>
                </a:solidFill>
                <a:latin typeface="Arial"/>
                <a:ea typeface="Arial"/>
                <a:cs typeface="Arial"/>
              </a:rPr>
              <a:t>potenzieller Käufer abgleichen.</a:t>
            </a:r>
          </a:p>
          <a:p xmlns:a="http://schemas.openxmlformats.org/drawingml/2006/main">
            <a:r>
              <a:t/>
            </a:r>
          </a:p>
          <a:p xmlns:a="http://schemas.openxmlformats.org/drawingml/2006/main">
            <a:pPr>
              <a:defRPr sz="1950" b="0">
                <a:solidFill>
                  <a:srgbClr val="16382E"/>
                </a:solidFill>
                <a:latin typeface="Arial"/>
                <a:ea typeface="Arial"/>
                <a:cs typeface="Arial"/>
              </a:defRPr>
            </a:pPr>
            <a:r>
              <a:rPr sz="1950" b="0">
                <a:solidFill>
                  <a:srgbClr val="16382E"/>
                </a:solidFill>
                <a:latin typeface="Arial"/>
                <a:ea typeface="Arial"/>
                <a:cs typeface="Arial"/>
              </a:rPr>
              <a:t>Bei passendem Interesse den Inhaber</a:t>
            </a:r>
          </a:p>
          <a:p xmlns:a="http://schemas.openxmlformats.org/drawingml/2006/main">
            <a:pPr>
              <a:defRPr sz="1950" b="0">
                <a:solidFill>
                  <a:srgbClr val="16382E"/>
                </a:solidFill>
                <a:latin typeface="Arial"/>
                <a:ea typeface="Arial"/>
                <a:cs typeface="Arial"/>
              </a:defRPr>
            </a:pPr>
            <a:r>
              <a:rPr sz="1950" b="0">
                <a:solidFill>
                  <a:srgbClr val="16382E"/>
                </a:solidFill>
                <a:latin typeface="Arial"/>
                <a:ea typeface="Arial"/>
                <a:cs typeface="Arial"/>
              </a:rPr>
              <a:t>entsprechend seiner Freigabe kontaktieren.</a:t>
            </a:r>
          </a:p>
          <a:p xmlns:a="http://schemas.openxmlformats.org/drawingml/2006/main">
            <a:r>
              <a:t/>
            </a:r>
          </a:p>
          <a:p xmlns:a="http://schemas.openxmlformats.org/drawingml/2006/main">
            <a:pPr>
              <a:defRPr sz="1950" b="0">
                <a:solidFill>
                  <a:srgbClr val="16382E"/>
                </a:solidFill>
                <a:latin typeface="Arial"/>
                <a:ea typeface="Arial"/>
                <a:cs typeface="Arial"/>
              </a:defRPr>
            </a:pPr>
            <a:r>
              <a:rPr sz="1950" b="0">
                <a:solidFill>
                  <a:srgbClr val="16382E"/>
                </a:solidFill>
                <a:latin typeface="Arial"/>
                <a:ea typeface="Arial"/>
                <a:cs typeface="Arial"/>
              </a:rPr>
              <a:t>Weitere Details klären und beide Seiten</a:t>
            </a:r>
          </a:p>
          <a:p xmlns:a="http://schemas.openxmlformats.org/drawingml/2006/main">
            <a:pPr>
              <a:defRPr sz="1950" b="0">
                <a:solidFill>
                  <a:srgbClr val="16382E"/>
                </a:solidFill>
                <a:latin typeface="Arial"/>
                <a:ea typeface="Arial"/>
                <a:cs typeface="Arial"/>
              </a:defRPr>
            </a:pPr>
            <a:r>
              <a:rPr sz="1950" b="0">
                <a:solidFill>
                  <a:srgbClr val="16382E"/>
                </a:solidFill>
                <a:latin typeface="Arial"/>
                <a:ea typeface="Arial"/>
                <a:cs typeface="Arial"/>
              </a:rPr>
              <a:t>bei gegenseitigem Interesse vernetzen.</a:t>
            </a:r>
          </a:p>
        </p:txBody>
      </p:sp>
      <p:sp>
        <p:nvSpPr>
          <p:cNvPr id="6" name="">
            <a:extLst xmlns:a="http://schemas.openxmlformats.org/drawingml/2006/main">
              <a:ext uri="{FF2B5EF4-FFF2-40B4-BE49-F238E27FC236}">
                <a16:creationId xmlns:a16="http://schemas.microsoft.com/office/drawing/2014/main" id="{C41DC93C-015C-42F3-81E4-BAD6670AE7E8}"/>
              </a:ext>
            </a:extLst>
          </p:cNvPr>
          <p:cNvSpPr>
            <a:spLocks xmlns:a="http://schemas.openxmlformats.org/drawingml/2006/main" noGrp="1"/>
          </p:cNvSpPr>
          <p:nvPr/>
        </p:nvSpPr>
        <p:spPr>
          <a:xfrm xmlns:a="http://schemas.openxmlformats.org/drawingml/2006/main">
            <a:off x="6953250" y="1857375"/>
            <a:ext cx="4572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6382E"/>
                </a:solidFill>
                <a:latin typeface="Arial"/>
                <a:ea typeface="Arial"/>
                <a:cs typeface="Arial"/>
              </a:defRPr>
            </a:pPr>
            <a:r>
              <a:rPr sz="2400" b="1">
                <a:solidFill>
                  <a:srgbClr val="16382E"/>
                </a:solidFill>
                <a:latin typeface="Arial"/>
                <a:ea typeface="Arial"/>
                <a:cs typeface="Arial"/>
              </a:rPr>
              <a:t>Vorgeschlagene erste Version</a:t>
            </a:r>
          </a:p>
        </p:txBody>
      </p:sp>
      <p:sp>
        <p:nvSpPr>
          <p:cNvPr id="7" name="">
            <a:extLst xmlns:a="http://schemas.openxmlformats.org/drawingml/2006/main">
              <a:ext uri="{FF2B5EF4-FFF2-40B4-BE49-F238E27FC236}">
                <a16:creationId xmlns:a16="http://schemas.microsoft.com/office/drawing/2014/main" id="{8FF1A717-0F91-41FA-818C-7681364DBE86}"/>
              </a:ext>
            </a:extLst>
          </p:cNvPr>
          <p:cNvSpPr>
            <a:spLocks xmlns:a="http://schemas.openxmlformats.org/drawingml/2006/main" noGrp="1"/>
          </p:cNvSpPr>
          <p:nvPr/>
        </p:nvSpPr>
        <p:spPr>
          <a:xfrm xmlns:a="http://schemas.openxmlformats.org/drawingml/2006/main">
            <a:off x="6953250" y="2800350"/>
            <a:ext cx="46196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382E"/>
                </a:solidFill>
                <a:latin typeface="Arial"/>
                <a:ea typeface="Arial"/>
                <a:cs typeface="Arial"/>
              </a:defRPr>
            </a:pPr>
            <a:r>
              <a:rPr sz="1950" b="0">
                <a:solidFill>
                  <a:srgbClr val="16382E"/>
                </a:solidFill>
                <a:latin typeface="Arial"/>
                <a:ea typeface="Arial"/>
                <a:cs typeface="Arial"/>
              </a:rPr>
              <a:t>Quick Check und Ergebnisausgabe</a:t>
            </a:r>
          </a:p>
          <a:p xmlns:a="http://schemas.openxmlformats.org/drawingml/2006/main">
            <a:r>
              <a:t/>
            </a:r>
          </a:p>
          <a:p xmlns:a="http://schemas.openxmlformats.org/drawingml/2006/main">
            <a:pPr>
              <a:defRPr sz="1950" b="0">
                <a:solidFill>
                  <a:srgbClr val="16382E"/>
                </a:solidFill>
                <a:latin typeface="Arial"/>
                <a:ea typeface="Arial"/>
                <a:cs typeface="Arial"/>
              </a:defRPr>
            </a:pPr>
            <a:r>
              <a:rPr sz="1950" b="0">
                <a:solidFill>
                  <a:srgbClr val="16382E"/>
                </a:solidFill>
                <a:latin typeface="Arial"/>
                <a:ea typeface="Arial"/>
                <a:cs typeface="Arial"/>
              </a:rPr>
              <a:t>Profilbestand mit getrennten Freigaben</a:t>
            </a:r>
          </a:p>
          <a:p xmlns:a="http://schemas.openxmlformats.org/drawingml/2006/main">
            <a:r>
              <a:t/>
            </a:r>
          </a:p>
          <a:p xmlns:a="http://schemas.openxmlformats.org/drawingml/2006/main">
            <a:pPr>
              <a:defRPr sz="1950" b="0">
                <a:solidFill>
                  <a:srgbClr val="16382E"/>
                </a:solidFill>
                <a:latin typeface="Arial"/>
                <a:ea typeface="Arial"/>
                <a:cs typeface="Arial"/>
              </a:defRPr>
            </a:pPr>
            <a:r>
              <a:rPr sz="1950" b="0">
                <a:solidFill>
                  <a:srgbClr val="16382E"/>
                </a:solidFill>
                <a:latin typeface="Arial"/>
                <a:ea typeface="Arial"/>
                <a:cs typeface="Arial"/>
              </a:rPr>
              <a:t>Käuferabgleich zunächst durch Mergero</a:t>
            </a:r>
          </a:p>
          <a:p xmlns:a="http://schemas.openxmlformats.org/drawingml/2006/main">
            <a:r>
              <a:t/>
            </a:r>
          </a:p>
          <a:p xmlns:a="http://schemas.openxmlformats.org/drawingml/2006/main">
            <a:pPr>
              <a:defRPr sz="1950" b="0">
                <a:solidFill>
                  <a:srgbClr val="16382E"/>
                </a:solidFill>
                <a:latin typeface="Arial"/>
                <a:ea typeface="Arial"/>
                <a:cs typeface="Arial"/>
              </a:defRPr>
            </a:pPr>
            <a:r>
              <a:rPr sz="1950" b="0">
                <a:solidFill>
                  <a:srgbClr val="16382E"/>
                </a:solidFill>
                <a:latin typeface="Arial"/>
                <a:ea typeface="Arial"/>
                <a:cs typeface="Arial"/>
              </a:rPr>
              <a:t>Danach: KI-Anruf und Kultur-Chat</a:t>
            </a:r>
          </a:p>
        </p:txBody>
      </p:sp>
    </p:spTree>
    <p:extLst>
      <p:ext uri="{BB962C8B-B14F-4D97-AF65-F5344CB8AC3E}">
        <p14:creationId xmlns:p14="http://schemas.microsoft.com/office/powerpoint/2010/main" val="21264503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2026-09-26T20:58:24.6030000Z</dcterms:created>
  <dcterms:modified xsi:type="dcterms:W3CDTF">2026-09-26T20:58:24.6030000Z</dcterms:modified>
</coreProperties>
</file>