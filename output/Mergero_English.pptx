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2" r:id="rId7"/>
    <p:sldId id="263" r:id="rId8"/>
    <p:sldId id="264"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75" y="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Working title of the engine: Mergero Quick Check. Cover: conceptual illustration created with the built-in Imagegen tool. Prompt: ivory business campus connected by a mint ribbon to a dark green building, editorial sculptural illustration, no text. Asset: .mergero-build/cover.png.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The product name “Mergero Quick Check” is a proposal. Mergero benefits from a growing database of businesses with documented preferences.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Proposed user journey. Saving a profile and receiving future contact are separate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The three core inputs come from the description. Industry and location are additional suggestions. Contact details are collected for requested follow-up services.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Concept proposal: the valuation methodology, suitable comparison data and rules for special cases must be defined and checked before implementation. No figures or validated valuation models have been provided. The presentation therefore contains no invented values. The estimate is not a binding determination of a purchase price.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The conversation topics, scheduling and confirmation of the summary are proposals that make the requested AI calling service more concrete. The service is optional.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The culture text and the approximate length of 500 words come from the description. Confirmation and sharing approval are process proposals. Buyers see a labelled self-assessment, not an independent culture assessment.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Prioritisation is an implementation proposal. Matching is initially intended to be manual to learn the requirements. Success can be assessed through completed checks, saved profiles, contact opt-ins and conversations arranged. No performance or revenue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F2A"/>
        </a:solidFill>
        <a:effectLst/>
      </p:bgPr>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CCB77EDD-C3D9-431C-B87F-9F34A5DAC749}"/>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F4F2EA"/>
                </a:solidFill>
                <a:latin typeface="Arial"/>
                <a:ea typeface="Arial"/>
                <a:cs typeface="Arial"/>
              </a:defRPr>
            </a:pPr>
            <a:r>
              <a:rPr sz="3450" b="1">
                <a:solidFill>
                  <a:srgbClr val="F4F2EA"/>
                </a:solidFill>
                <a:latin typeface="Arial"/>
                <a:ea typeface="Arial"/>
                <a:cs typeface="Arial"/>
              </a:rPr>
              <a:t>Mergero</a:t>
            </a:r>
          </a:p>
        </p:txBody>
      </p:sp>
      <p:sp>
        <p:nvSpPr>
          <p:cNvPr id="2" name="Rechteck 1">
            <a:extLst>
              <a:ext uri="{FF2B5EF4-FFF2-40B4-BE49-F238E27FC236}">
                <a16:creationId xmlns:a16="http://schemas.microsoft.com/office/drawing/2014/main" id="{F6895AC0-043D-480E-AE50-16D9E3DF1A24}"/>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B9DEC7"/>
                </a:solidFill>
                <a:latin typeface="Arial"/>
                <a:ea typeface="Arial"/>
                <a:cs typeface="Arial"/>
              </a:defRPr>
            </a:pPr>
            <a:r>
              <a:rPr sz="1200" b="1">
                <a:solidFill>
                  <a:srgbClr val="B9DEC7"/>
                </a:solidFill>
                <a:latin typeface="Arial"/>
                <a:ea typeface="Arial"/>
                <a:cs typeface="Arial"/>
              </a:rPr>
              <a:t>MERGERO</a:t>
            </a:r>
          </a:p>
        </p:txBody>
      </p:sp>
      <p:sp>
        <p:nvSpPr>
          <p:cNvPr id="3" name="Rechteck 2">
            <a:extLst>
              <a:ext uri="{FF2B5EF4-FFF2-40B4-BE49-F238E27FC236}">
                <a16:creationId xmlns:a16="http://schemas.microsoft.com/office/drawing/2014/main" id="{5496B38F-B654-46E3-BD89-3A507BD12F4B}"/>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B9DEC7"/>
                </a:solidFill>
                <a:latin typeface="Arial"/>
                <a:ea typeface="Arial"/>
                <a:cs typeface="Arial"/>
              </a:defRPr>
            </a:pPr>
            <a:r>
              <a:rPr sz="1350" b="0">
                <a:solidFill>
                  <a:srgbClr val="B9DEC7"/>
                </a:solidFill>
                <a:latin typeface="Arial"/>
                <a:ea typeface="Arial"/>
                <a:cs typeface="Arial"/>
              </a:rPr>
              <a:t>01</a:t>
            </a:r>
          </a:p>
        </p:txBody>
      </p:sp>
      <p:pic>
        <p:nvPicPr>
          <p:cNvPr id="12" name="Grafik 11"/>
          <p:cNvPicPr>
            <a:picLocks noChangeAspect="1"/>
          </p:cNvPicPr>
          <p:nvPr/>
        </p:nvPicPr>
        <p:blipFill>
          <a:blip r:embed="rId3"/>
          <a:srcRect t="3555" b="3555"/>
          <a:stretch>
            <a:fillRect/>
          </a:stretch>
        </p:blipFill>
        <p:spPr>
          <a:xfrm>
            <a:off x="6858000" y="0"/>
            <a:ext cx="5334000" cy="6191250"/>
          </a:xfrm>
          <a:prstGeom prst="rect">
            <a:avLst/>
          </a:prstGeom>
        </p:spPr>
      </p:pic>
      <p:sp>
        <p:nvSpPr>
          <p:cNvPr id="5" name="Rechteck 4">
            <a:extLst>
              <a:ext uri="{FF2B5EF4-FFF2-40B4-BE49-F238E27FC236}">
                <a16:creationId xmlns:a16="http://schemas.microsoft.com/office/drawing/2014/main" id="{915DBA00-8DB4-48B5-B1A9-CC65C71A19B2}"/>
              </a:ext>
            </a:extLst>
          </p:cNvPr>
          <p:cNvSpPr>
            <a:spLocks noGrp="1"/>
          </p:cNvSpPr>
          <p:nvPr/>
        </p:nvSpPr>
        <p:spPr>
          <a:xfrm>
            <a:off x="685800" y="2238375"/>
            <a:ext cx="6381750" cy="1476375"/>
          </a:xfrm>
          <a:prstGeom prst="rect">
            <a:avLst/>
          </a:prstGeom>
          <a:noFill/>
          <a:ln w="0">
            <a:noFill/>
          </a:ln>
        </p:spPr>
        <p:txBody>
          <a:bodyPr>
            <a:noAutofit/>
          </a:bodyPr>
          <a:lstStyle/>
          <a:p>
            <a:pPr>
              <a:buNone/>
              <a:defRPr sz="3825" b="1">
                <a:solidFill>
                  <a:srgbClr val="F4F2EA"/>
                </a:solidFill>
                <a:latin typeface="Arial"/>
                <a:ea typeface="Arial"/>
                <a:cs typeface="Arial"/>
              </a:defRPr>
            </a:pPr>
            <a:r>
              <a:rPr sz="3825" b="1">
                <a:solidFill>
                  <a:srgbClr val="F4F2EA"/>
                </a:solidFill>
                <a:latin typeface="Arial"/>
                <a:ea typeface="Arial"/>
                <a:cs typeface="Arial"/>
              </a:rPr>
              <a:t>Assess your business.</a:t>
            </a:r>
          </a:p>
          <a:p>
            <a:pPr>
              <a:buNone/>
              <a:defRPr sz="3825" b="1">
                <a:solidFill>
                  <a:srgbClr val="F4F2EA"/>
                </a:solidFill>
                <a:latin typeface="Arial"/>
                <a:ea typeface="Arial"/>
                <a:cs typeface="Arial"/>
              </a:defRPr>
            </a:pPr>
            <a:r>
              <a:rPr sz="3825" b="1">
                <a:solidFill>
                  <a:srgbClr val="F4F2EA"/>
                </a:solidFill>
                <a:latin typeface="Arial"/>
                <a:ea typeface="Arial"/>
                <a:cs typeface="Arial"/>
              </a:rPr>
              <a:t>Meet potential buyers.</a:t>
            </a:r>
          </a:p>
        </p:txBody>
      </p:sp>
      <p:sp>
        <p:nvSpPr>
          <p:cNvPr id="6" name="Rechteck 5">
            <a:extLst>
              <a:ext uri="{FF2B5EF4-FFF2-40B4-BE49-F238E27FC236}">
                <a16:creationId xmlns:a16="http://schemas.microsoft.com/office/drawing/2014/main" id="{A14FF481-AAF7-423A-B90D-107180934C29}"/>
              </a:ext>
            </a:extLst>
          </p:cNvPr>
          <p:cNvSpPr>
            <a:spLocks noGrp="1"/>
          </p:cNvSpPr>
          <p:nvPr/>
        </p:nvSpPr>
        <p:spPr>
          <a:xfrm>
            <a:off x="685800" y="4143375"/>
            <a:ext cx="6048375" cy="1047750"/>
          </a:xfrm>
          <a:prstGeom prst="rect">
            <a:avLst/>
          </a:prstGeom>
          <a:noFill/>
          <a:ln w="0">
            <a:noFill/>
          </a:ln>
        </p:spPr>
        <p:txBody>
          <a:bodyPr>
            <a:noAutofit/>
          </a:bodyPr>
          <a:lstStyle/>
          <a:p>
            <a:pPr>
              <a:buNone/>
              <a:defRPr sz="2100" b="0">
                <a:solidFill>
                  <a:srgbClr val="B9DEC7"/>
                </a:solidFill>
                <a:latin typeface="Arial"/>
                <a:ea typeface="Arial"/>
                <a:cs typeface="Arial"/>
              </a:defRPr>
            </a:pPr>
            <a:r>
              <a:rPr sz="2100" b="0">
                <a:solidFill>
                  <a:srgbClr val="B9DEC7"/>
                </a:solidFill>
                <a:latin typeface="Arial"/>
                <a:ea typeface="Arial"/>
                <a:cs typeface="Arial"/>
              </a:rPr>
              <a:t>A quick business check as a first step</a:t>
            </a:r>
          </a:p>
          <a:p>
            <a:pPr>
              <a:buNone/>
              <a:defRPr sz="2100" b="0">
                <a:solidFill>
                  <a:srgbClr val="B9DEC7"/>
                </a:solidFill>
                <a:latin typeface="Arial"/>
                <a:ea typeface="Arial"/>
                <a:cs typeface="Arial"/>
              </a:defRPr>
            </a:pPr>
            <a:r>
              <a:rPr sz="2100" b="0">
                <a:solidFill>
                  <a:srgbClr val="B9DEC7"/>
                </a:solidFill>
                <a:latin typeface="Arial"/>
                <a:ea typeface="Arial"/>
                <a:cs typeface="Arial"/>
              </a:rPr>
              <a:t>towards a potential business succession.</a:t>
            </a:r>
          </a:p>
        </p:txBody>
      </p:sp>
    </p:spTree>
    <p:extLst>
      <p:ext uri="{BB962C8B-B14F-4D97-AF65-F5344CB8AC3E}">
        <p14:creationId xmlns:p14="http://schemas.microsoft.com/office/powerpoint/2010/main" val="388147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E5ED9FC5-7A6E-40DA-995A-9B984BC45666}"/>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The solution: Mergero Quick Check</a:t>
            </a:r>
          </a:p>
        </p:txBody>
      </p:sp>
      <p:sp>
        <p:nvSpPr>
          <p:cNvPr id="2" name="Rechteck 1">
            <a:extLst>
              <a:ext uri="{FF2B5EF4-FFF2-40B4-BE49-F238E27FC236}">
                <a16:creationId xmlns:a16="http://schemas.microsoft.com/office/drawing/2014/main" id="{B7D23E57-A3A6-46EF-AB61-DF5F2D8C3D3D}"/>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0949356A-C421-4EA5-95A9-F056AC77BFF5}"/>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02</a:t>
            </a:r>
          </a:p>
        </p:txBody>
      </p:sp>
      <p:sp>
        <p:nvSpPr>
          <p:cNvPr id="4" name="Rechteck 3">
            <a:extLst>
              <a:ext uri="{FF2B5EF4-FFF2-40B4-BE49-F238E27FC236}">
                <a16:creationId xmlns:a16="http://schemas.microsoft.com/office/drawing/2014/main" id="{380642EC-3930-46F7-AD82-8321CE006E83}"/>
              </a:ext>
            </a:extLst>
          </p:cNvPr>
          <p:cNvSpPr>
            <a:spLocks noGrp="1"/>
          </p:cNvSpPr>
          <p:nvPr/>
        </p:nvSpPr>
        <p:spPr>
          <a:xfrm>
            <a:off x="68580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01</a:t>
            </a:r>
          </a:p>
        </p:txBody>
      </p:sp>
      <p:sp>
        <p:nvSpPr>
          <p:cNvPr id="5" name="Rechteck 4">
            <a:extLst>
              <a:ext uri="{FF2B5EF4-FFF2-40B4-BE49-F238E27FC236}">
                <a16:creationId xmlns:a16="http://schemas.microsoft.com/office/drawing/2014/main" id="{516227D8-9358-43B7-9C11-D2626C71D38A}"/>
              </a:ext>
            </a:extLst>
          </p:cNvPr>
          <p:cNvSpPr>
            <a:spLocks noGrp="1"/>
          </p:cNvSpPr>
          <p:nvPr/>
        </p:nvSpPr>
        <p:spPr>
          <a:xfrm>
            <a:off x="68580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Easy to get started</a:t>
            </a:r>
          </a:p>
        </p:txBody>
      </p:sp>
      <p:sp>
        <p:nvSpPr>
          <p:cNvPr id="6" name="Rechteck 5">
            <a:extLst>
              <a:ext uri="{FF2B5EF4-FFF2-40B4-BE49-F238E27FC236}">
                <a16:creationId xmlns:a16="http://schemas.microsoft.com/office/drawing/2014/main" id="{182465DE-FA6C-455B-9CFA-08201D3712EB}"/>
              </a:ext>
            </a:extLst>
          </p:cNvPr>
          <p:cNvSpPr>
            <a:spLocks noGrp="1"/>
          </p:cNvSpPr>
          <p:nvPr/>
        </p:nvSpPr>
        <p:spPr>
          <a:xfrm>
            <a:off x="68580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A short online tool for business owners. Easy to share via a direct link and use in outreach.</a:t>
            </a:r>
          </a:p>
        </p:txBody>
      </p:sp>
      <p:sp>
        <p:nvSpPr>
          <p:cNvPr id="7" name="Rechteck 6">
            <a:extLst>
              <a:ext uri="{FF2B5EF4-FFF2-40B4-BE49-F238E27FC236}">
                <a16:creationId xmlns:a16="http://schemas.microsoft.com/office/drawing/2014/main" id="{E7EF952D-3EE2-4637-8B8A-51E6975587A4}"/>
              </a:ext>
            </a:extLst>
          </p:cNvPr>
          <p:cNvSpPr>
            <a:spLocks noGrp="1"/>
          </p:cNvSpPr>
          <p:nvPr/>
        </p:nvSpPr>
        <p:spPr>
          <a:xfrm>
            <a:off x="440055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02</a:t>
            </a:r>
          </a:p>
        </p:txBody>
      </p:sp>
      <p:sp>
        <p:nvSpPr>
          <p:cNvPr id="8" name="Rechteck 7">
            <a:extLst>
              <a:ext uri="{FF2B5EF4-FFF2-40B4-BE49-F238E27FC236}">
                <a16:creationId xmlns:a16="http://schemas.microsoft.com/office/drawing/2014/main" id="{CE5FDF50-C3FB-4DEB-92A2-54792B25F080}"/>
              </a:ext>
            </a:extLst>
          </p:cNvPr>
          <p:cNvSpPr>
            <a:spLocks noGrp="1"/>
          </p:cNvSpPr>
          <p:nvPr/>
        </p:nvSpPr>
        <p:spPr>
          <a:xfrm>
            <a:off x="440055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Immediate value</a:t>
            </a:r>
          </a:p>
        </p:txBody>
      </p:sp>
      <p:sp>
        <p:nvSpPr>
          <p:cNvPr id="9" name="Rechteck 8">
            <a:extLst>
              <a:ext uri="{FF2B5EF4-FFF2-40B4-BE49-F238E27FC236}">
                <a16:creationId xmlns:a16="http://schemas.microsoft.com/office/drawing/2014/main" id="{1D35F324-9093-4FF1-B3D9-5C0E208DC0A4}"/>
              </a:ext>
            </a:extLst>
          </p:cNvPr>
          <p:cNvSpPr>
            <a:spLocks noGrp="1"/>
          </p:cNvSpPr>
          <p:nvPr/>
        </p:nvSpPr>
        <p:spPr>
          <a:xfrm>
            <a:off x="440055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A few details provide an initial rough estimate of the business value.</a:t>
            </a:r>
          </a:p>
        </p:txBody>
      </p:sp>
      <p:sp>
        <p:nvSpPr>
          <p:cNvPr id="10" name="Rechteck 9">
            <a:extLst>
              <a:ext uri="{FF2B5EF4-FFF2-40B4-BE49-F238E27FC236}">
                <a16:creationId xmlns:a16="http://schemas.microsoft.com/office/drawing/2014/main" id="{81DB5349-306D-4440-915B-18DD8B91637A}"/>
              </a:ext>
            </a:extLst>
          </p:cNvPr>
          <p:cNvSpPr>
            <a:spLocks noGrp="1"/>
          </p:cNvSpPr>
          <p:nvPr/>
        </p:nvSpPr>
        <p:spPr>
          <a:xfrm>
            <a:off x="811530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03</a:t>
            </a:r>
          </a:p>
        </p:txBody>
      </p:sp>
      <p:sp>
        <p:nvSpPr>
          <p:cNvPr id="11" name="Rechteck 10">
            <a:extLst>
              <a:ext uri="{FF2B5EF4-FFF2-40B4-BE49-F238E27FC236}">
                <a16:creationId xmlns:a16="http://schemas.microsoft.com/office/drawing/2014/main" id="{53EA1851-FEE4-4EAE-B27D-173272B2461D}"/>
              </a:ext>
            </a:extLst>
          </p:cNvPr>
          <p:cNvSpPr>
            <a:spLocks noGrp="1"/>
          </p:cNvSpPr>
          <p:nvPr/>
        </p:nvSpPr>
        <p:spPr>
          <a:xfrm>
            <a:off x="811530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Optional introductions</a:t>
            </a:r>
          </a:p>
        </p:txBody>
      </p:sp>
      <p:sp>
        <p:nvSpPr>
          <p:cNvPr id="12" name="Rechteck 11">
            <a:extLst>
              <a:ext uri="{FF2B5EF4-FFF2-40B4-BE49-F238E27FC236}">
                <a16:creationId xmlns:a16="http://schemas.microsoft.com/office/drawing/2014/main" id="{606A63A8-7AD1-4660-8D2C-605F96CF2386}"/>
              </a:ext>
            </a:extLst>
          </p:cNvPr>
          <p:cNvSpPr>
            <a:spLocks noGrp="1"/>
          </p:cNvSpPr>
          <p:nvPr/>
        </p:nvSpPr>
        <p:spPr>
          <a:xfrm>
            <a:off x="811530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Interested businesses can save a profile and meet suitable buyers.</a:t>
            </a:r>
          </a:p>
        </p:txBody>
      </p:sp>
    </p:spTree>
    <p:extLst>
      <p:ext uri="{BB962C8B-B14F-4D97-AF65-F5344CB8AC3E}">
        <p14:creationId xmlns:p14="http://schemas.microsoft.com/office/powerpoint/2010/main" val="952428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DB9875BB-D425-47AD-9D09-5E773FD18D1E}"/>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The journey through the tool</a:t>
            </a:r>
          </a:p>
        </p:txBody>
      </p:sp>
      <p:sp>
        <p:nvSpPr>
          <p:cNvPr id="2" name="Rechteck 1">
            <a:extLst>
              <a:ext uri="{FF2B5EF4-FFF2-40B4-BE49-F238E27FC236}">
                <a16:creationId xmlns:a16="http://schemas.microsoft.com/office/drawing/2014/main" id="{FA4304B0-6543-44EF-90EA-5461BA5AD83C}"/>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F8C62405-F7D4-4546-80D2-F786FA83D36A}"/>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03</a:t>
            </a:r>
          </a:p>
        </p:txBody>
      </p:sp>
      <p:sp>
        <p:nvSpPr>
          <p:cNvPr id="4" name="Rechteck 3">
            <a:extLst>
              <a:ext uri="{FF2B5EF4-FFF2-40B4-BE49-F238E27FC236}">
                <a16:creationId xmlns:a16="http://schemas.microsoft.com/office/drawing/2014/main" id="{30F066ED-2783-426C-9309-9DFC5C08DF69}"/>
              </a:ext>
            </a:extLst>
          </p:cNvPr>
          <p:cNvSpPr>
            <a:spLocks noGrp="1"/>
          </p:cNvSpPr>
          <p:nvPr/>
        </p:nvSpPr>
        <p:spPr>
          <a:xfrm>
            <a:off x="685800" y="1828800"/>
            <a:ext cx="666750" cy="571500"/>
          </a:xfrm>
          <a:prstGeom prst="rect">
            <a:avLst/>
          </a:prstGeom>
          <a:noFill/>
          <a:ln w="0">
            <a:noFill/>
          </a:ln>
        </p:spPr>
        <p:txBody>
          <a:bodyPr>
            <a:noAutofit/>
          </a:bodyPr>
          <a:lstStyle/>
          <a:p>
            <a:pPr>
              <a:buNone/>
              <a:defRPr sz="2925" b="1">
                <a:solidFill>
                  <a:srgbClr val="536B60"/>
                </a:solidFill>
                <a:latin typeface="Arial"/>
                <a:ea typeface="Arial"/>
                <a:cs typeface="Arial"/>
              </a:defRPr>
            </a:pPr>
            <a:r>
              <a:rPr sz="2925" b="1">
                <a:solidFill>
                  <a:srgbClr val="536B60"/>
                </a:solidFill>
                <a:latin typeface="Arial"/>
                <a:ea typeface="Arial"/>
                <a:cs typeface="Arial"/>
              </a:rPr>
              <a:t>1</a:t>
            </a:r>
          </a:p>
        </p:txBody>
      </p:sp>
      <p:sp>
        <p:nvSpPr>
          <p:cNvPr id="5" name="Rechteck 4">
            <a:extLst>
              <a:ext uri="{FF2B5EF4-FFF2-40B4-BE49-F238E27FC236}">
                <a16:creationId xmlns:a16="http://schemas.microsoft.com/office/drawing/2014/main" id="{E132CC27-FB9E-4FAF-93F7-4EC37895018F}"/>
              </a:ext>
            </a:extLst>
          </p:cNvPr>
          <p:cNvSpPr>
            <a:spLocks noGrp="1"/>
          </p:cNvSpPr>
          <p:nvPr/>
        </p:nvSpPr>
        <p:spPr>
          <a:xfrm>
            <a:off x="1524000" y="1828800"/>
            <a:ext cx="385762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Open the invitation</a:t>
            </a:r>
          </a:p>
        </p:txBody>
      </p:sp>
      <p:sp>
        <p:nvSpPr>
          <p:cNvPr id="6" name="Rechteck 5">
            <a:extLst>
              <a:ext uri="{FF2B5EF4-FFF2-40B4-BE49-F238E27FC236}">
                <a16:creationId xmlns:a16="http://schemas.microsoft.com/office/drawing/2014/main" id="{92F5DB80-D8F4-4B3F-90E5-AF340A84A79C}"/>
              </a:ext>
            </a:extLst>
          </p:cNvPr>
          <p:cNvSpPr>
            <a:spLocks noGrp="1"/>
          </p:cNvSpPr>
          <p:nvPr/>
        </p:nvSpPr>
        <p:spPr>
          <a:xfrm>
            <a:off x="5667375" y="1828800"/>
            <a:ext cx="5810250" cy="7429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A brief benefit statement and a direct link to the check.</a:t>
            </a:r>
          </a:p>
        </p:txBody>
      </p:sp>
      <p:sp>
        <p:nvSpPr>
          <p:cNvPr id="7" name="Rechteck 6">
            <a:extLst>
              <a:ext uri="{FF2B5EF4-FFF2-40B4-BE49-F238E27FC236}">
                <a16:creationId xmlns:a16="http://schemas.microsoft.com/office/drawing/2014/main" id="{8750F2C5-90C0-4F8A-8716-E4895C323A22}"/>
              </a:ext>
            </a:extLst>
          </p:cNvPr>
          <p:cNvSpPr>
            <a:spLocks noGrp="1"/>
          </p:cNvSpPr>
          <p:nvPr/>
        </p:nvSpPr>
        <p:spPr>
          <a:xfrm>
            <a:off x="685800" y="2847975"/>
            <a:ext cx="666750" cy="571500"/>
          </a:xfrm>
          <a:prstGeom prst="rect">
            <a:avLst/>
          </a:prstGeom>
          <a:noFill/>
          <a:ln w="0">
            <a:noFill/>
          </a:ln>
        </p:spPr>
        <p:txBody>
          <a:bodyPr>
            <a:noAutofit/>
          </a:bodyPr>
          <a:lstStyle/>
          <a:p>
            <a:pPr>
              <a:buNone/>
              <a:defRPr sz="2925" b="1">
                <a:solidFill>
                  <a:srgbClr val="536B60"/>
                </a:solidFill>
                <a:latin typeface="Arial"/>
                <a:ea typeface="Arial"/>
                <a:cs typeface="Arial"/>
              </a:defRPr>
            </a:pPr>
            <a:r>
              <a:rPr sz="2925" b="1">
                <a:solidFill>
                  <a:srgbClr val="536B60"/>
                </a:solidFill>
                <a:latin typeface="Arial"/>
                <a:ea typeface="Arial"/>
                <a:cs typeface="Arial"/>
              </a:rPr>
              <a:t>2</a:t>
            </a:r>
          </a:p>
        </p:txBody>
      </p:sp>
      <p:sp>
        <p:nvSpPr>
          <p:cNvPr id="8" name="Rechteck 7">
            <a:extLst>
              <a:ext uri="{FF2B5EF4-FFF2-40B4-BE49-F238E27FC236}">
                <a16:creationId xmlns:a16="http://schemas.microsoft.com/office/drawing/2014/main" id="{49F5100A-E2C9-4DCF-A9D2-8BFA2D3C3EB9}"/>
              </a:ext>
            </a:extLst>
          </p:cNvPr>
          <p:cNvSpPr>
            <a:spLocks noGrp="1"/>
          </p:cNvSpPr>
          <p:nvPr/>
        </p:nvSpPr>
        <p:spPr>
          <a:xfrm>
            <a:off x="1524000" y="2847975"/>
            <a:ext cx="385762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Enter basic data</a:t>
            </a:r>
          </a:p>
        </p:txBody>
      </p:sp>
      <p:sp>
        <p:nvSpPr>
          <p:cNvPr id="9" name="Rechteck 8">
            <a:extLst>
              <a:ext uri="{FF2B5EF4-FFF2-40B4-BE49-F238E27FC236}">
                <a16:creationId xmlns:a16="http://schemas.microsoft.com/office/drawing/2014/main" id="{23168B6B-FA60-484F-A782-EFE77686E501}"/>
              </a:ext>
            </a:extLst>
          </p:cNvPr>
          <p:cNvSpPr>
            <a:spLocks noGrp="1"/>
          </p:cNvSpPr>
          <p:nvPr/>
        </p:nvSpPr>
        <p:spPr>
          <a:xfrm>
            <a:off x="5667375" y="2847975"/>
            <a:ext cx="5810250" cy="7429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Provide figures the owner can quickly access.</a:t>
            </a:r>
          </a:p>
        </p:txBody>
      </p:sp>
      <p:sp>
        <p:nvSpPr>
          <p:cNvPr id="10" name="Rechteck 9">
            <a:extLst>
              <a:ext uri="{FF2B5EF4-FFF2-40B4-BE49-F238E27FC236}">
                <a16:creationId xmlns:a16="http://schemas.microsoft.com/office/drawing/2014/main" id="{8AD376C9-2F93-4184-A690-001A5ACD7FC5}"/>
              </a:ext>
            </a:extLst>
          </p:cNvPr>
          <p:cNvSpPr>
            <a:spLocks noGrp="1"/>
          </p:cNvSpPr>
          <p:nvPr/>
        </p:nvSpPr>
        <p:spPr>
          <a:xfrm>
            <a:off x="685800" y="3867150"/>
            <a:ext cx="666750" cy="571500"/>
          </a:xfrm>
          <a:prstGeom prst="rect">
            <a:avLst/>
          </a:prstGeom>
          <a:noFill/>
          <a:ln w="0">
            <a:noFill/>
          </a:ln>
        </p:spPr>
        <p:txBody>
          <a:bodyPr>
            <a:noAutofit/>
          </a:bodyPr>
          <a:lstStyle/>
          <a:p>
            <a:pPr>
              <a:buNone/>
              <a:defRPr sz="2925" b="1">
                <a:solidFill>
                  <a:srgbClr val="536B60"/>
                </a:solidFill>
                <a:latin typeface="Arial"/>
                <a:ea typeface="Arial"/>
                <a:cs typeface="Arial"/>
              </a:defRPr>
            </a:pPr>
            <a:r>
              <a:rPr sz="2925" b="1">
                <a:solidFill>
                  <a:srgbClr val="536B60"/>
                </a:solidFill>
                <a:latin typeface="Arial"/>
                <a:ea typeface="Arial"/>
                <a:cs typeface="Arial"/>
              </a:rPr>
              <a:t>3</a:t>
            </a:r>
          </a:p>
        </p:txBody>
      </p:sp>
      <p:sp>
        <p:nvSpPr>
          <p:cNvPr id="11" name="Rechteck 10">
            <a:extLst>
              <a:ext uri="{FF2B5EF4-FFF2-40B4-BE49-F238E27FC236}">
                <a16:creationId xmlns:a16="http://schemas.microsoft.com/office/drawing/2014/main" id="{7FA42AE4-E753-4149-9179-5969F2F954C8}"/>
              </a:ext>
            </a:extLst>
          </p:cNvPr>
          <p:cNvSpPr>
            <a:spLocks noGrp="1"/>
          </p:cNvSpPr>
          <p:nvPr/>
        </p:nvSpPr>
        <p:spPr>
          <a:xfrm>
            <a:off x="1524000" y="3867150"/>
            <a:ext cx="385762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Get an estimate</a:t>
            </a:r>
          </a:p>
        </p:txBody>
      </p:sp>
      <p:sp>
        <p:nvSpPr>
          <p:cNvPr id="12" name="Rechteck 11">
            <a:extLst>
              <a:ext uri="{FF2B5EF4-FFF2-40B4-BE49-F238E27FC236}">
                <a16:creationId xmlns:a16="http://schemas.microsoft.com/office/drawing/2014/main" id="{51B87D3E-11F4-4DF8-830F-CA828D9317B9}"/>
              </a:ext>
            </a:extLst>
          </p:cNvPr>
          <p:cNvSpPr>
            <a:spLocks noGrp="1"/>
          </p:cNvSpPr>
          <p:nvPr/>
        </p:nvSpPr>
        <p:spPr>
          <a:xfrm>
            <a:off x="5667375" y="3867150"/>
            <a:ext cx="5810250" cy="7429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A rough value range with assumptions and open questions.</a:t>
            </a:r>
          </a:p>
        </p:txBody>
      </p:sp>
      <p:sp>
        <p:nvSpPr>
          <p:cNvPr id="13" name="Rechteck 12">
            <a:extLst>
              <a:ext uri="{FF2B5EF4-FFF2-40B4-BE49-F238E27FC236}">
                <a16:creationId xmlns:a16="http://schemas.microsoft.com/office/drawing/2014/main" id="{AA30A34E-805D-45CF-846E-9D1A541DCB67}"/>
              </a:ext>
            </a:extLst>
          </p:cNvPr>
          <p:cNvSpPr>
            <a:spLocks noGrp="1"/>
          </p:cNvSpPr>
          <p:nvPr/>
        </p:nvSpPr>
        <p:spPr>
          <a:xfrm>
            <a:off x="685800" y="4886325"/>
            <a:ext cx="666750" cy="571500"/>
          </a:xfrm>
          <a:prstGeom prst="rect">
            <a:avLst/>
          </a:prstGeom>
          <a:noFill/>
          <a:ln w="0">
            <a:noFill/>
          </a:ln>
        </p:spPr>
        <p:txBody>
          <a:bodyPr>
            <a:noAutofit/>
          </a:bodyPr>
          <a:lstStyle/>
          <a:p>
            <a:pPr>
              <a:buNone/>
              <a:defRPr sz="2925" b="1">
                <a:solidFill>
                  <a:srgbClr val="536B60"/>
                </a:solidFill>
                <a:latin typeface="Arial"/>
                <a:ea typeface="Arial"/>
                <a:cs typeface="Arial"/>
              </a:defRPr>
            </a:pPr>
            <a:r>
              <a:rPr sz="2925" b="1">
                <a:solidFill>
                  <a:srgbClr val="536B60"/>
                </a:solidFill>
                <a:latin typeface="Arial"/>
                <a:ea typeface="Arial"/>
                <a:cs typeface="Arial"/>
              </a:rPr>
              <a:t>4</a:t>
            </a:r>
          </a:p>
        </p:txBody>
      </p:sp>
      <p:sp>
        <p:nvSpPr>
          <p:cNvPr id="14" name="Rechteck 13">
            <a:extLst>
              <a:ext uri="{FF2B5EF4-FFF2-40B4-BE49-F238E27FC236}">
                <a16:creationId xmlns:a16="http://schemas.microsoft.com/office/drawing/2014/main" id="{2A4BE777-7332-440C-908A-A01BBDE5DA5B}"/>
              </a:ext>
            </a:extLst>
          </p:cNvPr>
          <p:cNvSpPr>
            <a:spLocks noGrp="1"/>
          </p:cNvSpPr>
          <p:nvPr/>
        </p:nvSpPr>
        <p:spPr>
          <a:xfrm>
            <a:off x="1524000" y="4886325"/>
            <a:ext cx="385762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Choose the next step</a:t>
            </a:r>
          </a:p>
        </p:txBody>
      </p:sp>
      <p:sp>
        <p:nvSpPr>
          <p:cNvPr id="15" name="Rechteck 14">
            <a:extLst>
              <a:ext uri="{FF2B5EF4-FFF2-40B4-BE49-F238E27FC236}">
                <a16:creationId xmlns:a16="http://schemas.microsoft.com/office/drawing/2014/main" id="{736F7A8A-7D01-4D58-9AB9-8B9DFD3D5778}"/>
              </a:ext>
            </a:extLst>
          </p:cNvPr>
          <p:cNvSpPr>
            <a:spLocks noGrp="1"/>
          </p:cNvSpPr>
          <p:nvPr/>
        </p:nvSpPr>
        <p:spPr>
          <a:xfrm>
            <a:off x="5667375" y="4886325"/>
            <a:ext cx="5810250" cy="7429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Save a profile, request a call or finish the check.</a:t>
            </a:r>
          </a:p>
        </p:txBody>
      </p:sp>
    </p:spTree>
    <p:extLst>
      <p:ext uri="{BB962C8B-B14F-4D97-AF65-F5344CB8AC3E}">
        <p14:creationId xmlns:p14="http://schemas.microsoft.com/office/powerpoint/2010/main" val="393428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E34BEA2B-4263-4149-AC33-4D556FE72950}"/>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A few details for an initial estimate</a:t>
            </a:r>
          </a:p>
        </p:txBody>
      </p:sp>
      <p:sp>
        <p:nvSpPr>
          <p:cNvPr id="2" name="Rechteck 1">
            <a:extLst>
              <a:ext uri="{FF2B5EF4-FFF2-40B4-BE49-F238E27FC236}">
                <a16:creationId xmlns:a16="http://schemas.microsoft.com/office/drawing/2014/main" id="{DC5E1A7B-F76E-4328-9C8F-52A2791A50CE}"/>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8526182F-C963-4B6E-A7A4-0F41360A631F}"/>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04</a:t>
            </a:r>
          </a:p>
        </p:txBody>
      </p:sp>
      <p:sp>
        <p:nvSpPr>
          <p:cNvPr id="4" name="Rechteck 3">
            <a:extLst>
              <a:ext uri="{FF2B5EF4-FFF2-40B4-BE49-F238E27FC236}">
                <a16:creationId xmlns:a16="http://schemas.microsoft.com/office/drawing/2014/main" id="{86A87D45-52A5-4432-A51D-F14D03E80AD8}"/>
              </a:ext>
            </a:extLst>
          </p:cNvPr>
          <p:cNvSpPr>
            <a:spLocks noGrp="1"/>
          </p:cNvSpPr>
          <p:nvPr/>
        </p:nvSpPr>
        <p:spPr>
          <a:xfrm>
            <a:off x="68580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5" name="Rechteck 4">
            <a:extLst>
              <a:ext uri="{FF2B5EF4-FFF2-40B4-BE49-F238E27FC236}">
                <a16:creationId xmlns:a16="http://schemas.microsoft.com/office/drawing/2014/main" id="{D44B8FFF-9439-409D-84AE-B78B0612C237}"/>
              </a:ext>
            </a:extLst>
          </p:cNvPr>
          <p:cNvSpPr>
            <a:spLocks noGrp="1"/>
          </p:cNvSpPr>
          <p:nvPr/>
        </p:nvSpPr>
        <p:spPr>
          <a:xfrm>
            <a:off x="68580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Revenue</a:t>
            </a:r>
          </a:p>
        </p:txBody>
      </p:sp>
      <p:sp>
        <p:nvSpPr>
          <p:cNvPr id="6" name="Rechteck 5">
            <a:extLst>
              <a:ext uri="{FF2B5EF4-FFF2-40B4-BE49-F238E27FC236}">
                <a16:creationId xmlns:a16="http://schemas.microsoft.com/office/drawing/2014/main" id="{D02D170D-15FD-4DDB-805E-DC86477B18EA}"/>
              </a:ext>
            </a:extLst>
          </p:cNvPr>
          <p:cNvSpPr>
            <a:spLocks noGrp="1"/>
          </p:cNvSpPr>
          <p:nvPr/>
        </p:nvSpPr>
        <p:spPr>
          <a:xfrm>
            <a:off x="68580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Revenue for the last completed financial year. Specify the period and currency.</a:t>
            </a:r>
          </a:p>
        </p:txBody>
      </p:sp>
      <p:sp>
        <p:nvSpPr>
          <p:cNvPr id="7" name="Rechteck 6">
            <a:extLst>
              <a:ext uri="{FF2B5EF4-FFF2-40B4-BE49-F238E27FC236}">
                <a16:creationId xmlns:a16="http://schemas.microsoft.com/office/drawing/2014/main" id="{6D172439-A03F-49F7-B2BC-B94F45963A53}"/>
              </a:ext>
            </a:extLst>
          </p:cNvPr>
          <p:cNvSpPr>
            <a:spLocks noGrp="1"/>
          </p:cNvSpPr>
          <p:nvPr/>
        </p:nvSpPr>
        <p:spPr>
          <a:xfrm>
            <a:off x="440055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8" name="Rechteck 7">
            <a:extLst>
              <a:ext uri="{FF2B5EF4-FFF2-40B4-BE49-F238E27FC236}">
                <a16:creationId xmlns:a16="http://schemas.microsoft.com/office/drawing/2014/main" id="{9F683D84-6315-4E12-AA68-C8FEA04E648C}"/>
              </a:ext>
            </a:extLst>
          </p:cNvPr>
          <p:cNvSpPr>
            <a:spLocks noGrp="1"/>
          </p:cNvSpPr>
          <p:nvPr/>
        </p:nvSpPr>
        <p:spPr>
          <a:xfrm>
            <a:off x="440055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Profit</a:t>
            </a:r>
          </a:p>
        </p:txBody>
      </p:sp>
      <p:sp>
        <p:nvSpPr>
          <p:cNvPr id="9" name="Rechteck 8">
            <a:extLst>
              <a:ext uri="{FF2B5EF4-FFF2-40B4-BE49-F238E27FC236}">
                <a16:creationId xmlns:a16="http://schemas.microsoft.com/office/drawing/2014/main" id="{29B11EEF-5EDF-44B9-874D-EFFB5103C6DA}"/>
              </a:ext>
            </a:extLst>
          </p:cNvPr>
          <p:cNvSpPr>
            <a:spLocks noGrp="1"/>
          </p:cNvSpPr>
          <p:nvPr/>
        </p:nvSpPr>
        <p:spPr>
          <a:xfrm>
            <a:off x="440055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Profit for the same period. Clearly identify the profit measure used.</a:t>
            </a:r>
          </a:p>
        </p:txBody>
      </p:sp>
      <p:sp>
        <p:nvSpPr>
          <p:cNvPr id="10" name="Rechteck 9">
            <a:extLst>
              <a:ext uri="{FF2B5EF4-FFF2-40B4-BE49-F238E27FC236}">
                <a16:creationId xmlns:a16="http://schemas.microsoft.com/office/drawing/2014/main" id="{2E72EF2D-855E-4083-A1E7-398FA5089CE7}"/>
              </a:ext>
            </a:extLst>
          </p:cNvPr>
          <p:cNvSpPr>
            <a:spLocks noGrp="1"/>
          </p:cNvSpPr>
          <p:nvPr/>
        </p:nvSpPr>
        <p:spPr>
          <a:xfrm>
            <a:off x="811530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11" name="Rechteck 10">
            <a:extLst>
              <a:ext uri="{FF2B5EF4-FFF2-40B4-BE49-F238E27FC236}">
                <a16:creationId xmlns:a16="http://schemas.microsoft.com/office/drawing/2014/main" id="{4A6F1DFB-B380-4EF6-B70A-B6AFF20BCE61}"/>
              </a:ext>
            </a:extLst>
          </p:cNvPr>
          <p:cNvSpPr>
            <a:spLocks noGrp="1"/>
          </p:cNvSpPr>
          <p:nvPr/>
        </p:nvSpPr>
        <p:spPr>
          <a:xfrm>
            <a:off x="811530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Employees</a:t>
            </a:r>
          </a:p>
        </p:txBody>
      </p:sp>
      <p:sp>
        <p:nvSpPr>
          <p:cNvPr id="12" name="Rechteck 11">
            <a:extLst>
              <a:ext uri="{FF2B5EF4-FFF2-40B4-BE49-F238E27FC236}">
                <a16:creationId xmlns:a16="http://schemas.microsoft.com/office/drawing/2014/main" id="{97A8961C-3AAE-4B22-9A75-B9FA05282AE8}"/>
              </a:ext>
            </a:extLst>
          </p:cNvPr>
          <p:cNvSpPr>
            <a:spLocks noGrp="1"/>
          </p:cNvSpPr>
          <p:nvPr/>
        </p:nvSpPr>
        <p:spPr>
          <a:xfrm>
            <a:off x="811530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Current employee count. A simple number is enough to get started.</a:t>
            </a:r>
          </a:p>
        </p:txBody>
      </p:sp>
      <p:sp>
        <p:nvSpPr>
          <p:cNvPr id="13" name="Rechteck 12">
            <a:extLst>
              <a:ext uri="{FF2B5EF4-FFF2-40B4-BE49-F238E27FC236}">
                <a16:creationId xmlns:a16="http://schemas.microsoft.com/office/drawing/2014/main" id="{D2E79AAC-26A7-48C9-9F58-3664126BDDEB}"/>
              </a:ext>
            </a:extLst>
          </p:cNvPr>
          <p:cNvSpPr>
            <a:spLocks noGrp="1"/>
          </p:cNvSpPr>
          <p:nvPr/>
        </p:nvSpPr>
        <p:spPr>
          <a:xfrm>
            <a:off x="685800" y="5715000"/>
            <a:ext cx="10477500" cy="419100"/>
          </a:xfrm>
          <a:prstGeom prst="rect">
            <a:avLst/>
          </a:prstGeom>
          <a:noFill/>
          <a:ln w="0">
            <a:noFill/>
          </a:ln>
        </p:spPr>
        <p:txBody>
          <a:bodyPr>
            <a:noAutofit/>
          </a:bodyPr>
          <a:lstStyle/>
          <a:p>
            <a:pPr>
              <a:buNone/>
              <a:defRPr sz="1725" b="0">
                <a:solidFill>
                  <a:srgbClr val="536B60"/>
                </a:solidFill>
                <a:latin typeface="Arial"/>
                <a:ea typeface="Arial"/>
                <a:cs typeface="Arial"/>
              </a:defRPr>
            </a:pPr>
            <a:r>
              <a:rPr sz="1725" b="0">
                <a:solidFill>
                  <a:srgbClr val="536B60"/>
                </a:solidFill>
                <a:latin typeface="Arial"/>
                <a:ea typeface="Arial"/>
                <a:cs typeface="Arial"/>
              </a:rPr>
              <a:t>Suggested addition: short selection fields for industry and location.</a:t>
            </a:r>
          </a:p>
        </p:txBody>
      </p:sp>
    </p:spTree>
    <p:extLst>
      <p:ext uri="{BB962C8B-B14F-4D97-AF65-F5344CB8AC3E}">
        <p14:creationId xmlns:p14="http://schemas.microsoft.com/office/powerpoint/2010/main" val="1570903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2F2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0FBB16DC-5CE0-453A-98C5-9300DEE0232A}"/>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F4F2EA"/>
                </a:solidFill>
                <a:latin typeface="Arial"/>
                <a:ea typeface="Arial"/>
                <a:cs typeface="Arial"/>
              </a:defRPr>
            </a:pPr>
            <a:r>
              <a:rPr sz="3450" b="1">
                <a:solidFill>
                  <a:srgbClr val="F4F2EA"/>
                </a:solidFill>
                <a:latin typeface="Arial"/>
                <a:ea typeface="Arial"/>
                <a:cs typeface="Arial"/>
              </a:rPr>
              <a:t>The result: a rough value range</a:t>
            </a:r>
          </a:p>
        </p:txBody>
      </p:sp>
      <p:sp>
        <p:nvSpPr>
          <p:cNvPr id="2" name="Rechteck 1">
            <a:extLst>
              <a:ext uri="{FF2B5EF4-FFF2-40B4-BE49-F238E27FC236}">
                <a16:creationId xmlns:a16="http://schemas.microsoft.com/office/drawing/2014/main" id="{AE2A774A-BE89-4CCF-AB38-E0C0B06AE828}"/>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B9DEC7"/>
                </a:solidFill>
                <a:latin typeface="Arial"/>
                <a:ea typeface="Arial"/>
                <a:cs typeface="Arial"/>
              </a:defRPr>
            </a:pPr>
            <a:r>
              <a:rPr sz="1200" b="1">
                <a:solidFill>
                  <a:srgbClr val="B9DEC7"/>
                </a:solidFill>
                <a:latin typeface="Arial"/>
                <a:ea typeface="Arial"/>
                <a:cs typeface="Arial"/>
              </a:rPr>
              <a:t>MERGERO</a:t>
            </a:r>
          </a:p>
        </p:txBody>
      </p:sp>
      <p:sp>
        <p:nvSpPr>
          <p:cNvPr id="3" name="Rechteck 2">
            <a:extLst>
              <a:ext uri="{FF2B5EF4-FFF2-40B4-BE49-F238E27FC236}">
                <a16:creationId xmlns:a16="http://schemas.microsoft.com/office/drawing/2014/main" id="{2A341BE8-F1A1-4620-9E90-01265BF286C1}"/>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B9DEC7"/>
                </a:solidFill>
                <a:latin typeface="Arial"/>
                <a:ea typeface="Arial"/>
                <a:cs typeface="Arial"/>
              </a:defRPr>
            </a:pPr>
            <a:r>
              <a:rPr sz="1350" b="0">
                <a:solidFill>
                  <a:srgbClr val="B9DEC7"/>
                </a:solidFill>
                <a:latin typeface="Arial"/>
                <a:ea typeface="Arial"/>
                <a:cs typeface="Arial"/>
              </a:rPr>
              <a:t>05</a:t>
            </a:r>
          </a:p>
        </p:txBody>
      </p:sp>
      <p:sp>
        <p:nvSpPr>
          <p:cNvPr id="4" name="Rechteck 3">
            <a:extLst>
              <a:ext uri="{FF2B5EF4-FFF2-40B4-BE49-F238E27FC236}">
                <a16:creationId xmlns:a16="http://schemas.microsoft.com/office/drawing/2014/main" id="{C81BDDFE-62A9-444D-AC03-2525DD459AA3}"/>
              </a:ext>
            </a:extLst>
          </p:cNvPr>
          <p:cNvSpPr>
            <a:spLocks noGrp="1"/>
          </p:cNvSpPr>
          <p:nvPr/>
        </p:nvSpPr>
        <p:spPr>
          <a:xfrm>
            <a:off x="685800" y="2000250"/>
            <a:ext cx="6096000" cy="809625"/>
          </a:xfrm>
          <a:prstGeom prst="rect">
            <a:avLst/>
          </a:prstGeom>
          <a:noFill/>
          <a:ln w="0">
            <a:noFill/>
          </a:ln>
        </p:spPr>
        <p:txBody>
          <a:bodyPr>
            <a:noAutofit/>
          </a:bodyPr>
          <a:lstStyle/>
          <a:p>
            <a:pPr>
              <a:buNone/>
              <a:defRPr sz="3600" b="1">
                <a:solidFill>
                  <a:srgbClr val="B9DEC7"/>
                </a:solidFill>
                <a:latin typeface="Arial"/>
                <a:ea typeface="Arial"/>
                <a:cs typeface="Arial"/>
              </a:defRPr>
            </a:pPr>
            <a:r>
              <a:rPr sz="3600" b="1">
                <a:solidFill>
                  <a:srgbClr val="B9DEC7"/>
                </a:solidFill>
                <a:latin typeface="Arial"/>
                <a:ea typeface="Arial"/>
                <a:cs typeface="Arial"/>
              </a:rPr>
              <a:t>Initial guidance</a:t>
            </a:r>
          </a:p>
        </p:txBody>
      </p:sp>
      <p:sp>
        <p:nvSpPr>
          <p:cNvPr id="5" name="Rechteck 4">
            <a:extLst>
              <a:ext uri="{FF2B5EF4-FFF2-40B4-BE49-F238E27FC236}">
                <a16:creationId xmlns:a16="http://schemas.microsoft.com/office/drawing/2014/main" id="{FA184C8C-EE0F-4096-A1F2-3FF5A0476914}"/>
              </a:ext>
            </a:extLst>
          </p:cNvPr>
          <p:cNvSpPr>
            <a:spLocks noGrp="1"/>
          </p:cNvSpPr>
          <p:nvPr/>
        </p:nvSpPr>
        <p:spPr>
          <a:xfrm>
            <a:off x="685800" y="3000375"/>
            <a:ext cx="5810250" cy="1143000"/>
          </a:xfrm>
          <a:prstGeom prst="rect">
            <a:avLst/>
          </a:prstGeom>
          <a:noFill/>
          <a:ln w="0">
            <a:noFill/>
          </a:ln>
        </p:spPr>
        <p:txBody>
          <a:bodyPr>
            <a:noAutofit/>
          </a:bodyPr>
          <a:lstStyle/>
          <a:p>
            <a:pPr>
              <a:buNone/>
              <a:defRPr sz="2325" b="0">
                <a:solidFill>
                  <a:srgbClr val="F4F2EA"/>
                </a:solidFill>
                <a:latin typeface="Arial"/>
                <a:ea typeface="Arial"/>
                <a:cs typeface="Arial"/>
              </a:defRPr>
            </a:pPr>
            <a:r>
              <a:rPr sz="2325" b="0">
                <a:solidFill>
                  <a:srgbClr val="F4F2EA"/>
                </a:solidFill>
                <a:latin typeface="Arial"/>
                <a:ea typeface="Arial"/>
                <a:cs typeface="Arial"/>
              </a:rPr>
              <a:t>The engine uses the basic data</a:t>
            </a:r>
          </a:p>
          <a:p>
            <a:pPr>
              <a:buNone/>
              <a:defRPr sz="2325" b="0">
                <a:solidFill>
                  <a:srgbClr val="F4F2EA"/>
                </a:solidFill>
                <a:latin typeface="Arial"/>
                <a:ea typeface="Arial"/>
                <a:cs typeface="Arial"/>
              </a:defRPr>
            </a:pPr>
            <a:r>
              <a:rPr sz="2325" b="0">
                <a:solidFill>
                  <a:srgbClr val="F4F2EA"/>
                </a:solidFill>
                <a:latin typeface="Arial"/>
                <a:ea typeface="Arial"/>
                <a:cs typeface="Arial"/>
              </a:rPr>
              <a:t>to generate a preliminary estimate.</a:t>
            </a:r>
          </a:p>
        </p:txBody>
      </p:sp>
      <p:sp>
        <p:nvSpPr>
          <p:cNvPr id="6" name="Rechteck 5">
            <a:extLst>
              <a:ext uri="{FF2B5EF4-FFF2-40B4-BE49-F238E27FC236}">
                <a16:creationId xmlns:a16="http://schemas.microsoft.com/office/drawing/2014/main" id="{E103C53B-D181-4C98-A7BD-CDFDC3A76BC4}"/>
              </a:ext>
            </a:extLst>
          </p:cNvPr>
          <p:cNvSpPr>
            <a:spLocks noGrp="1"/>
          </p:cNvSpPr>
          <p:nvPr/>
        </p:nvSpPr>
        <p:spPr>
          <a:xfrm>
            <a:off x="685800" y="4552950"/>
            <a:ext cx="6000750" cy="933450"/>
          </a:xfrm>
          <a:prstGeom prst="rect">
            <a:avLst/>
          </a:prstGeom>
          <a:noFill/>
          <a:ln w="0">
            <a:noFill/>
          </a:ln>
        </p:spPr>
        <p:txBody>
          <a:bodyPr>
            <a:noAutofit/>
          </a:bodyPr>
          <a:lstStyle/>
          <a:p>
            <a:pPr>
              <a:buNone/>
              <a:defRPr sz="2025" b="0">
                <a:solidFill>
                  <a:srgbClr val="F4F2EA"/>
                </a:solidFill>
                <a:latin typeface="Arial"/>
                <a:ea typeface="Arial"/>
                <a:cs typeface="Arial"/>
              </a:defRPr>
            </a:pPr>
            <a:r>
              <a:rPr sz="2025" b="0">
                <a:solidFill>
                  <a:srgbClr val="F4F2EA"/>
                </a:solidFill>
                <a:latin typeface="Arial"/>
                <a:ea typeface="Arial"/>
                <a:cs typeface="Arial"/>
              </a:rPr>
              <a:t>If there is interest, Mergero follows up</a:t>
            </a:r>
          </a:p>
          <a:p>
            <a:pPr>
              <a:buNone/>
              <a:defRPr sz="2025" b="0">
                <a:solidFill>
                  <a:srgbClr val="F4F2EA"/>
                </a:solidFill>
                <a:latin typeface="Arial"/>
                <a:ea typeface="Arial"/>
                <a:cs typeface="Arial"/>
              </a:defRPr>
            </a:pPr>
            <a:r>
              <a:rPr sz="2025" b="0">
                <a:solidFill>
                  <a:srgbClr val="F4F2EA"/>
                </a:solidFill>
                <a:latin typeface="Arial"/>
                <a:ea typeface="Arial"/>
                <a:cs typeface="Arial"/>
              </a:rPr>
              <a:t>and refines the business profile.</a:t>
            </a:r>
          </a:p>
        </p:txBody>
      </p:sp>
      <p:sp>
        <p:nvSpPr>
          <p:cNvPr id="7" name="Rechteck 6">
            <a:extLst>
              <a:ext uri="{FF2B5EF4-FFF2-40B4-BE49-F238E27FC236}">
                <a16:creationId xmlns:a16="http://schemas.microsoft.com/office/drawing/2014/main" id="{20724D13-5613-4D1B-9C93-3150438F1DFE}"/>
              </a:ext>
            </a:extLst>
          </p:cNvPr>
          <p:cNvSpPr>
            <a:spLocks noGrp="1"/>
          </p:cNvSpPr>
          <p:nvPr/>
        </p:nvSpPr>
        <p:spPr>
          <a:xfrm>
            <a:off x="7858125" y="2076450"/>
            <a:ext cx="3571875" cy="571500"/>
          </a:xfrm>
          <a:prstGeom prst="rect">
            <a:avLst/>
          </a:prstGeom>
          <a:noFill/>
          <a:ln w="0">
            <a:noFill/>
          </a:ln>
        </p:spPr>
        <p:txBody>
          <a:bodyPr>
            <a:noAutofit/>
          </a:bodyPr>
          <a:lstStyle/>
          <a:p>
            <a:pPr>
              <a:buNone/>
              <a:defRPr sz="2100" b="1">
                <a:solidFill>
                  <a:srgbClr val="B9DEC7"/>
                </a:solidFill>
                <a:latin typeface="Arial"/>
                <a:ea typeface="Arial"/>
                <a:cs typeface="Arial"/>
              </a:defRPr>
            </a:pPr>
            <a:r>
              <a:rPr sz="2100" b="1">
                <a:solidFill>
                  <a:srgbClr val="B9DEC7"/>
                </a:solidFill>
                <a:latin typeface="Arial"/>
                <a:ea typeface="Arial"/>
                <a:cs typeface="Arial"/>
              </a:rPr>
              <a:t>What the result shows</a:t>
            </a:r>
          </a:p>
        </p:txBody>
      </p:sp>
      <p:sp>
        <p:nvSpPr>
          <p:cNvPr id="8" name="Rechteck 7">
            <a:extLst>
              <a:ext uri="{FF2B5EF4-FFF2-40B4-BE49-F238E27FC236}">
                <a16:creationId xmlns:a16="http://schemas.microsoft.com/office/drawing/2014/main" id="{7EB54DC8-78BF-4937-AF77-CE918F91714E}"/>
              </a:ext>
            </a:extLst>
          </p:cNvPr>
          <p:cNvSpPr>
            <a:spLocks noGrp="1"/>
          </p:cNvSpPr>
          <p:nvPr/>
        </p:nvSpPr>
        <p:spPr>
          <a:xfrm>
            <a:off x="7858125" y="2886074"/>
            <a:ext cx="3714750" cy="3971926"/>
          </a:xfrm>
          <a:prstGeom prst="rect">
            <a:avLst/>
          </a:prstGeom>
          <a:noFill/>
          <a:ln w="0">
            <a:noFill/>
          </a:ln>
        </p:spPr>
        <p:txBody>
          <a:bodyPr>
            <a:noAutofit/>
          </a:bodyPr>
          <a:lstStyle/>
          <a:p>
            <a:pPr>
              <a:buNone/>
              <a:defRPr sz="1875" b="0">
                <a:solidFill>
                  <a:srgbClr val="F4F2EA"/>
                </a:solidFill>
                <a:latin typeface="Arial"/>
                <a:ea typeface="Arial"/>
                <a:cs typeface="Arial"/>
              </a:defRPr>
            </a:pPr>
            <a:r>
              <a:rPr sz="1875" b="0" dirty="0">
                <a:solidFill>
                  <a:srgbClr val="F4F2EA"/>
                </a:solidFill>
                <a:latin typeface="Arial"/>
                <a:ea typeface="Arial"/>
                <a:cs typeface="Arial"/>
              </a:rPr>
              <a:t>Value range</a:t>
            </a:r>
          </a:p>
          <a:p>
            <a:endParaRPr sz="1875" b="0" dirty="0">
              <a:solidFill>
                <a:srgbClr val="F4F2EA"/>
              </a:solidFill>
              <a:latin typeface="Arial"/>
              <a:ea typeface="Arial"/>
              <a:cs typeface="Arial"/>
            </a:endParaRPr>
          </a:p>
          <a:p>
            <a:pPr>
              <a:buNone/>
              <a:defRPr sz="1875" b="0">
                <a:solidFill>
                  <a:srgbClr val="F4F2EA"/>
                </a:solidFill>
                <a:latin typeface="Arial"/>
                <a:ea typeface="Arial"/>
                <a:cs typeface="Arial"/>
              </a:defRPr>
            </a:pPr>
            <a:r>
              <a:rPr sz="1875" b="0" dirty="0">
                <a:solidFill>
                  <a:srgbClr val="F4F2EA"/>
                </a:solidFill>
                <a:latin typeface="Arial"/>
                <a:ea typeface="Arial"/>
                <a:cs typeface="Arial"/>
              </a:rPr>
              <a:t>Data used</a:t>
            </a:r>
          </a:p>
          <a:p>
            <a:endParaRPr sz="1875" b="0" dirty="0">
              <a:solidFill>
                <a:srgbClr val="F4F2EA"/>
              </a:solidFill>
              <a:latin typeface="Arial"/>
              <a:ea typeface="Arial"/>
              <a:cs typeface="Arial"/>
            </a:endParaRPr>
          </a:p>
          <a:p>
            <a:pPr>
              <a:buNone/>
              <a:defRPr sz="1875" b="0">
                <a:solidFill>
                  <a:srgbClr val="F4F2EA"/>
                </a:solidFill>
                <a:latin typeface="Arial"/>
                <a:ea typeface="Arial"/>
                <a:cs typeface="Arial"/>
              </a:defRPr>
            </a:pPr>
            <a:r>
              <a:rPr sz="1875" b="0" dirty="0">
                <a:solidFill>
                  <a:srgbClr val="F4F2EA"/>
                </a:solidFill>
                <a:latin typeface="Arial"/>
                <a:ea typeface="Arial"/>
                <a:cs typeface="Arial"/>
              </a:rPr>
              <a:t>Assumptions and limitations</a:t>
            </a:r>
          </a:p>
          <a:p>
            <a:endParaRPr sz="1875" b="0" dirty="0">
              <a:solidFill>
                <a:srgbClr val="F4F2EA"/>
              </a:solidFill>
              <a:latin typeface="Arial"/>
              <a:ea typeface="Arial"/>
              <a:cs typeface="Arial"/>
            </a:endParaRPr>
          </a:p>
          <a:p>
            <a:pPr>
              <a:buNone/>
              <a:defRPr sz="1875" b="0">
                <a:solidFill>
                  <a:srgbClr val="F4F2EA"/>
                </a:solidFill>
                <a:latin typeface="Arial"/>
                <a:ea typeface="Arial"/>
                <a:cs typeface="Arial"/>
              </a:defRPr>
            </a:pPr>
            <a:r>
              <a:rPr sz="1875" b="0" dirty="0">
                <a:solidFill>
                  <a:srgbClr val="F4F2EA"/>
                </a:solidFill>
                <a:latin typeface="Arial"/>
                <a:ea typeface="Arial"/>
                <a:cs typeface="Arial"/>
              </a:rPr>
              <a:t>Possible next steps</a:t>
            </a:r>
            <a:endParaRPr lang="de-DE" sz="1875" b="0" dirty="0">
              <a:solidFill>
                <a:srgbClr val="F4F2EA"/>
              </a:solidFill>
              <a:latin typeface="Arial"/>
              <a:ea typeface="Arial"/>
              <a:cs typeface="Arial"/>
            </a:endParaRPr>
          </a:p>
          <a:p>
            <a:pPr>
              <a:buNone/>
              <a:defRPr sz="1875" b="0">
                <a:solidFill>
                  <a:srgbClr val="F4F2EA"/>
                </a:solidFill>
                <a:latin typeface="Arial"/>
                <a:ea typeface="Arial"/>
                <a:cs typeface="Arial"/>
              </a:defRPr>
            </a:pPr>
            <a:endParaRPr lang="de-DE" sz="1875" dirty="0">
              <a:solidFill>
                <a:srgbClr val="F4F2EA"/>
              </a:solidFill>
              <a:latin typeface="Arial"/>
              <a:ea typeface="Arial"/>
              <a:cs typeface="Arial"/>
            </a:endParaRPr>
          </a:p>
          <a:p>
            <a:pPr>
              <a:buNone/>
              <a:defRPr sz="1875" b="0">
                <a:solidFill>
                  <a:srgbClr val="F4F2EA"/>
                </a:solidFill>
                <a:latin typeface="Arial"/>
                <a:ea typeface="Arial"/>
                <a:cs typeface="Arial"/>
              </a:defRPr>
            </a:pPr>
            <a:r>
              <a:rPr lang="de-DE" sz="1875" b="0" dirty="0">
                <a:solidFill>
                  <a:srgbClr val="F4F2EA"/>
                </a:solidFill>
                <a:latin typeface="Arial"/>
                <a:ea typeface="Arial"/>
                <a:cs typeface="Arial"/>
              </a:rPr>
              <a:t>A </a:t>
            </a:r>
            <a:r>
              <a:rPr lang="de-DE" sz="1875" b="0" dirty="0" err="1">
                <a:solidFill>
                  <a:srgbClr val="F4F2EA"/>
                </a:solidFill>
                <a:latin typeface="Arial"/>
                <a:ea typeface="Arial"/>
                <a:cs typeface="Arial"/>
              </a:rPr>
              <a:t>statement</a:t>
            </a:r>
            <a:r>
              <a:rPr lang="de-DE" sz="1875" b="0" dirty="0">
                <a:solidFill>
                  <a:srgbClr val="F4F2EA"/>
                </a:solidFill>
                <a:latin typeface="Arial"/>
                <a:ea typeface="Arial"/>
                <a:cs typeface="Arial"/>
              </a:rPr>
              <a:t> </a:t>
            </a:r>
            <a:r>
              <a:rPr lang="de-DE" sz="1875" b="0" dirty="0" err="1">
                <a:solidFill>
                  <a:srgbClr val="F4F2EA"/>
                </a:solidFill>
                <a:latin typeface="Arial"/>
                <a:ea typeface="Arial"/>
                <a:cs typeface="Arial"/>
              </a:rPr>
              <a:t>from</a:t>
            </a:r>
            <a:r>
              <a:rPr lang="de-DE" sz="1875" b="0" dirty="0">
                <a:solidFill>
                  <a:srgbClr val="F4F2EA"/>
                </a:solidFill>
                <a:latin typeface="Arial"/>
                <a:ea typeface="Arial"/>
                <a:cs typeface="Arial"/>
              </a:rPr>
              <a:t> the </a:t>
            </a:r>
            <a:r>
              <a:rPr lang="de-DE" sz="1875" b="0" dirty="0" err="1">
                <a:solidFill>
                  <a:srgbClr val="F4F2EA"/>
                </a:solidFill>
                <a:latin typeface="Arial"/>
                <a:ea typeface="Arial"/>
                <a:cs typeface="Arial"/>
              </a:rPr>
              <a:t>owner</a:t>
            </a:r>
            <a:r>
              <a:rPr lang="de-DE" sz="1875" b="0" dirty="0">
                <a:solidFill>
                  <a:srgbClr val="F4F2EA"/>
                </a:solidFill>
                <a:latin typeface="Arial"/>
                <a:ea typeface="Arial"/>
                <a:cs typeface="Arial"/>
              </a:rPr>
              <a:t> </a:t>
            </a:r>
            <a:r>
              <a:rPr lang="de-DE" sz="1875" b="0" dirty="0" err="1">
                <a:solidFill>
                  <a:srgbClr val="F4F2EA"/>
                </a:solidFill>
                <a:latin typeface="Arial"/>
                <a:ea typeface="Arial"/>
                <a:cs typeface="Arial"/>
              </a:rPr>
              <a:t>about</a:t>
            </a:r>
            <a:r>
              <a:rPr lang="de-DE" sz="1875" b="0" dirty="0">
                <a:solidFill>
                  <a:srgbClr val="F4F2EA"/>
                </a:solidFill>
                <a:latin typeface="Arial"/>
                <a:ea typeface="Arial"/>
                <a:cs typeface="Arial"/>
              </a:rPr>
              <a:t> the firm </a:t>
            </a:r>
            <a:r>
              <a:rPr lang="de-DE" sz="1875" b="0" dirty="0" err="1">
                <a:solidFill>
                  <a:srgbClr val="F4F2EA"/>
                </a:solidFill>
                <a:latin typeface="Arial"/>
                <a:ea typeface="Arial"/>
                <a:cs typeface="Arial"/>
              </a:rPr>
              <a:t>policy</a:t>
            </a:r>
            <a:r>
              <a:rPr lang="de-DE" sz="1875" b="0" dirty="0">
                <a:solidFill>
                  <a:srgbClr val="F4F2EA"/>
                </a:solidFill>
                <a:latin typeface="Arial"/>
                <a:ea typeface="Arial"/>
                <a:cs typeface="Arial"/>
              </a:rPr>
              <a:t> and </a:t>
            </a:r>
            <a:r>
              <a:rPr lang="de-DE" sz="1875" b="0" dirty="0" err="1">
                <a:solidFill>
                  <a:srgbClr val="F4F2EA"/>
                </a:solidFill>
                <a:latin typeface="Arial"/>
                <a:ea typeface="Arial"/>
                <a:cs typeface="Arial"/>
              </a:rPr>
              <a:t>culture</a:t>
            </a:r>
            <a:r>
              <a:rPr lang="de-DE" sz="1875" b="0" dirty="0">
                <a:solidFill>
                  <a:srgbClr val="F4F2EA"/>
                </a:solidFill>
                <a:latin typeface="Arial"/>
                <a:ea typeface="Arial"/>
                <a:cs typeface="Arial"/>
              </a:rPr>
              <a:t> </a:t>
            </a:r>
            <a:r>
              <a:rPr lang="de-DE" sz="1875" b="0" dirty="0" err="1">
                <a:solidFill>
                  <a:srgbClr val="F4F2EA"/>
                </a:solidFill>
                <a:latin typeface="Arial"/>
                <a:ea typeface="Arial"/>
                <a:cs typeface="Arial"/>
              </a:rPr>
              <a:t>currently</a:t>
            </a:r>
            <a:endParaRPr sz="1875" b="0" dirty="0">
              <a:solidFill>
                <a:srgbClr val="F4F2EA"/>
              </a:solidFill>
              <a:latin typeface="Arial"/>
              <a:ea typeface="Arial"/>
              <a:cs typeface="Arial"/>
            </a:endParaRPr>
          </a:p>
        </p:txBody>
      </p:sp>
    </p:spTree>
    <p:extLst>
      <p:ext uri="{BB962C8B-B14F-4D97-AF65-F5344CB8AC3E}">
        <p14:creationId xmlns:p14="http://schemas.microsoft.com/office/powerpoint/2010/main" val="699746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3A918C89-2D68-4B06-9BFB-8FD21B3A21B8}"/>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An AI conversation captures further conditions</a:t>
            </a:r>
          </a:p>
        </p:txBody>
      </p:sp>
      <p:sp>
        <p:nvSpPr>
          <p:cNvPr id="2" name="Rechteck 1">
            <a:extLst>
              <a:ext uri="{FF2B5EF4-FFF2-40B4-BE49-F238E27FC236}">
                <a16:creationId xmlns:a16="http://schemas.microsoft.com/office/drawing/2014/main" id="{1EAB35E0-E1AE-4CB2-9355-458484EAD2E5}"/>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5AC7BAD0-29E3-4B78-AB85-6D0499E8E0E2}"/>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07</a:t>
            </a:r>
          </a:p>
        </p:txBody>
      </p:sp>
      <p:sp>
        <p:nvSpPr>
          <p:cNvPr id="4" name="Rechteck 3">
            <a:extLst>
              <a:ext uri="{FF2B5EF4-FFF2-40B4-BE49-F238E27FC236}">
                <a16:creationId xmlns:a16="http://schemas.microsoft.com/office/drawing/2014/main" id="{22777858-3119-4C85-BC40-E7A19C7D2468}"/>
              </a:ext>
            </a:extLst>
          </p:cNvPr>
          <p:cNvSpPr>
            <a:spLocks noGrp="1"/>
          </p:cNvSpPr>
          <p:nvPr/>
        </p:nvSpPr>
        <p:spPr>
          <a:xfrm>
            <a:off x="685800" y="1981200"/>
            <a:ext cx="4953000" cy="857250"/>
          </a:xfrm>
          <a:prstGeom prst="rect">
            <a:avLst/>
          </a:prstGeom>
          <a:noFill/>
          <a:ln w="0">
            <a:noFill/>
          </a:ln>
        </p:spPr>
        <p:txBody>
          <a:bodyPr>
            <a:noAutofit/>
          </a:bodyPr>
          <a:lstStyle/>
          <a:p>
            <a:pPr>
              <a:buNone/>
              <a:defRPr sz="2850" b="1">
                <a:solidFill>
                  <a:srgbClr val="16382E"/>
                </a:solidFill>
                <a:latin typeface="Arial"/>
                <a:ea typeface="Arial"/>
                <a:cs typeface="Arial"/>
              </a:defRPr>
            </a:pPr>
            <a:r>
              <a:rPr sz="2850" b="1">
                <a:solidFill>
                  <a:srgbClr val="16382E"/>
                </a:solidFill>
                <a:latin typeface="Arial"/>
                <a:ea typeface="Arial"/>
                <a:cs typeface="Arial"/>
              </a:rPr>
              <a:t>Optional calling service</a:t>
            </a:r>
          </a:p>
        </p:txBody>
      </p:sp>
      <p:sp>
        <p:nvSpPr>
          <p:cNvPr id="5" name="Rechteck 4">
            <a:extLst>
              <a:ext uri="{FF2B5EF4-FFF2-40B4-BE49-F238E27FC236}">
                <a16:creationId xmlns:a16="http://schemas.microsoft.com/office/drawing/2014/main" id="{8C9A7491-6CED-467F-8CEC-D818432BDD19}"/>
              </a:ext>
            </a:extLst>
          </p:cNvPr>
          <p:cNvSpPr>
            <a:spLocks noGrp="1"/>
          </p:cNvSpPr>
          <p:nvPr/>
        </p:nvSpPr>
        <p:spPr>
          <a:xfrm>
            <a:off x="685800" y="3114675"/>
            <a:ext cx="4953000" cy="1619250"/>
          </a:xfrm>
          <a:prstGeom prst="rect">
            <a:avLst/>
          </a:prstGeom>
          <a:noFill/>
          <a:ln w="0">
            <a:noFill/>
          </a:ln>
        </p:spPr>
        <p:txBody>
          <a:bodyPr>
            <a:noAutofit/>
          </a:bodyPr>
          <a:lstStyle/>
          <a:p>
            <a:pPr>
              <a:buNone/>
              <a:defRPr sz="2175" b="0">
                <a:solidFill>
                  <a:srgbClr val="16382E"/>
                </a:solidFill>
                <a:latin typeface="Arial"/>
                <a:ea typeface="Arial"/>
                <a:cs typeface="Arial"/>
              </a:defRPr>
            </a:pPr>
            <a:r>
              <a:rPr sz="2175" b="0">
                <a:solidFill>
                  <a:srgbClr val="16382E"/>
                </a:solidFill>
                <a:latin typeface="Arial"/>
                <a:ea typeface="Arial"/>
                <a:cs typeface="Arial"/>
              </a:rPr>
              <a:t>The owner can request an automated</a:t>
            </a:r>
          </a:p>
          <a:p>
            <a:pPr>
              <a:buNone/>
              <a:defRPr sz="2175" b="0">
                <a:solidFill>
                  <a:srgbClr val="16382E"/>
                </a:solidFill>
                <a:latin typeface="Arial"/>
                <a:ea typeface="Arial"/>
                <a:cs typeface="Arial"/>
              </a:defRPr>
            </a:pPr>
            <a:r>
              <a:rPr sz="2175" b="0">
                <a:solidFill>
                  <a:srgbClr val="16382E"/>
                </a:solidFill>
                <a:latin typeface="Arial"/>
                <a:ea typeface="Arial"/>
                <a:cs typeface="Arial"/>
              </a:rPr>
              <a:t>AI conversation and choose</a:t>
            </a:r>
          </a:p>
          <a:p>
            <a:pPr>
              <a:buNone/>
              <a:defRPr sz="2175" b="0">
                <a:solidFill>
                  <a:srgbClr val="16382E"/>
                </a:solidFill>
                <a:latin typeface="Arial"/>
                <a:ea typeface="Arial"/>
                <a:cs typeface="Arial"/>
              </a:defRPr>
            </a:pPr>
            <a:r>
              <a:rPr sz="2175" b="0">
                <a:solidFill>
                  <a:srgbClr val="16382E"/>
                </a:solidFill>
                <a:latin typeface="Arial"/>
                <a:ea typeface="Arial"/>
                <a:cs typeface="Arial"/>
              </a:rPr>
              <a:t>a convenient time.</a:t>
            </a:r>
          </a:p>
        </p:txBody>
      </p:sp>
      <p:sp>
        <p:nvSpPr>
          <p:cNvPr id="6" name="Rechteck 5">
            <a:extLst>
              <a:ext uri="{FF2B5EF4-FFF2-40B4-BE49-F238E27FC236}">
                <a16:creationId xmlns:a16="http://schemas.microsoft.com/office/drawing/2014/main" id="{8D1A8E61-FBD5-40F8-B941-9CCC77FFE833}"/>
              </a:ext>
            </a:extLst>
          </p:cNvPr>
          <p:cNvSpPr>
            <a:spLocks noGrp="1"/>
          </p:cNvSpPr>
          <p:nvPr/>
        </p:nvSpPr>
        <p:spPr>
          <a:xfrm>
            <a:off x="685800" y="5010150"/>
            <a:ext cx="5143500" cy="933450"/>
          </a:xfrm>
          <a:prstGeom prst="rect">
            <a:avLst/>
          </a:prstGeom>
          <a:noFill/>
          <a:ln w="0">
            <a:noFill/>
          </a:ln>
        </p:spPr>
        <p:txBody>
          <a:bodyPr>
            <a:noAutofit/>
          </a:bodyPr>
          <a:lstStyle/>
          <a:p>
            <a:pPr>
              <a:buNone/>
              <a:defRPr sz="1875" b="0">
                <a:solidFill>
                  <a:srgbClr val="536B60"/>
                </a:solidFill>
                <a:latin typeface="Arial"/>
                <a:ea typeface="Arial"/>
                <a:cs typeface="Arial"/>
              </a:defRPr>
            </a:pPr>
            <a:r>
              <a:rPr sz="1875" b="0">
                <a:solidFill>
                  <a:srgbClr val="536B60"/>
                </a:solidFill>
                <a:latin typeface="Arial"/>
                <a:ea typeface="Arial"/>
                <a:cs typeface="Arial"/>
              </a:rPr>
              <a:t>Mergero adds the confirmed</a:t>
            </a:r>
          </a:p>
          <a:p>
            <a:pPr>
              <a:buNone/>
              <a:defRPr sz="1875" b="0">
                <a:solidFill>
                  <a:srgbClr val="536B60"/>
                </a:solidFill>
                <a:latin typeface="Arial"/>
                <a:ea typeface="Arial"/>
                <a:cs typeface="Arial"/>
              </a:defRPr>
            </a:pPr>
            <a:r>
              <a:rPr sz="1875" b="0">
                <a:solidFill>
                  <a:srgbClr val="536B60"/>
                </a:solidFill>
                <a:latin typeface="Arial"/>
                <a:ea typeface="Arial"/>
                <a:cs typeface="Arial"/>
              </a:rPr>
              <a:t>conversation summary to the profile.</a:t>
            </a:r>
          </a:p>
        </p:txBody>
      </p:sp>
      <p:sp>
        <p:nvSpPr>
          <p:cNvPr id="7" name="Rechteck 6">
            <a:extLst>
              <a:ext uri="{FF2B5EF4-FFF2-40B4-BE49-F238E27FC236}">
                <a16:creationId xmlns:a16="http://schemas.microsoft.com/office/drawing/2014/main" id="{487A28F0-FE6A-4743-ADFF-BB8713070F25}"/>
              </a:ext>
            </a:extLst>
          </p:cNvPr>
          <p:cNvSpPr>
            <a:spLocks noGrp="1"/>
          </p:cNvSpPr>
          <p:nvPr/>
        </p:nvSpPr>
        <p:spPr>
          <a:xfrm>
            <a:off x="6858000" y="2000250"/>
            <a:ext cx="4667250"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Possible topics</a:t>
            </a:r>
          </a:p>
        </p:txBody>
      </p:sp>
      <p:sp>
        <p:nvSpPr>
          <p:cNvPr id="8" name="Rechteck 7">
            <a:extLst>
              <a:ext uri="{FF2B5EF4-FFF2-40B4-BE49-F238E27FC236}">
                <a16:creationId xmlns:a16="http://schemas.microsoft.com/office/drawing/2014/main" id="{616A9033-2B28-42E7-9AB4-6592CE45CDF8}"/>
              </a:ext>
            </a:extLst>
          </p:cNvPr>
          <p:cNvSpPr>
            <a:spLocks noGrp="1"/>
          </p:cNvSpPr>
          <p:nvPr/>
        </p:nvSpPr>
        <p:spPr>
          <a:xfrm>
            <a:off x="6858000" y="2914650"/>
            <a:ext cx="4667250" cy="2952750"/>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a:solidFill>
                  <a:srgbClr val="16382E"/>
                </a:solidFill>
                <a:latin typeface="Arial"/>
                <a:ea typeface="Arial"/>
                <a:cs typeface="Arial"/>
              </a:rPr>
              <a:t>Interest in selling and timing</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Owner’s role after the handover</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Expectations of a buyer</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Specific business conditions</a:t>
            </a:r>
          </a:p>
        </p:txBody>
      </p:sp>
    </p:spTree>
    <p:extLst>
      <p:ext uri="{BB962C8B-B14F-4D97-AF65-F5344CB8AC3E}">
        <p14:creationId xmlns:p14="http://schemas.microsoft.com/office/powerpoint/2010/main" val="896436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08B076C6-C040-48DF-A72D-95936B83449A}"/>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Company culture as part of the profile</a:t>
            </a:r>
          </a:p>
        </p:txBody>
      </p:sp>
      <p:sp>
        <p:nvSpPr>
          <p:cNvPr id="2" name="Rechteck 1">
            <a:extLst>
              <a:ext uri="{FF2B5EF4-FFF2-40B4-BE49-F238E27FC236}">
                <a16:creationId xmlns:a16="http://schemas.microsoft.com/office/drawing/2014/main" id="{C9C3D460-8A74-4E28-9364-3BFD4E4049BE}"/>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EFBB2CA5-4B0C-484C-B0C6-8105F721D63A}"/>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08</a:t>
            </a:r>
          </a:p>
        </p:txBody>
      </p:sp>
      <p:sp>
        <p:nvSpPr>
          <p:cNvPr id="4" name="Rechteck 3">
            <a:extLst>
              <a:ext uri="{FF2B5EF4-FFF2-40B4-BE49-F238E27FC236}">
                <a16:creationId xmlns:a16="http://schemas.microsoft.com/office/drawing/2014/main" id="{56B2348A-5F47-499E-9AD3-627CFE3BD9BE}"/>
              </a:ext>
            </a:extLst>
          </p:cNvPr>
          <p:cNvSpPr>
            <a:spLocks noGrp="1"/>
          </p:cNvSpPr>
          <p:nvPr/>
        </p:nvSpPr>
        <p:spPr>
          <a:xfrm>
            <a:off x="685800" y="1952625"/>
            <a:ext cx="10810875" cy="1047750"/>
          </a:xfrm>
          <a:prstGeom prst="rect">
            <a:avLst/>
          </a:prstGeom>
          <a:noFill/>
          <a:ln w="0">
            <a:noFill/>
          </a:ln>
        </p:spPr>
        <p:txBody>
          <a:bodyPr>
            <a:noAutofit/>
          </a:bodyPr>
          <a:lstStyle/>
          <a:p>
            <a:pPr>
              <a:buNone/>
              <a:defRPr sz="2850" b="1">
                <a:solidFill>
                  <a:srgbClr val="16382E"/>
                </a:solidFill>
                <a:latin typeface="Arial"/>
                <a:ea typeface="Arial"/>
                <a:cs typeface="Arial"/>
              </a:defRPr>
            </a:pPr>
            <a:r>
              <a:rPr sz="2850" b="1">
                <a:solidFill>
                  <a:srgbClr val="16382E"/>
                </a:solidFill>
                <a:latin typeface="Arial"/>
                <a:ea typeface="Arial"/>
                <a:cs typeface="Arial"/>
              </a:rPr>
              <a:t>The numbers explain the business.</a:t>
            </a:r>
          </a:p>
          <a:p>
            <a:pPr>
              <a:buNone/>
              <a:defRPr sz="2850" b="1">
                <a:solidFill>
                  <a:srgbClr val="16382E"/>
                </a:solidFill>
                <a:latin typeface="Arial"/>
                <a:ea typeface="Arial"/>
                <a:cs typeface="Arial"/>
              </a:defRPr>
            </a:pPr>
            <a:r>
              <a:rPr sz="2850" b="1">
                <a:solidFill>
                  <a:srgbClr val="16382E"/>
                </a:solidFill>
                <a:latin typeface="Arial"/>
                <a:ea typeface="Arial"/>
                <a:cs typeface="Arial"/>
              </a:rPr>
              <a:t>The owner describes the culture.</a:t>
            </a:r>
          </a:p>
        </p:txBody>
      </p:sp>
      <p:sp>
        <p:nvSpPr>
          <p:cNvPr id="5" name="Rechteck 4">
            <a:extLst>
              <a:ext uri="{FF2B5EF4-FFF2-40B4-BE49-F238E27FC236}">
                <a16:creationId xmlns:a16="http://schemas.microsoft.com/office/drawing/2014/main" id="{DFFB23EF-A967-4CA3-AC40-4B922F24339C}"/>
              </a:ext>
            </a:extLst>
          </p:cNvPr>
          <p:cNvSpPr>
            <a:spLocks noGrp="1"/>
          </p:cNvSpPr>
          <p:nvPr/>
        </p:nvSpPr>
        <p:spPr>
          <a:xfrm>
            <a:off x="685800" y="3524250"/>
            <a:ext cx="490537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AI chat as a writing aid</a:t>
            </a:r>
          </a:p>
        </p:txBody>
      </p:sp>
      <p:sp>
        <p:nvSpPr>
          <p:cNvPr id="6" name="Rechteck 5">
            <a:extLst>
              <a:ext uri="{FF2B5EF4-FFF2-40B4-BE49-F238E27FC236}">
                <a16:creationId xmlns:a16="http://schemas.microsoft.com/office/drawing/2014/main" id="{9571C466-A911-47B7-AC0D-52125B610236}"/>
              </a:ext>
            </a:extLst>
          </p:cNvPr>
          <p:cNvSpPr>
            <a:spLocks noGrp="1"/>
          </p:cNvSpPr>
          <p:nvPr/>
        </p:nvSpPr>
        <p:spPr>
          <a:xfrm>
            <a:off x="685800" y="4257675"/>
            <a:ext cx="5048250" cy="1381125"/>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a:solidFill>
                  <a:srgbClr val="16382E"/>
                </a:solidFill>
                <a:latin typeface="Arial"/>
                <a:ea typeface="Arial"/>
                <a:cs typeface="Arial"/>
              </a:rPr>
              <a:t>Short questions about leadership,</a:t>
            </a:r>
          </a:p>
          <a:p>
            <a:pPr>
              <a:buNone/>
              <a:defRPr sz="1950" b="0">
                <a:solidFill>
                  <a:srgbClr val="16382E"/>
                </a:solidFill>
                <a:latin typeface="Arial"/>
                <a:ea typeface="Arial"/>
                <a:cs typeface="Arial"/>
              </a:defRPr>
            </a:pPr>
            <a:r>
              <a:rPr sz="1950" b="0">
                <a:solidFill>
                  <a:srgbClr val="16382E"/>
                </a:solidFill>
                <a:latin typeface="Arial"/>
                <a:ea typeface="Arial"/>
                <a:cs typeface="Arial"/>
              </a:rPr>
              <a:t>collaboration and principles produce</a:t>
            </a:r>
          </a:p>
          <a:p>
            <a:pPr>
              <a:buNone/>
              <a:defRPr sz="1950" b="0">
                <a:solidFill>
                  <a:srgbClr val="16382E"/>
                </a:solidFill>
                <a:latin typeface="Arial"/>
                <a:ea typeface="Arial"/>
                <a:cs typeface="Arial"/>
              </a:defRPr>
            </a:pPr>
            <a:r>
              <a:rPr sz="1950" b="0">
                <a:solidFill>
                  <a:srgbClr val="16382E"/>
                </a:solidFill>
                <a:latin typeface="Arial"/>
                <a:ea typeface="Arial"/>
                <a:cs typeface="Arial"/>
              </a:rPr>
              <a:t>a text of around 500 words.</a:t>
            </a:r>
          </a:p>
        </p:txBody>
      </p:sp>
      <p:sp>
        <p:nvSpPr>
          <p:cNvPr id="7" name="Rechteck 6">
            <a:extLst>
              <a:ext uri="{FF2B5EF4-FFF2-40B4-BE49-F238E27FC236}">
                <a16:creationId xmlns:a16="http://schemas.microsoft.com/office/drawing/2014/main" id="{770C2428-AB12-480E-A86C-DFF04783CFB8}"/>
              </a:ext>
            </a:extLst>
          </p:cNvPr>
          <p:cNvSpPr>
            <a:spLocks noGrp="1"/>
          </p:cNvSpPr>
          <p:nvPr/>
        </p:nvSpPr>
        <p:spPr>
          <a:xfrm>
            <a:off x="6858000" y="3524250"/>
            <a:ext cx="4667250"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The owner’s perspective</a:t>
            </a:r>
          </a:p>
        </p:txBody>
      </p:sp>
      <p:sp>
        <p:nvSpPr>
          <p:cNvPr id="8" name="Rechteck 7">
            <a:extLst>
              <a:ext uri="{FF2B5EF4-FFF2-40B4-BE49-F238E27FC236}">
                <a16:creationId xmlns:a16="http://schemas.microsoft.com/office/drawing/2014/main" id="{7C92FF49-7633-4470-AC84-29CE205ADAAE}"/>
              </a:ext>
            </a:extLst>
          </p:cNvPr>
          <p:cNvSpPr>
            <a:spLocks noGrp="1"/>
          </p:cNvSpPr>
          <p:nvPr/>
        </p:nvSpPr>
        <p:spPr>
          <a:xfrm>
            <a:off x="6858000" y="4257675"/>
            <a:ext cx="4667250" cy="1381125"/>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a:solidFill>
                  <a:srgbClr val="16382E"/>
                </a:solidFill>
                <a:latin typeface="Arial"/>
                <a:ea typeface="Arial"/>
                <a:cs typeface="Arial"/>
              </a:rPr>
              <a:t>The owner approves the text for buyers.</a:t>
            </a:r>
          </a:p>
          <a:p>
            <a:pPr>
              <a:buNone/>
              <a:defRPr sz="1950" b="0">
                <a:solidFill>
                  <a:srgbClr val="16382E"/>
                </a:solidFill>
                <a:latin typeface="Arial"/>
                <a:ea typeface="Arial"/>
                <a:cs typeface="Arial"/>
              </a:defRPr>
            </a:pPr>
            <a:r>
              <a:rPr sz="1950" b="0">
                <a:solidFill>
                  <a:srgbClr val="16382E"/>
                </a:solidFill>
                <a:latin typeface="Arial"/>
                <a:ea typeface="Arial"/>
                <a:cs typeface="Arial"/>
              </a:rPr>
              <a:t>This self-assessment complements</a:t>
            </a:r>
          </a:p>
          <a:p>
            <a:pPr>
              <a:buNone/>
              <a:defRPr sz="1950" b="0">
                <a:solidFill>
                  <a:srgbClr val="16382E"/>
                </a:solidFill>
                <a:latin typeface="Arial"/>
                <a:ea typeface="Arial"/>
                <a:cs typeface="Arial"/>
              </a:defRPr>
            </a:pPr>
            <a:r>
              <a:rPr sz="1950" b="0">
                <a:solidFill>
                  <a:srgbClr val="16382E"/>
                </a:solidFill>
                <a:latin typeface="Arial"/>
                <a:ea typeface="Arial"/>
                <a:cs typeface="Arial"/>
              </a:rPr>
              <a:t>the business figures.</a:t>
            </a:r>
          </a:p>
        </p:txBody>
      </p:sp>
    </p:spTree>
    <p:extLst>
      <p:ext uri="{BB962C8B-B14F-4D97-AF65-F5344CB8AC3E}">
        <p14:creationId xmlns:p14="http://schemas.microsoft.com/office/powerpoint/2010/main" val="626807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A065ED4-F02C-4FC4-A9D3-D7CBB7B8403F}"/>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Buyer introductions and initial implementation</a:t>
            </a:r>
          </a:p>
        </p:txBody>
      </p:sp>
      <p:sp>
        <p:nvSpPr>
          <p:cNvPr id="2" name="Rechteck 1">
            <a:extLst>
              <a:ext uri="{FF2B5EF4-FFF2-40B4-BE49-F238E27FC236}">
                <a16:creationId xmlns:a16="http://schemas.microsoft.com/office/drawing/2014/main" id="{C04EF6C0-2D9C-40AA-80A8-8732DCFDBA1A}"/>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0303785B-37C7-43AA-AF1F-C9AB976E75DB}"/>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09</a:t>
            </a:r>
          </a:p>
        </p:txBody>
      </p:sp>
      <p:sp>
        <p:nvSpPr>
          <p:cNvPr id="4" name="Rechteck 3">
            <a:extLst>
              <a:ext uri="{FF2B5EF4-FFF2-40B4-BE49-F238E27FC236}">
                <a16:creationId xmlns:a16="http://schemas.microsoft.com/office/drawing/2014/main" id="{16610583-77F3-41CC-964E-90A43BF349E3}"/>
              </a:ext>
            </a:extLst>
          </p:cNvPr>
          <p:cNvSpPr>
            <a:spLocks noGrp="1"/>
          </p:cNvSpPr>
          <p:nvPr/>
        </p:nvSpPr>
        <p:spPr>
          <a:xfrm>
            <a:off x="685800" y="1857375"/>
            <a:ext cx="5191125" cy="619125"/>
          </a:xfrm>
          <a:prstGeom prst="rect">
            <a:avLst/>
          </a:prstGeom>
          <a:noFill/>
          <a:ln w="0">
            <a:noFill/>
          </a:ln>
        </p:spPr>
        <p:txBody>
          <a:bodyPr>
            <a:noAutofit/>
          </a:bodyPr>
          <a:lstStyle/>
          <a:p>
            <a:pPr>
              <a:buNone/>
              <a:defRPr sz="2400" b="1">
                <a:solidFill>
                  <a:srgbClr val="16382E"/>
                </a:solidFill>
                <a:latin typeface="Arial"/>
                <a:ea typeface="Arial"/>
                <a:cs typeface="Arial"/>
              </a:defRPr>
            </a:pPr>
            <a:r>
              <a:rPr sz="2400" b="1">
                <a:solidFill>
                  <a:srgbClr val="16382E"/>
                </a:solidFill>
                <a:latin typeface="Arial"/>
                <a:ea typeface="Arial"/>
                <a:cs typeface="Arial"/>
              </a:rPr>
              <a:t>How an introduction takes shape</a:t>
            </a:r>
          </a:p>
        </p:txBody>
      </p:sp>
      <p:sp>
        <p:nvSpPr>
          <p:cNvPr id="5" name="Rechteck 4">
            <a:extLst>
              <a:ext uri="{FF2B5EF4-FFF2-40B4-BE49-F238E27FC236}">
                <a16:creationId xmlns:a16="http://schemas.microsoft.com/office/drawing/2014/main" id="{E60F6521-BCA6-4564-9600-43742967F47D}"/>
              </a:ext>
            </a:extLst>
          </p:cNvPr>
          <p:cNvSpPr>
            <a:spLocks noGrp="1"/>
          </p:cNvSpPr>
          <p:nvPr/>
        </p:nvSpPr>
        <p:spPr>
          <a:xfrm>
            <a:off x="685800" y="2800350"/>
            <a:ext cx="5286375" cy="3048000"/>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a:solidFill>
                  <a:srgbClr val="16382E"/>
                </a:solidFill>
                <a:latin typeface="Arial"/>
                <a:ea typeface="Arial"/>
                <a:cs typeface="Arial"/>
              </a:rPr>
              <a:t>Match saved profiles with the search</a:t>
            </a:r>
          </a:p>
          <a:p>
            <a:pPr>
              <a:buNone/>
              <a:defRPr sz="1950" b="0">
                <a:solidFill>
                  <a:srgbClr val="16382E"/>
                </a:solidFill>
                <a:latin typeface="Arial"/>
                <a:ea typeface="Arial"/>
                <a:cs typeface="Arial"/>
              </a:defRPr>
            </a:pPr>
            <a:r>
              <a:rPr sz="1950" b="0">
                <a:solidFill>
                  <a:srgbClr val="16382E"/>
                </a:solidFill>
                <a:latin typeface="Arial"/>
                <a:ea typeface="Arial"/>
                <a:cs typeface="Arial"/>
              </a:rPr>
              <a:t>criteria of potential buyers.</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When interest aligns, contact the owner</a:t>
            </a:r>
          </a:p>
          <a:p>
            <a:pPr>
              <a:buNone/>
              <a:defRPr sz="1950" b="0">
                <a:solidFill>
                  <a:srgbClr val="16382E"/>
                </a:solidFill>
                <a:latin typeface="Arial"/>
                <a:ea typeface="Arial"/>
                <a:cs typeface="Arial"/>
              </a:defRPr>
            </a:pPr>
            <a:r>
              <a:rPr sz="1950" b="0">
                <a:solidFill>
                  <a:srgbClr val="16382E"/>
                </a:solidFill>
                <a:latin typeface="Arial"/>
                <a:ea typeface="Arial"/>
                <a:cs typeface="Arial"/>
              </a:rPr>
              <a:t>in line with their permission.</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Clarify further details and connect both</a:t>
            </a:r>
          </a:p>
          <a:p>
            <a:pPr>
              <a:buNone/>
              <a:defRPr sz="1950" b="0">
                <a:solidFill>
                  <a:srgbClr val="16382E"/>
                </a:solidFill>
                <a:latin typeface="Arial"/>
                <a:ea typeface="Arial"/>
                <a:cs typeface="Arial"/>
              </a:defRPr>
            </a:pPr>
            <a:r>
              <a:rPr sz="1950" b="0">
                <a:solidFill>
                  <a:srgbClr val="16382E"/>
                </a:solidFill>
                <a:latin typeface="Arial"/>
                <a:ea typeface="Arial"/>
                <a:cs typeface="Arial"/>
              </a:rPr>
              <a:t>sides when there is mutual interest.</a:t>
            </a:r>
          </a:p>
        </p:txBody>
      </p:sp>
      <p:sp>
        <p:nvSpPr>
          <p:cNvPr id="6" name="Rechteck 5">
            <a:extLst>
              <a:ext uri="{FF2B5EF4-FFF2-40B4-BE49-F238E27FC236}">
                <a16:creationId xmlns:a16="http://schemas.microsoft.com/office/drawing/2014/main" id="{C41DC93C-015C-42F3-81E4-BAD6670AE7E8}"/>
              </a:ext>
            </a:extLst>
          </p:cNvPr>
          <p:cNvSpPr>
            <a:spLocks noGrp="1"/>
          </p:cNvSpPr>
          <p:nvPr/>
        </p:nvSpPr>
        <p:spPr>
          <a:xfrm>
            <a:off x="6953250" y="1857375"/>
            <a:ext cx="4572000" cy="809625"/>
          </a:xfrm>
          <a:prstGeom prst="rect">
            <a:avLst/>
          </a:prstGeom>
          <a:noFill/>
          <a:ln w="0">
            <a:noFill/>
          </a:ln>
        </p:spPr>
        <p:txBody>
          <a:bodyPr>
            <a:noAutofit/>
          </a:bodyPr>
          <a:lstStyle/>
          <a:p>
            <a:pPr>
              <a:buNone/>
              <a:defRPr sz="2400" b="1">
                <a:solidFill>
                  <a:srgbClr val="16382E"/>
                </a:solidFill>
                <a:latin typeface="Arial"/>
                <a:ea typeface="Arial"/>
                <a:cs typeface="Arial"/>
              </a:defRPr>
            </a:pPr>
            <a:r>
              <a:rPr sz="2400" b="1">
                <a:solidFill>
                  <a:srgbClr val="16382E"/>
                </a:solidFill>
                <a:latin typeface="Arial"/>
                <a:ea typeface="Arial"/>
                <a:cs typeface="Arial"/>
              </a:rPr>
              <a:t>Proposed first version</a:t>
            </a:r>
          </a:p>
        </p:txBody>
      </p:sp>
      <p:sp>
        <p:nvSpPr>
          <p:cNvPr id="7" name="Rechteck 6">
            <a:extLst>
              <a:ext uri="{FF2B5EF4-FFF2-40B4-BE49-F238E27FC236}">
                <a16:creationId xmlns:a16="http://schemas.microsoft.com/office/drawing/2014/main" id="{8FF1A717-0F91-41FA-818C-7681364DBE86}"/>
              </a:ext>
            </a:extLst>
          </p:cNvPr>
          <p:cNvSpPr>
            <a:spLocks noGrp="1"/>
          </p:cNvSpPr>
          <p:nvPr/>
        </p:nvSpPr>
        <p:spPr>
          <a:xfrm>
            <a:off x="6953250" y="2800350"/>
            <a:ext cx="4619625" cy="3048000"/>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dirty="0">
                <a:solidFill>
                  <a:srgbClr val="16382E"/>
                </a:solidFill>
                <a:latin typeface="Arial"/>
                <a:ea typeface="Arial"/>
                <a:cs typeface="Arial"/>
              </a:rPr>
              <a:t>Quick Check and results</a:t>
            </a:r>
          </a:p>
          <a:p>
            <a:endParaRPr sz="1950" b="0" dirty="0">
              <a:solidFill>
                <a:srgbClr val="16382E"/>
              </a:solidFill>
              <a:latin typeface="Arial"/>
              <a:ea typeface="Arial"/>
              <a:cs typeface="Arial"/>
            </a:endParaRPr>
          </a:p>
          <a:p>
            <a:pPr>
              <a:buNone/>
              <a:defRPr sz="1950" b="0">
                <a:solidFill>
                  <a:srgbClr val="16382E"/>
                </a:solidFill>
                <a:latin typeface="Arial"/>
                <a:ea typeface="Arial"/>
                <a:cs typeface="Arial"/>
              </a:defRPr>
            </a:pPr>
            <a:r>
              <a:rPr sz="1950" b="0" dirty="0">
                <a:solidFill>
                  <a:srgbClr val="16382E"/>
                </a:solidFill>
                <a:latin typeface="Arial"/>
                <a:ea typeface="Arial"/>
                <a:cs typeface="Arial"/>
              </a:rPr>
              <a:t>Profile database with separate permissions</a:t>
            </a:r>
          </a:p>
          <a:p>
            <a:endParaRPr sz="1950" b="0" dirty="0">
              <a:solidFill>
                <a:srgbClr val="16382E"/>
              </a:solidFill>
              <a:latin typeface="Arial"/>
              <a:ea typeface="Arial"/>
              <a:cs typeface="Arial"/>
            </a:endParaRPr>
          </a:p>
          <a:p>
            <a:pPr>
              <a:buNone/>
              <a:defRPr sz="1950" b="0">
                <a:solidFill>
                  <a:srgbClr val="16382E"/>
                </a:solidFill>
                <a:latin typeface="Arial"/>
                <a:ea typeface="Arial"/>
                <a:cs typeface="Arial"/>
              </a:defRPr>
            </a:pPr>
            <a:r>
              <a:rPr sz="1950" b="0" dirty="0" err="1">
                <a:solidFill>
                  <a:srgbClr val="16382E"/>
                </a:solidFill>
                <a:latin typeface="Arial"/>
                <a:ea typeface="Arial"/>
                <a:cs typeface="Arial"/>
              </a:rPr>
              <a:t>Mergero</a:t>
            </a:r>
            <a:r>
              <a:rPr sz="1950" b="0" dirty="0">
                <a:solidFill>
                  <a:srgbClr val="16382E"/>
                </a:solidFill>
                <a:latin typeface="Arial"/>
                <a:ea typeface="Arial"/>
                <a:cs typeface="Arial"/>
              </a:rPr>
              <a:t> handles buyer matching initially</a:t>
            </a:r>
          </a:p>
          <a:p>
            <a:endParaRPr sz="1950" b="0" dirty="0">
              <a:solidFill>
                <a:srgbClr val="16382E"/>
              </a:solidFill>
              <a:latin typeface="Arial"/>
              <a:ea typeface="Arial"/>
              <a:cs typeface="Arial"/>
            </a:endParaRPr>
          </a:p>
          <a:p>
            <a:pPr>
              <a:buNone/>
              <a:defRPr sz="1950" b="0">
                <a:solidFill>
                  <a:srgbClr val="16382E"/>
                </a:solidFill>
                <a:latin typeface="Arial"/>
                <a:ea typeface="Arial"/>
                <a:cs typeface="Arial"/>
              </a:defRPr>
            </a:pPr>
            <a:r>
              <a:rPr sz="1950" b="0" dirty="0">
                <a:solidFill>
                  <a:srgbClr val="16382E"/>
                </a:solidFill>
                <a:latin typeface="Arial"/>
                <a:ea typeface="Arial"/>
                <a:cs typeface="Arial"/>
              </a:rPr>
              <a:t>Later: AI call</a:t>
            </a:r>
            <a:r>
              <a:rPr lang="de-DE" sz="1950" b="0" dirty="0">
                <a:solidFill>
                  <a:srgbClr val="16382E"/>
                </a:solidFill>
                <a:latin typeface="Arial"/>
                <a:ea typeface="Arial"/>
                <a:cs typeface="Arial"/>
              </a:rPr>
              <a:t>s</a:t>
            </a:r>
            <a:endParaRPr sz="1950" b="0" dirty="0">
              <a:solidFill>
                <a:srgbClr val="16382E"/>
              </a:solidFill>
              <a:latin typeface="Arial"/>
              <a:ea typeface="Arial"/>
              <a:cs typeface="Arial"/>
            </a:endParaRPr>
          </a:p>
        </p:txBody>
      </p:sp>
    </p:spTree>
    <p:extLst>
      <p:ext uri="{BB962C8B-B14F-4D97-AF65-F5344CB8AC3E}">
        <p14:creationId xmlns:p14="http://schemas.microsoft.com/office/powerpoint/2010/main" val="212645039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886</Words>
  <Application>Microsoft Office PowerPoint</Application>
  <DocSecurity>0</DocSecurity>
  <PresentationFormat>Breitbild</PresentationFormat>
  <Paragraphs>123</Paragraphs>
  <Slides>8</Slides>
  <Notes>8</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8</vt:i4>
      </vt:variant>
    </vt:vector>
  </HeadingPairs>
  <TitlesOfParts>
    <vt:vector size="11" baseType="lpstr">
      <vt:lpstr>Arial</vt:lpstr>
      <vt:lpstr>Calibri</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Jeremias Aechtner</cp:lastModifiedBy>
  <cp:revision>1</cp:revision>
  <dcterms:created xsi:type="dcterms:W3CDTF">2026-09-26T21:04:33Z</dcterms:created>
  <dcterms:modified xsi:type="dcterms:W3CDTF">2026-09-26T22:09:05Z</dcterms:modified>
</cp:coreProperties>
</file>