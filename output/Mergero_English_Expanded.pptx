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4" d="100"/>
          <a:sy n="94" d="100"/>
        </p:scale>
        <p:origin x="75" y="9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solution description supplied by the project team. Product concept, not features already implemented. Working title of the engine: Mergero Quick Check. Cover: conceptual illustration created with the built-in Imagegen tool. Prompt: ivory business campus connected by a mint ribbon to a dark green building, editorial sculptural illustration, no text. Asset: .mergero-build/cover.png.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solution description supplied by the project team. Product concept, not features already implemented. The product name “Mergero Quick Check” is a proposal. Mergero benefits from a growing database of businesses with documented preferences.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solution description supplied by the project team. Product concept, not features already implemented. Proposed user journey. Saving a profile and receiving future contact are separate decisions.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solution description supplied by the project team. Product concept, not features already implemented. The three core inputs come from the description. Industry and location are additional suggestions. Contact details are collected for requested follow-up services.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solution description supplied by the project team. Product concept, not features already implemented. Concept proposal: the valuation methodology, suitable comparison data and rules for special cases must be defined and checked before implementation. No figures or validated valuation models have been provided. The presentation therefore contains no invented values. The estimate is not a binding determination of a purchase price.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solution description supplied by the project team. Product concept, not features already implemented. The conversation topics, scheduling and confirmation of the summary are proposals that make the requested AI calling service more concrete. The service is optional.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solution description supplied by the project team. Product concept, not features already implemented. The culture text and the approximate length of 500 words come from the description. Confirmation and sharing approval are process proposals. Buyers see a labelled self-assessment, not an independent culture assessment.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solution description supplied by the project team. Product concept, not features already implemented. Prioritisation is an implementation proposal. Matching is initially intended to be manual to learn the requirements. Success can be assessed through completed checks, saved profiles, contact opt-ins and conversations arranged. No performance or revenue forecasts.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Finland launch strategy. YTJ provides basic company data: https://www.ytj.fi/en/index/companysearch.html . PRH Virre provides official register details: https://www.prh.fi/en/companiesandorganisations/tietopalvelut/virre.html . Management roles do not establish ownership. Verify the owner role and record the source. Suomen Yrittäjät provides ownership-transfer support and links to Yrityspörssi and Firmakauppa: https://en.yrittajat.fi/tietopankki/omistajanvaihdos/ . These organisations are prospective channels, not confirmed Mergero partners. Research checked 27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Pilot proposal, not a forecast or an existing campaign. The 30-company and three-partner counts are suggested test sizes. Track invitation or referral source, check starts, completions, saved profiles and requested conversations. Measure rates only when the denominator is known. Use appropriate permission-based introductions and partner distribution. The 30-day independence question is a campaign concept and a possible future entry test, not a claim that a scored vacation test is already live. Owners need not have decided to sell.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Original advertising concepts generated with Imagegen for Mergero. These are concept illustrations, not real customers or campaign performance. Left: independence and curiosity, suitable for entrepreneur newsletters or social posts. Middle: preparation for buyer questions, suitable for a professional-network campaign. Right: continuity of the team and company, suitable for adviser referrals. Current buyer practice is a guided demo, not a live AI buyer. Copy: Could your business run without you? Explore your next chapter. Explore Mergero. / Meet your toughest buyer. In practice. Prepare for the questions that matter. Try a practice conversation. / Your business. Your people. Your next chapter. Define what a future owner should preserve. Set your priorities.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F2A"/>
        </a:solidFill>
        <a:effectLst/>
      </p:bgPr>
    </p:bg>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CCB77EDD-C3D9-431C-B87F-9F34A5DAC749}"/>
              </a:ext>
            </a:extLst>
          </p:cNvPr>
          <p:cNvSpPr>
            <a:spLocks noGrp="1"/>
          </p:cNvSpPr>
          <p:nvPr/>
        </p:nvSpPr>
        <p:spPr>
          <a:xfrm>
            <a:off x="685800" y="523875"/>
            <a:ext cx="10820400" cy="1047750"/>
          </a:xfrm>
          <a:prstGeom prst="rect">
            <a:avLst/>
          </a:prstGeom>
          <a:noFill/>
          <a:ln w="0">
            <a:noFill/>
          </a:ln>
        </p:spPr>
        <p:txBody>
          <a:bodyPr>
            <a:noAutofit/>
          </a:bodyPr>
          <a:lstStyle/>
          <a:p>
            <a:pPr>
              <a:buNone/>
              <a:defRPr sz="3450" b="1">
                <a:solidFill>
                  <a:srgbClr val="F4F2EA"/>
                </a:solidFill>
                <a:latin typeface="Arial"/>
                <a:ea typeface="Arial"/>
                <a:cs typeface="Arial"/>
              </a:defRPr>
            </a:pPr>
            <a:r>
              <a:rPr sz="3450" b="1">
                <a:solidFill>
                  <a:srgbClr val="F4F2EA"/>
                </a:solidFill>
                <a:latin typeface="Arial"/>
                <a:ea typeface="Arial"/>
                <a:cs typeface="Arial"/>
              </a:rPr>
              <a:t>Mergero</a:t>
            </a:r>
          </a:p>
        </p:txBody>
      </p:sp>
      <p:sp>
        <p:nvSpPr>
          <p:cNvPr id="2" name="Rechteck 1">
            <a:extLst>
              <a:ext uri="{FF2B5EF4-FFF2-40B4-BE49-F238E27FC236}">
                <a16:creationId xmlns:a16="http://schemas.microsoft.com/office/drawing/2014/main" id="{F6895AC0-043D-480E-AE50-16D9E3DF1A24}"/>
              </a:ext>
            </a:extLst>
          </p:cNvPr>
          <p:cNvSpPr>
            <a:spLocks noGrp="1"/>
          </p:cNvSpPr>
          <p:nvPr/>
        </p:nvSpPr>
        <p:spPr>
          <a:xfrm>
            <a:off x="685800" y="6362700"/>
            <a:ext cx="1905000" cy="238125"/>
          </a:xfrm>
          <a:prstGeom prst="rect">
            <a:avLst/>
          </a:prstGeom>
          <a:noFill/>
          <a:ln w="0">
            <a:noFill/>
          </a:ln>
        </p:spPr>
        <p:txBody>
          <a:bodyPr>
            <a:noAutofit/>
          </a:bodyPr>
          <a:lstStyle/>
          <a:p>
            <a:pPr>
              <a:buNone/>
              <a:defRPr sz="1200" b="1">
                <a:solidFill>
                  <a:srgbClr val="B9DEC7"/>
                </a:solidFill>
                <a:latin typeface="Arial"/>
                <a:ea typeface="Arial"/>
                <a:cs typeface="Arial"/>
              </a:defRPr>
            </a:pPr>
            <a:r>
              <a:rPr sz="1200" b="1">
                <a:solidFill>
                  <a:srgbClr val="B9DEC7"/>
                </a:solidFill>
                <a:latin typeface="Arial"/>
                <a:ea typeface="Arial"/>
                <a:cs typeface="Arial"/>
              </a:rPr>
              <a:t>MERGERO</a:t>
            </a:r>
          </a:p>
        </p:txBody>
      </p:sp>
      <p:sp>
        <p:nvSpPr>
          <p:cNvPr id="3" name="Rechteck 2">
            <a:extLst>
              <a:ext uri="{FF2B5EF4-FFF2-40B4-BE49-F238E27FC236}">
                <a16:creationId xmlns:a16="http://schemas.microsoft.com/office/drawing/2014/main" id="{5496B38F-B654-46E3-BD89-3A507BD12F4B}"/>
              </a:ext>
            </a:extLst>
          </p:cNvPr>
          <p:cNvSpPr>
            <a:spLocks noGrp="1"/>
          </p:cNvSpPr>
          <p:nvPr/>
        </p:nvSpPr>
        <p:spPr>
          <a:xfrm>
            <a:off x="10953750" y="6324600"/>
            <a:ext cx="571500" cy="266700"/>
          </a:xfrm>
          <a:prstGeom prst="rect">
            <a:avLst/>
          </a:prstGeom>
          <a:noFill/>
          <a:ln w="0">
            <a:noFill/>
          </a:ln>
        </p:spPr>
        <p:txBody>
          <a:bodyPr>
            <a:noAutofit/>
          </a:bodyPr>
          <a:lstStyle/>
          <a:p>
            <a:pPr>
              <a:buNone/>
              <a:defRPr sz="1350" b="0">
                <a:solidFill>
                  <a:srgbClr val="B9DEC7"/>
                </a:solidFill>
                <a:latin typeface="Arial"/>
                <a:ea typeface="Arial"/>
                <a:cs typeface="Arial"/>
              </a:defRPr>
            </a:pPr>
            <a:r>
              <a:rPr sz="1350" b="0">
                <a:solidFill>
                  <a:srgbClr val="B9DEC7"/>
                </a:solidFill>
                <a:latin typeface="Arial"/>
                <a:ea typeface="Arial"/>
                <a:cs typeface="Arial"/>
              </a:rPr>
              <a:t>01</a:t>
            </a:r>
          </a:p>
        </p:txBody>
      </p:sp>
      <p:pic>
        <p:nvPicPr>
          <p:cNvPr id="12" name="Grafik 11"/>
          <p:cNvPicPr>
            <a:picLocks noChangeAspect="1"/>
          </p:cNvPicPr>
          <p:nvPr/>
        </p:nvPicPr>
        <p:blipFill>
          <a:blip r:embed="rId3"/>
          <a:srcRect t="3555" b="3555"/>
          <a:stretch>
            <a:fillRect/>
          </a:stretch>
        </p:blipFill>
        <p:spPr>
          <a:xfrm>
            <a:off x="6858000" y="0"/>
            <a:ext cx="5334000" cy="6191250"/>
          </a:xfrm>
          <a:prstGeom prst="rect">
            <a:avLst/>
          </a:prstGeom>
        </p:spPr>
      </p:pic>
      <p:sp>
        <p:nvSpPr>
          <p:cNvPr id="5" name="Rechteck 4">
            <a:extLst>
              <a:ext uri="{FF2B5EF4-FFF2-40B4-BE49-F238E27FC236}">
                <a16:creationId xmlns:a16="http://schemas.microsoft.com/office/drawing/2014/main" id="{915DBA00-8DB4-48B5-B1A9-CC65C71A19B2}"/>
              </a:ext>
            </a:extLst>
          </p:cNvPr>
          <p:cNvSpPr>
            <a:spLocks noGrp="1"/>
          </p:cNvSpPr>
          <p:nvPr/>
        </p:nvSpPr>
        <p:spPr>
          <a:xfrm>
            <a:off x="685800" y="2238375"/>
            <a:ext cx="6381750" cy="1476375"/>
          </a:xfrm>
          <a:prstGeom prst="rect">
            <a:avLst/>
          </a:prstGeom>
          <a:noFill/>
          <a:ln w="0">
            <a:noFill/>
          </a:ln>
        </p:spPr>
        <p:txBody>
          <a:bodyPr>
            <a:noAutofit/>
          </a:bodyPr>
          <a:lstStyle/>
          <a:p>
            <a:pPr>
              <a:buNone/>
              <a:defRPr sz="3825" b="1">
                <a:solidFill>
                  <a:srgbClr val="F4F2EA"/>
                </a:solidFill>
                <a:latin typeface="Arial"/>
                <a:ea typeface="Arial"/>
                <a:cs typeface="Arial"/>
              </a:defRPr>
            </a:pPr>
            <a:r>
              <a:rPr sz="3825" b="1">
                <a:solidFill>
                  <a:srgbClr val="F4F2EA"/>
                </a:solidFill>
                <a:latin typeface="Arial"/>
                <a:ea typeface="Arial"/>
                <a:cs typeface="Arial"/>
              </a:rPr>
              <a:t>Assess your business.</a:t>
            </a:r>
          </a:p>
          <a:p>
            <a:pPr>
              <a:buNone/>
              <a:defRPr sz="3825" b="1">
                <a:solidFill>
                  <a:srgbClr val="F4F2EA"/>
                </a:solidFill>
                <a:latin typeface="Arial"/>
                <a:ea typeface="Arial"/>
                <a:cs typeface="Arial"/>
              </a:defRPr>
            </a:pPr>
            <a:r>
              <a:rPr sz="3825" b="1">
                <a:solidFill>
                  <a:srgbClr val="F4F2EA"/>
                </a:solidFill>
                <a:latin typeface="Arial"/>
                <a:ea typeface="Arial"/>
                <a:cs typeface="Arial"/>
              </a:rPr>
              <a:t>Meet potential buyers.</a:t>
            </a:r>
          </a:p>
        </p:txBody>
      </p:sp>
      <p:sp>
        <p:nvSpPr>
          <p:cNvPr id="6" name="Rechteck 5">
            <a:extLst>
              <a:ext uri="{FF2B5EF4-FFF2-40B4-BE49-F238E27FC236}">
                <a16:creationId xmlns:a16="http://schemas.microsoft.com/office/drawing/2014/main" id="{A14FF481-AAF7-423A-B90D-107180934C29}"/>
              </a:ext>
            </a:extLst>
          </p:cNvPr>
          <p:cNvSpPr>
            <a:spLocks noGrp="1"/>
          </p:cNvSpPr>
          <p:nvPr/>
        </p:nvSpPr>
        <p:spPr>
          <a:xfrm>
            <a:off x="685800" y="4143375"/>
            <a:ext cx="6048375" cy="1047750"/>
          </a:xfrm>
          <a:prstGeom prst="rect">
            <a:avLst/>
          </a:prstGeom>
          <a:noFill/>
          <a:ln w="0">
            <a:noFill/>
          </a:ln>
        </p:spPr>
        <p:txBody>
          <a:bodyPr>
            <a:noAutofit/>
          </a:bodyPr>
          <a:lstStyle/>
          <a:p>
            <a:pPr>
              <a:buNone/>
              <a:defRPr sz="2100" b="0">
                <a:solidFill>
                  <a:srgbClr val="B9DEC7"/>
                </a:solidFill>
                <a:latin typeface="Arial"/>
                <a:ea typeface="Arial"/>
                <a:cs typeface="Arial"/>
              </a:defRPr>
            </a:pPr>
            <a:r>
              <a:rPr sz="2100" b="0">
                <a:solidFill>
                  <a:srgbClr val="B9DEC7"/>
                </a:solidFill>
                <a:latin typeface="Arial"/>
                <a:ea typeface="Arial"/>
                <a:cs typeface="Arial"/>
              </a:rPr>
              <a:t>A quick business check as a first step</a:t>
            </a:r>
          </a:p>
          <a:p>
            <a:pPr>
              <a:buNone/>
              <a:defRPr sz="2100" b="0">
                <a:solidFill>
                  <a:srgbClr val="B9DEC7"/>
                </a:solidFill>
                <a:latin typeface="Arial"/>
                <a:ea typeface="Arial"/>
                <a:cs typeface="Arial"/>
              </a:defRPr>
            </a:pPr>
            <a:r>
              <a:rPr sz="2100" b="0">
                <a:solidFill>
                  <a:srgbClr val="B9DEC7"/>
                </a:solidFill>
                <a:latin typeface="Arial"/>
                <a:ea typeface="Arial"/>
                <a:cs typeface="Arial"/>
              </a:rPr>
              <a:t>towards a potential business succession.</a:t>
            </a:r>
          </a:p>
        </p:txBody>
      </p:sp>
    </p:spTree>
    <p:extLst>
      <p:ext uri="{BB962C8B-B14F-4D97-AF65-F5344CB8AC3E}">
        <p14:creationId xmlns:p14="http://schemas.microsoft.com/office/powerpoint/2010/main" val="388147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2EA"/>
        </a:solidFill>
        <a:effectLst/>
      </p:bgPr>
    </p:bg>
    <p:spTree>
      <p:nvGrpSpPr>
        <p:cNvPr id="1" name=""/>
        <p:cNvGrpSpPr/>
        <p:nvPr/>
      </p:nvGrpSpPr>
      <p:grpSpPr>
        <a:xfrm>
          <a:off x="0" y="0"/>
          <a:ext cx="0" cy="0"/>
          <a:chOff x="0" y="0"/>
          <a:chExt cx="0" cy="0"/>
        </a:xfrm>
      </p:grpSpPr>
      <p:sp>
        <p:nvSpPr>
          <p:cNvPr id="13" name="Rechteck 12">
            <a:extLst>
              <a:ext uri="{FF2B5EF4-FFF2-40B4-BE49-F238E27FC236}">
                <a16:creationId xmlns:a16="http://schemas.microsoft.com/office/drawing/2014/main" id="{E5ED9FC5-7A6E-40DA-995A-9B984BC45666}"/>
              </a:ext>
            </a:extLst>
          </p:cNvPr>
          <p:cNvSpPr>
            <a:spLocks noGrp="1"/>
          </p:cNvSpPr>
          <p:nvPr/>
        </p:nvSpPr>
        <p:spPr>
          <a:xfrm>
            <a:off x="685800" y="523875"/>
            <a:ext cx="10820400" cy="1047750"/>
          </a:xfrm>
          <a:prstGeom prst="rect">
            <a:avLst/>
          </a:prstGeom>
          <a:noFill/>
          <a:ln w="0">
            <a:noFill/>
          </a:ln>
        </p:spPr>
        <p:txBody>
          <a:bodyPr>
            <a:noAutofit/>
          </a:bodyPr>
          <a:lstStyle/>
          <a:p>
            <a:pPr>
              <a:buNone/>
              <a:defRPr sz="3450" b="1">
                <a:solidFill>
                  <a:srgbClr val="16382E"/>
                </a:solidFill>
                <a:latin typeface="Arial"/>
                <a:ea typeface="Arial"/>
                <a:cs typeface="Arial"/>
              </a:defRPr>
            </a:pPr>
            <a:r>
              <a:rPr sz="3450" b="1">
                <a:solidFill>
                  <a:srgbClr val="16382E"/>
                </a:solidFill>
                <a:latin typeface="Arial"/>
                <a:ea typeface="Arial"/>
                <a:cs typeface="Arial"/>
              </a:rPr>
              <a:t>The solution: Mergero Quick Check</a:t>
            </a:r>
          </a:p>
        </p:txBody>
      </p:sp>
      <p:sp>
        <p:nvSpPr>
          <p:cNvPr id="2" name="Rechteck 1">
            <a:extLst>
              <a:ext uri="{FF2B5EF4-FFF2-40B4-BE49-F238E27FC236}">
                <a16:creationId xmlns:a16="http://schemas.microsoft.com/office/drawing/2014/main" id="{B7D23E57-A3A6-46EF-AB61-DF5F2D8C3D3D}"/>
              </a:ext>
            </a:extLst>
          </p:cNvPr>
          <p:cNvSpPr>
            <a:spLocks noGrp="1"/>
          </p:cNvSpPr>
          <p:nvPr/>
        </p:nvSpPr>
        <p:spPr>
          <a:xfrm>
            <a:off x="685800" y="6362700"/>
            <a:ext cx="1905000" cy="238125"/>
          </a:xfrm>
          <a:prstGeom prst="rect">
            <a:avLst/>
          </a:prstGeom>
          <a:noFill/>
          <a:ln w="0">
            <a:noFill/>
          </a:ln>
        </p:spPr>
        <p:txBody>
          <a:bodyPr>
            <a:noAutofit/>
          </a:bodyPr>
          <a:lstStyle/>
          <a:p>
            <a:pPr>
              <a:buNone/>
              <a:defRPr sz="1200" b="1">
                <a:solidFill>
                  <a:srgbClr val="536B60"/>
                </a:solidFill>
                <a:latin typeface="Arial"/>
                <a:ea typeface="Arial"/>
                <a:cs typeface="Arial"/>
              </a:defRPr>
            </a:pPr>
            <a:r>
              <a:rPr sz="1200" b="1">
                <a:solidFill>
                  <a:srgbClr val="536B60"/>
                </a:solidFill>
                <a:latin typeface="Arial"/>
                <a:ea typeface="Arial"/>
                <a:cs typeface="Arial"/>
              </a:rPr>
              <a:t>MERGERO</a:t>
            </a:r>
          </a:p>
        </p:txBody>
      </p:sp>
      <p:sp>
        <p:nvSpPr>
          <p:cNvPr id="3" name="Rechteck 2">
            <a:extLst>
              <a:ext uri="{FF2B5EF4-FFF2-40B4-BE49-F238E27FC236}">
                <a16:creationId xmlns:a16="http://schemas.microsoft.com/office/drawing/2014/main" id="{0949356A-C421-4EA5-95A9-F056AC77BFF5}"/>
              </a:ext>
            </a:extLst>
          </p:cNvPr>
          <p:cNvSpPr>
            <a:spLocks noGrp="1"/>
          </p:cNvSpPr>
          <p:nvPr/>
        </p:nvSpPr>
        <p:spPr>
          <a:xfrm>
            <a:off x="10953750" y="6324600"/>
            <a:ext cx="571500" cy="266700"/>
          </a:xfrm>
          <a:prstGeom prst="rect">
            <a:avLst/>
          </a:prstGeom>
          <a:noFill/>
          <a:ln w="0">
            <a:noFill/>
          </a:ln>
        </p:spPr>
        <p:txBody>
          <a:bodyPr>
            <a:noAutofit/>
          </a:bodyPr>
          <a:lstStyle/>
          <a:p>
            <a:pPr>
              <a:buNone/>
              <a:defRPr sz="1350" b="0">
                <a:solidFill>
                  <a:srgbClr val="536B60"/>
                </a:solidFill>
                <a:latin typeface="Arial"/>
                <a:ea typeface="Arial"/>
                <a:cs typeface="Arial"/>
              </a:defRPr>
            </a:pPr>
            <a:r>
              <a:rPr sz="1350" b="0">
                <a:solidFill>
                  <a:srgbClr val="536B60"/>
                </a:solidFill>
                <a:latin typeface="Arial"/>
                <a:ea typeface="Arial"/>
                <a:cs typeface="Arial"/>
              </a:rPr>
              <a:t>02</a:t>
            </a:r>
          </a:p>
        </p:txBody>
      </p:sp>
      <p:sp>
        <p:nvSpPr>
          <p:cNvPr id="4" name="Rechteck 3">
            <a:extLst>
              <a:ext uri="{FF2B5EF4-FFF2-40B4-BE49-F238E27FC236}">
                <a16:creationId xmlns:a16="http://schemas.microsoft.com/office/drawing/2014/main" id="{380642EC-3930-46F7-AD82-8321CE006E83}"/>
              </a:ext>
            </a:extLst>
          </p:cNvPr>
          <p:cNvSpPr>
            <a:spLocks noGrp="1"/>
          </p:cNvSpPr>
          <p:nvPr/>
        </p:nvSpPr>
        <p:spPr>
          <a:xfrm>
            <a:off x="685800" y="1971675"/>
            <a:ext cx="3190875" cy="609600"/>
          </a:xfrm>
          <a:prstGeom prst="rect">
            <a:avLst/>
          </a:prstGeom>
          <a:noFill/>
          <a:ln w="0">
            <a:noFill/>
          </a:ln>
        </p:spPr>
        <p:txBody>
          <a:bodyPr>
            <a:noAutofit/>
          </a:bodyPr>
          <a:lstStyle/>
          <a:p>
            <a:pPr>
              <a:buNone/>
              <a:defRPr sz="3900" b="0">
                <a:solidFill>
                  <a:srgbClr val="536B60"/>
                </a:solidFill>
                <a:latin typeface="Arial"/>
                <a:ea typeface="Arial"/>
                <a:cs typeface="Arial"/>
              </a:defRPr>
            </a:pPr>
            <a:r>
              <a:rPr sz="3900" b="0">
                <a:solidFill>
                  <a:srgbClr val="536B60"/>
                </a:solidFill>
                <a:latin typeface="Arial"/>
                <a:ea typeface="Arial"/>
                <a:cs typeface="Arial"/>
              </a:rPr>
              <a:t>01</a:t>
            </a:r>
          </a:p>
        </p:txBody>
      </p:sp>
      <p:sp>
        <p:nvSpPr>
          <p:cNvPr id="5" name="Rechteck 4">
            <a:extLst>
              <a:ext uri="{FF2B5EF4-FFF2-40B4-BE49-F238E27FC236}">
                <a16:creationId xmlns:a16="http://schemas.microsoft.com/office/drawing/2014/main" id="{516227D8-9358-43B7-9C11-D2626C71D38A}"/>
              </a:ext>
            </a:extLst>
          </p:cNvPr>
          <p:cNvSpPr>
            <a:spLocks noGrp="1"/>
          </p:cNvSpPr>
          <p:nvPr/>
        </p:nvSpPr>
        <p:spPr>
          <a:xfrm>
            <a:off x="685800" y="2828925"/>
            <a:ext cx="3190875" cy="685800"/>
          </a:xfrm>
          <a:prstGeom prst="rect">
            <a:avLst/>
          </a:prstGeom>
          <a:noFill/>
          <a:ln w="0">
            <a:noFill/>
          </a:ln>
        </p:spPr>
        <p:txBody>
          <a:bodyPr>
            <a:noAutofit/>
          </a:bodyPr>
          <a:lstStyle/>
          <a:p>
            <a:pPr>
              <a:buNone/>
              <a:defRPr sz="2175" b="1">
                <a:solidFill>
                  <a:srgbClr val="16382E"/>
                </a:solidFill>
                <a:latin typeface="Arial"/>
                <a:ea typeface="Arial"/>
                <a:cs typeface="Arial"/>
              </a:defRPr>
            </a:pPr>
            <a:r>
              <a:rPr sz="2175" b="1">
                <a:solidFill>
                  <a:srgbClr val="16382E"/>
                </a:solidFill>
                <a:latin typeface="Arial"/>
                <a:ea typeface="Arial"/>
                <a:cs typeface="Arial"/>
              </a:rPr>
              <a:t>Easy to get started</a:t>
            </a:r>
          </a:p>
        </p:txBody>
      </p:sp>
      <p:sp>
        <p:nvSpPr>
          <p:cNvPr id="6" name="Rechteck 5">
            <a:extLst>
              <a:ext uri="{FF2B5EF4-FFF2-40B4-BE49-F238E27FC236}">
                <a16:creationId xmlns:a16="http://schemas.microsoft.com/office/drawing/2014/main" id="{182465DE-FA6C-455B-9CFA-08201D3712EB}"/>
              </a:ext>
            </a:extLst>
          </p:cNvPr>
          <p:cNvSpPr>
            <a:spLocks noGrp="1"/>
          </p:cNvSpPr>
          <p:nvPr/>
        </p:nvSpPr>
        <p:spPr>
          <a:xfrm>
            <a:off x="685800" y="3714750"/>
            <a:ext cx="3190875" cy="2000250"/>
          </a:xfrm>
          <a:prstGeom prst="rect">
            <a:avLst/>
          </a:prstGeom>
          <a:noFill/>
          <a:ln w="0">
            <a:noFill/>
          </a:ln>
        </p:spPr>
        <p:txBody>
          <a:bodyPr>
            <a:noAutofit/>
          </a:bodyPr>
          <a:lstStyle/>
          <a:p>
            <a:pPr>
              <a:buNone/>
              <a:defRPr sz="1875" b="0">
                <a:solidFill>
                  <a:srgbClr val="16382E"/>
                </a:solidFill>
                <a:latin typeface="Arial"/>
                <a:ea typeface="Arial"/>
                <a:cs typeface="Arial"/>
              </a:defRPr>
            </a:pPr>
            <a:r>
              <a:rPr sz="1875" b="0">
                <a:solidFill>
                  <a:srgbClr val="16382E"/>
                </a:solidFill>
                <a:latin typeface="Arial"/>
                <a:ea typeface="Arial"/>
                <a:cs typeface="Arial"/>
              </a:rPr>
              <a:t>A short online tool for business owners. Easy to share via a direct link and use in outreach.</a:t>
            </a:r>
          </a:p>
        </p:txBody>
      </p:sp>
      <p:sp>
        <p:nvSpPr>
          <p:cNvPr id="7" name="Rechteck 6">
            <a:extLst>
              <a:ext uri="{FF2B5EF4-FFF2-40B4-BE49-F238E27FC236}">
                <a16:creationId xmlns:a16="http://schemas.microsoft.com/office/drawing/2014/main" id="{E7EF952D-3EE2-4637-8B8A-51E6975587A4}"/>
              </a:ext>
            </a:extLst>
          </p:cNvPr>
          <p:cNvSpPr>
            <a:spLocks noGrp="1"/>
          </p:cNvSpPr>
          <p:nvPr/>
        </p:nvSpPr>
        <p:spPr>
          <a:xfrm>
            <a:off x="4400550" y="1971675"/>
            <a:ext cx="3190875" cy="609600"/>
          </a:xfrm>
          <a:prstGeom prst="rect">
            <a:avLst/>
          </a:prstGeom>
          <a:noFill/>
          <a:ln w="0">
            <a:noFill/>
          </a:ln>
        </p:spPr>
        <p:txBody>
          <a:bodyPr>
            <a:noAutofit/>
          </a:bodyPr>
          <a:lstStyle/>
          <a:p>
            <a:pPr>
              <a:buNone/>
              <a:defRPr sz="3900" b="0">
                <a:solidFill>
                  <a:srgbClr val="536B60"/>
                </a:solidFill>
                <a:latin typeface="Arial"/>
                <a:ea typeface="Arial"/>
                <a:cs typeface="Arial"/>
              </a:defRPr>
            </a:pPr>
            <a:r>
              <a:rPr sz="3900" b="0">
                <a:solidFill>
                  <a:srgbClr val="536B60"/>
                </a:solidFill>
                <a:latin typeface="Arial"/>
                <a:ea typeface="Arial"/>
                <a:cs typeface="Arial"/>
              </a:rPr>
              <a:t>02</a:t>
            </a:r>
          </a:p>
        </p:txBody>
      </p:sp>
      <p:sp>
        <p:nvSpPr>
          <p:cNvPr id="8" name="Rechteck 7">
            <a:extLst>
              <a:ext uri="{FF2B5EF4-FFF2-40B4-BE49-F238E27FC236}">
                <a16:creationId xmlns:a16="http://schemas.microsoft.com/office/drawing/2014/main" id="{CE5FDF50-C3FB-4DEB-92A2-54792B25F080}"/>
              </a:ext>
            </a:extLst>
          </p:cNvPr>
          <p:cNvSpPr>
            <a:spLocks noGrp="1"/>
          </p:cNvSpPr>
          <p:nvPr/>
        </p:nvSpPr>
        <p:spPr>
          <a:xfrm>
            <a:off x="4400550" y="2828925"/>
            <a:ext cx="3190875" cy="685800"/>
          </a:xfrm>
          <a:prstGeom prst="rect">
            <a:avLst/>
          </a:prstGeom>
          <a:noFill/>
          <a:ln w="0">
            <a:noFill/>
          </a:ln>
        </p:spPr>
        <p:txBody>
          <a:bodyPr>
            <a:noAutofit/>
          </a:bodyPr>
          <a:lstStyle/>
          <a:p>
            <a:pPr>
              <a:buNone/>
              <a:defRPr sz="2175" b="1">
                <a:solidFill>
                  <a:srgbClr val="16382E"/>
                </a:solidFill>
                <a:latin typeface="Arial"/>
                <a:ea typeface="Arial"/>
                <a:cs typeface="Arial"/>
              </a:defRPr>
            </a:pPr>
            <a:r>
              <a:rPr sz="2175" b="1">
                <a:solidFill>
                  <a:srgbClr val="16382E"/>
                </a:solidFill>
                <a:latin typeface="Arial"/>
                <a:ea typeface="Arial"/>
                <a:cs typeface="Arial"/>
              </a:rPr>
              <a:t>Immediate value</a:t>
            </a:r>
          </a:p>
        </p:txBody>
      </p:sp>
      <p:sp>
        <p:nvSpPr>
          <p:cNvPr id="9" name="Rechteck 8">
            <a:extLst>
              <a:ext uri="{FF2B5EF4-FFF2-40B4-BE49-F238E27FC236}">
                <a16:creationId xmlns:a16="http://schemas.microsoft.com/office/drawing/2014/main" id="{1D35F324-9093-4FF1-B3D9-5C0E208DC0A4}"/>
              </a:ext>
            </a:extLst>
          </p:cNvPr>
          <p:cNvSpPr>
            <a:spLocks noGrp="1"/>
          </p:cNvSpPr>
          <p:nvPr/>
        </p:nvSpPr>
        <p:spPr>
          <a:xfrm>
            <a:off x="4400550" y="3714750"/>
            <a:ext cx="3190875" cy="2000250"/>
          </a:xfrm>
          <a:prstGeom prst="rect">
            <a:avLst/>
          </a:prstGeom>
          <a:noFill/>
          <a:ln w="0">
            <a:noFill/>
          </a:ln>
        </p:spPr>
        <p:txBody>
          <a:bodyPr>
            <a:noAutofit/>
          </a:bodyPr>
          <a:lstStyle/>
          <a:p>
            <a:pPr>
              <a:buNone/>
              <a:defRPr sz="1875" b="0">
                <a:solidFill>
                  <a:srgbClr val="16382E"/>
                </a:solidFill>
                <a:latin typeface="Arial"/>
                <a:ea typeface="Arial"/>
                <a:cs typeface="Arial"/>
              </a:defRPr>
            </a:pPr>
            <a:r>
              <a:rPr sz="1875" b="0">
                <a:solidFill>
                  <a:srgbClr val="16382E"/>
                </a:solidFill>
                <a:latin typeface="Arial"/>
                <a:ea typeface="Arial"/>
                <a:cs typeface="Arial"/>
              </a:rPr>
              <a:t>A few details provide an initial rough estimate of the business value.</a:t>
            </a:r>
          </a:p>
        </p:txBody>
      </p:sp>
      <p:sp>
        <p:nvSpPr>
          <p:cNvPr id="10" name="Rechteck 9">
            <a:extLst>
              <a:ext uri="{FF2B5EF4-FFF2-40B4-BE49-F238E27FC236}">
                <a16:creationId xmlns:a16="http://schemas.microsoft.com/office/drawing/2014/main" id="{81DB5349-306D-4440-915B-18DD8B91637A}"/>
              </a:ext>
            </a:extLst>
          </p:cNvPr>
          <p:cNvSpPr>
            <a:spLocks noGrp="1"/>
          </p:cNvSpPr>
          <p:nvPr/>
        </p:nvSpPr>
        <p:spPr>
          <a:xfrm>
            <a:off x="8115300" y="1971675"/>
            <a:ext cx="3190875" cy="609600"/>
          </a:xfrm>
          <a:prstGeom prst="rect">
            <a:avLst/>
          </a:prstGeom>
          <a:noFill/>
          <a:ln w="0">
            <a:noFill/>
          </a:ln>
        </p:spPr>
        <p:txBody>
          <a:bodyPr>
            <a:noAutofit/>
          </a:bodyPr>
          <a:lstStyle/>
          <a:p>
            <a:pPr>
              <a:buNone/>
              <a:defRPr sz="3900" b="0">
                <a:solidFill>
                  <a:srgbClr val="536B60"/>
                </a:solidFill>
                <a:latin typeface="Arial"/>
                <a:ea typeface="Arial"/>
                <a:cs typeface="Arial"/>
              </a:defRPr>
            </a:pPr>
            <a:r>
              <a:rPr sz="3900" b="0">
                <a:solidFill>
                  <a:srgbClr val="536B60"/>
                </a:solidFill>
                <a:latin typeface="Arial"/>
                <a:ea typeface="Arial"/>
                <a:cs typeface="Arial"/>
              </a:rPr>
              <a:t>03</a:t>
            </a:r>
          </a:p>
        </p:txBody>
      </p:sp>
      <p:sp>
        <p:nvSpPr>
          <p:cNvPr id="11" name="Rechteck 10">
            <a:extLst>
              <a:ext uri="{FF2B5EF4-FFF2-40B4-BE49-F238E27FC236}">
                <a16:creationId xmlns:a16="http://schemas.microsoft.com/office/drawing/2014/main" id="{53EA1851-FEE4-4EAE-B27D-173272B2461D}"/>
              </a:ext>
            </a:extLst>
          </p:cNvPr>
          <p:cNvSpPr>
            <a:spLocks noGrp="1"/>
          </p:cNvSpPr>
          <p:nvPr/>
        </p:nvSpPr>
        <p:spPr>
          <a:xfrm>
            <a:off x="8115300" y="2828925"/>
            <a:ext cx="3190875" cy="685800"/>
          </a:xfrm>
          <a:prstGeom prst="rect">
            <a:avLst/>
          </a:prstGeom>
          <a:noFill/>
          <a:ln w="0">
            <a:noFill/>
          </a:ln>
        </p:spPr>
        <p:txBody>
          <a:bodyPr>
            <a:noAutofit/>
          </a:bodyPr>
          <a:lstStyle/>
          <a:p>
            <a:pPr>
              <a:buNone/>
              <a:defRPr sz="2175" b="1">
                <a:solidFill>
                  <a:srgbClr val="16382E"/>
                </a:solidFill>
                <a:latin typeface="Arial"/>
                <a:ea typeface="Arial"/>
                <a:cs typeface="Arial"/>
              </a:defRPr>
            </a:pPr>
            <a:r>
              <a:rPr sz="2175" b="1">
                <a:solidFill>
                  <a:srgbClr val="16382E"/>
                </a:solidFill>
                <a:latin typeface="Arial"/>
                <a:ea typeface="Arial"/>
                <a:cs typeface="Arial"/>
              </a:rPr>
              <a:t>Optional introductions</a:t>
            </a:r>
          </a:p>
        </p:txBody>
      </p:sp>
      <p:sp>
        <p:nvSpPr>
          <p:cNvPr id="12" name="Rechteck 11">
            <a:extLst>
              <a:ext uri="{FF2B5EF4-FFF2-40B4-BE49-F238E27FC236}">
                <a16:creationId xmlns:a16="http://schemas.microsoft.com/office/drawing/2014/main" id="{606A63A8-7AD1-4660-8D2C-605F96CF2386}"/>
              </a:ext>
            </a:extLst>
          </p:cNvPr>
          <p:cNvSpPr>
            <a:spLocks noGrp="1"/>
          </p:cNvSpPr>
          <p:nvPr/>
        </p:nvSpPr>
        <p:spPr>
          <a:xfrm>
            <a:off x="8115300" y="3714750"/>
            <a:ext cx="3190875" cy="2000250"/>
          </a:xfrm>
          <a:prstGeom prst="rect">
            <a:avLst/>
          </a:prstGeom>
          <a:noFill/>
          <a:ln w="0">
            <a:noFill/>
          </a:ln>
        </p:spPr>
        <p:txBody>
          <a:bodyPr>
            <a:noAutofit/>
          </a:bodyPr>
          <a:lstStyle/>
          <a:p>
            <a:pPr>
              <a:buNone/>
              <a:defRPr sz="1875" b="0">
                <a:solidFill>
                  <a:srgbClr val="16382E"/>
                </a:solidFill>
                <a:latin typeface="Arial"/>
                <a:ea typeface="Arial"/>
                <a:cs typeface="Arial"/>
              </a:defRPr>
            </a:pPr>
            <a:r>
              <a:rPr sz="1875" b="0">
                <a:solidFill>
                  <a:srgbClr val="16382E"/>
                </a:solidFill>
                <a:latin typeface="Arial"/>
                <a:ea typeface="Arial"/>
                <a:cs typeface="Arial"/>
              </a:rPr>
              <a:t>Interested businesses can save a profile and meet suitable buyers.</a:t>
            </a:r>
          </a:p>
        </p:txBody>
      </p:sp>
    </p:spTree>
    <p:extLst>
      <p:ext uri="{BB962C8B-B14F-4D97-AF65-F5344CB8AC3E}">
        <p14:creationId xmlns:p14="http://schemas.microsoft.com/office/powerpoint/2010/main" val="9524285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2EA"/>
        </a:solidFill>
        <a:effectLst/>
      </p:bgPr>
    </p:bg>
    <p:spTree>
      <p:nvGrpSpPr>
        <p:cNvPr id="1" name=""/>
        <p:cNvGrpSpPr/>
        <p:nvPr/>
      </p:nvGrpSpPr>
      <p:grpSpPr>
        <a:xfrm>
          <a:off x="0" y="0"/>
          <a:ext cx="0" cy="0"/>
          <a:chOff x="0" y="0"/>
          <a:chExt cx="0" cy="0"/>
        </a:xfrm>
      </p:grpSpPr>
      <p:sp>
        <p:nvSpPr>
          <p:cNvPr id="16" name="Rechteck 15">
            <a:extLst>
              <a:ext uri="{FF2B5EF4-FFF2-40B4-BE49-F238E27FC236}">
                <a16:creationId xmlns:a16="http://schemas.microsoft.com/office/drawing/2014/main" id="{DB9875BB-D425-47AD-9D09-5E773FD18D1E}"/>
              </a:ext>
            </a:extLst>
          </p:cNvPr>
          <p:cNvSpPr>
            <a:spLocks noGrp="1"/>
          </p:cNvSpPr>
          <p:nvPr/>
        </p:nvSpPr>
        <p:spPr>
          <a:xfrm>
            <a:off x="685800" y="523875"/>
            <a:ext cx="10820400" cy="1047750"/>
          </a:xfrm>
          <a:prstGeom prst="rect">
            <a:avLst/>
          </a:prstGeom>
          <a:noFill/>
          <a:ln w="0">
            <a:noFill/>
          </a:ln>
        </p:spPr>
        <p:txBody>
          <a:bodyPr>
            <a:noAutofit/>
          </a:bodyPr>
          <a:lstStyle/>
          <a:p>
            <a:pPr>
              <a:buNone/>
              <a:defRPr sz="3450" b="1">
                <a:solidFill>
                  <a:srgbClr val="16382E"/>
                </a:solidFill>
                <a:latin typeface="Arial"/>
                <a:ea typeface="Arial"/>
                <a:cs typeface="Arial"/>
              </a:defRPr>
            </a:pPr>
            <a:r>
              <a:rPr sz="3450" b="1">
                <a:solidFill>
                  <a:srgbClr val="16382E"/>
                </a:solidFill>
                <a:latin typeface="Arial"/>
                <a:ea typeface="Arial"/>
                <a:cs typeface="Arial"/>
              </a:rPr>
              <a:t>The journey through the tool</a:t>
            </a:r>
          </a:p>
        </p:txBody>
      </p:sp>
      <p:sp>
        <p:nvSpPr>
          <p:cNvPr id="2" name="Rechteck 1">
            <a:extLst>
              <a:ext uri="{FF2B5EF4-FFF2-40B4-BE49-F238E27FC236}">
                <a16:creationId xmlns:a16="http://schemas.microsoft.com/office/drawing/2014/main" id="{FA4304B0-6543-44EF-90EA-5461BA5AD83C}"/>
              </a:ext>
            </a:extLst>
          </p:cNvPr>
          <p:cNvSpPr>
            <a:spLocks noGrp="1"/>
          </p:cNvSpPr>
          <p:nvPr/>
        </p:nvSpPr>
        <p:spPr>
          <a:xfrm>
            <a:off x="685800" y="6362700"/>
            <a:ext cx="1905000" cy="238125"/>
          </a:xfrm>
          <a:prstGeom prst="rect">
            <a:avLst/>
          </a:prstGeom>
          <a:noFill/>
          <a:ln w="0">
            <a:noFill/>
          </a:ln>
        </p:spPr>
        <p:txBody>
          <a:bodyPr>
            <a:noAutofit/>
          </a:bodyPr>
          <a:lstStyle/>
          <a:p>
            <a:pPr>
              <a:buNone/>
              <a:defRPr sz="1200" b="1">
                <a:solidFill>
                  <a:srgbClr val="536B60"/>
                </a:solidFill>
                <a:latin typeface="Arial"/>
                <a:ea typeface="Arial"/>
                <a:cs typeface="Arial"/>
              </a:defRPr>
            </a:pPr>
            <a:r>
              <a:rPr sz="1200" b="1">
                <a:solidFill>
                  <a:srgbClr val="536B60"/>
                </a:solidFill>
                <a:latin typeface="Arial"/>
                <a:ea typeface="Arial"/>
                <a:cs typeface="Arial"/>
              </a:rPr>
              <a:t>MERGERO</a:t>
            </a:r>
          </a:p>
        </p:txBody>
      </p:sp>
      <p:sp>
        <p:nvSpPr>
          <p:cNvPr id="3" name="Rechteck 2">
            <a:extLst>
              <a:ext uri="{FF2B5EF4-FFF2-40B4-BE49-F238E27FC236}">
                <a16:creationId xmlns:a16="http://schemas.microsoft.com/office/drawing/2014/main" id="{F8C62405-F7D4-4546-80D2-F786FA83D36A}"/>
              </a:ext>
            </a:extLst>
          </p:cNvPr>
          <p:cNvSpPr>
            <a:spLocks noGrp="1"/>
          </p:cNvSpPr>
          <p:nvPr/>
        </p:nvSpPr>
        <p:spPr>
          <a:xfrm>
            <a:off x="10953750" y="6324600"/>
            <a:ext cx="571500" cy="266700"/>
          </a:xfrm>
          <a:prstGeom prst="rect">
            <a:avLst/>
          </a:prstGeom>
          <a:noFill/>
          <a:ln w="0">
            <a:noFill/>
          </a:ln>
        </p:spPr>
        <p:txBody>
          <a:bodyPr>
            <a:noAutofit/>
          </a:bodyPr>
          <a:lstStyle/>
          <a:p>
            <a:pPr>
              <a:buNone/>
              <a:defRPr sz="1350" b="0">
                <a:solidFill>
                  <a:srgbClr val="536B60"/>
                </a:solidFill>
                <a:latin typeface="Arial"/>
                <a:ea typeface="Arial"/>
                <a:cs typeface="Arial"/>
              </a:defRPr>
            </a:pPr>
            <a:r>
              <a:rPr sz="1350" b="0">
                <a:solidFill>
                  <a:srgbClr val="536B60"/>
                </a:solidFill>
                <a:latin typeface="Arial"/>
                <a:ea typeface="Arial"/>
                <a:cs typeface="Arial"/>
              </a:rPr>
              <a:t>03</a:t>
            </a:r>
          </a:p>
        </p:txBody>
      </p:sp>
      <p:sp>
        <p:nvSpPr>
          <p:cNvPr id="4" name="Rechteck 3">
            <a:extLst>
              <a:ext uri="{FF2B5EF4-FFF2-40B4-BE49-F238E27FC236}">
                <a16:creationId xmlns:a16="http://schemas.microsoft.com/office/drawing/2014/main" id="{30F066ED-2783-426C-9309-9DFC5C08DF69}"/>
              </a:ext>
            </a:extLst>
          </p:cNvPr>
          <p:cNvSpPr>
            <a:spLocks noGrp="1"/>
          </p:cNvSpPr>
          <p:nvPr/>
        </p:nvSpPr>
        <p:spPr>
          <a:xfrm>
            <a:off x="685800" y="1828800"/>
            <a:ext cx="666750" cy="571500"/>
          </a:xfrm>
          <a:prstGeom prst="rect">
            <a:avLst/>
          </a:prstGeom>
          <a:noFill/>
          <a:ln w="0">
            <a:noFill/>
          </a:ln>
        </p:spPr>
        <p:txBody>
          <a:bodyPr>
            <a:noAutofit/>
          </a:bodyPr>
          <a:lstStyle/>
          <a:p>
            <a:pPr>
              <a:buNone/>
              <a:defRPr sz="2925" b="1">
                <a:solidFill>
                  <a:srgbClr val="536B60"/>
                </a:solidFill>
                <a:latin typeface="Arial"/>
                <a:ea typeface="Arial"/>
                <a:cs typeface="Arial"/>
              </a:defRPr>
            </a:pPr>
            <a:r>
              <a:rPr sz="2925" b="1">
                <a:solidFill>
                  <a:srgbClr val="536B60"/>
                </a:solidFill>
                <a:latin typeface="Arial"/>
                <a:ea typeface="Arial"/>
                <a:cs typeface="Arial"/>
              </a:rPr>
              <a:t>1</a:t>
            </a:r>
          </a:p>
        </p:txBody>
      </p:sp>
      <p:sp>
        <p:nvSpPr>
          <p:cNvPr id="5" name="Rechteck 4">
            <a:extLst>
              <a:ext uri="{FF2B5EF4-FFF2-40B4-BE49-F238E27FC236}">
                <a16:creationId xmlns:a16="http://schemas.microsoft.com/office/drawing/2014/main" id="{E132CC27-FB9E-4FAF-93F7-4EC37895018F}"/>
              </a:ext>
            </a:extLst>
          </p:cNvPr>
          <p:cNvSpPr>
            <a:spLocks noGrp="1"/>
          </p:cNvSpPr>
          <p:nvPr/>
        </p:nvSpPr>
        <p:spPr>
          <a:xfrm>
            <a:off x="1524000" y="1828800"/>
            <a:ext cx="3857625" cy="571500"/>
          </a:xfrm>
          <a:prstGeom prst="rect">
            <a:avLst/>
          </a:prstGeom>
          <a:noFill/>
          <a:ln w="0">
            <a:noFill/>
          </a:ln>
        </p:spPr>
        <p:txBody>
          <a:bodyPr>
            <a:noAutofit/>
          </a:bodyPr>
          <a:lstStyle/>
          <a:p>
            <a:pPr>
              <a:buNone/>
              <a:defRPr sz="2175" b="1">
                <a:solidFill>
                  <a:srgbClr val="16382E"/>
                </a:solidFill>
                <a:latin typeface="Arial"/>
                <a:ea typeface="Arial"/>
                <a:cs typeface="Arial"/>
              </a:defRPr>
            </a:pPr>
            <a:r>
              <a:rPr sz="2175" b="1">
                <a:solidFill>
                  <a:srgbClr val="16382E"/>
                </a:solidFill>
                <a:latin typeface="Arial"/>
                <a:ea typeface="Arial"/>
                <a:cs typeface="Arial"/>
              </a:rPr>
              <a:t>Open the invitation</a:t>
            </a:r>
          </a:p>
        </p:txBody>
      </p:sp>
      <p:sp>
        <p:nvSpPr>
          <p:cNvPr id="6" name="Rechteck 5">
            <a:extLst>
              <a:ext uri="{FF2B5EF4-FFF2-40B4-BE49-F238E27FC236}">
                <a16:creationId xmlns:a16="http://schemas.microsoft.com/office/drawing/2014/main" id="{92F5DB80-D8F4-4B3F-90E5-AF340A84A79C}"/>
              </a:ext>
            </a:extLst>
          </p:cNvPr>
          <p:cNvSpPr>
            <a:spLocks noGrp="1"/>
          </p:cNvSpPr>
          <p:nvPr/>
        </p:nvSpPr>
        <p:spPr>
          <a:xfrm>
            <a:off x="5667375" y="1828800"/>
            <a:ext cx="5810250" cy="742950"/>
          </a:xfrm>
          <a:prstGeom prst="rect">
            <a:avLst/>
          </a:prstGeom>
          <a:noFill/>
          <a:ln w="0">
            <a:noFill/>
          </a:ln>
        </p:spPr>
        <p:txBody>
          <a:bodyPr>
            <a:noAutofit/>
          </a:bodyPr>
          <a:lstStyle/>
          <a:p>
            <a:pPr>
              <a:buNone/>
              <a:defRPr sz="1875" b="0">
                <a:solidFill>
                  <a:srgbClr val="16382E"/>
                </a:solidFill>
                <a:latin typeface="Arial"/>
                <a:ea typeface="Arial"/>
                <a:cs typeface="Arial"/>
              </a:defRPr>
            </a:pPr>
            <a:r>
              <a:rPr sz="1875" b="0">
                <a:solidFill>
                  <a:srgbClr val="16382E"/>
                </a:solidFill>
                <a:latin typeface="Arial"/>
                <a:ea typeface="Arial"/>
                <a:cs typeface="Arial"/>
              </a:rPr>
              <a:t>A brief benefit statement and a direct link to the check.</a:t>
            </a:r>
          </a:p>
        </p:txBody>
      </p:sp>
      <p:sp>
        <p:nvSpPr>
          <p:cNvPr id="7" name="Rechteck 6">
            <a:extLst>
              <a:ext uri="{FF2B5EF4-FFF2-40B4-BE49-F238E27FC236}">
                <a16:creationId xmlns:a16="http://schemas.microsoft.com/office/drawing/2014/main" id="{8750F2C5-90C0-4F8A-8716-E4895C323A22}"/>
              </a:ext>
            </a:extLst>
          </p:cNvPr>
          <p:cNvSpPr>
            <a:spLocks noGrp="1"/>
          </p:cNvSpPr>
          <p:nvPr/>
        </p:nvSpPr>
        <p:spPr>
          <a:xfrm>
            <a:off x="685800" y="2847975"/>
            <a:ext cx="666750" cy="571500"/>
          </a:xfrm>
          <a:prstGeom prst="rect">
            <a:avLst/>
          </a:prstGeom>
          <a:noFill/>
          <a:ln w="0">
            <a:noFill/>
          </a:ln>
        </p:spPr>
        <p:txBody>
          <a:bodyPr>
            <a:noAutofit/>
          </a:bodyPr>
          <a:lstStyle/>
          <a:p>
            <a:pPr>
              <a:buNone/>
              <a:defRPr sz="2925" b="1">
                <a:solidFill>
                  <a:srgbClr val="536B60"/>
                </a:solidFill>
                <a:latin typeface="Arial"/>
                <a:ea typeface="Arial"/>
                <a:cs typeface="Arial"/>
              </a:defRPr>
            </a:pPr>
            <a:r>
              <a:rPr sz="2925" b="1">
                <a:solidFill>
                  <a:srgbClr val="536B60"/>
                </a:solidFill>
                <a:latin typeface="Arial"/>
                <a:ea typeface="Arial"/>
                <a:cs typeface="Arial"/>
              </a:rPr>
              <a:t>2</a:t>
            </a:r>
          </a:p>
        </p:txBody>
      </p:sp>
      <p:sp>
        <p:nvSpPr>
          <p:cNvPr id="8" name="Rechteck 7">
            <a:extLst>
              <a:ext uri="{FF2B5EF4-FFF2-40B4-BE49-F238E27FC236}">
                <a16:creationId xmlns:a16="http://schemas.microsoft.com/office/drawing/2014/main" id="{49F5100A-E2C9-4DCF-A9D2-8BFA2D3C3EB9}"/>
              </a:ext>
            </a:extLst>
          </p:cNvPr>
          <p:cNvSpPr>
            <a:spLocks noGrp="1"/>
          </p:cNvSpPr>
          <p:nvPr/>
        </p:nvSpPr>
        <p:spPr>
          <a:xfrm>
            <a:off x="1524000" y="2847975"/>
            <a:ext cx="3857625" cy="571500"/>
          </a:xfrm>
          <a:prstGeom prst="rect">
            <a:avLst/>
          </a:prstGeom>
          <a:noFill/>
          <a:ln w="0">
            <a:noFill/>
          </a:ln>
        </p:spPr>
        <p:txBody>
          <a:bodyPr>
            <a:noAutofit/>
          </a:bodyPr>
          <a:lstStyle/>
          <a:p>
            <a:pPr>
              <a:buNone/>
              <a:defRPr sz="2175" b="1">
                <a:solidFill>
                  <a:srgbClr val="16382E"/>
                </a:solidFill>
                <a:latin typeface="Arial"/>
                <a:ea typeface="Arial"/>
                <a:cs typeface="Arial"/>
              </a:defRPr>
            </a:pPr>
            <a:r>
              <a:rPr sz="2175" b="1">
                <a:solidFill>
                  <a:srgbClr val="16382E"/>
                </a:solidFill>
                <a:latin typeface="Arial"/>
                <a:ea typeface="Arial"/>
                <a:cs typeface="Arial"/>
              </a:rPr>
              <a:t>Enter basic data</a:t>
            </a:r>
          </a:p>
        </p:txBody>
      </p:sp>
      <p:sp>
        <p:nvSpPr>
          <p:cNvPr id="9" name="Rechteck 8">
            <a:extLst>
              <a:ext uri="{FF2B5EF4-FFF2-40B4-BE49-F238E27FC236}">
                <a16:creationId xmlns:a16="http://schemas.microsoft.com/office/drawing/2014/main" id="{23168B6B-FA60-484F-A782-EFE77686E501}"/>
              </a:ext>
            </a:extLst>
          </p:cNvPr>
          <p:cNvSpPr>
            <a:spLocks noGrp="1"/>
          </p:cNvSpPr>
          <p:nvPr/>
        </p:nvSpPr>
        <p:spPr>
          <a:xfrm>
            <a:off x="5667375" y="2847975"/>
            <a:ext cx="5810250" cy="742950"/>
          </a:xfrm>
          <a:prstGeom prst="rect">
            <a:avLst/>
          </a:prstGeom>
          <a:noFill/>
          <a:ln w="0">
            <a:noFill/>
          </a:ln>
        </p:spPr>
        <p:txBody>
          <a:bodyPr>
            <a:noAutofit/>
          </a:bodyPr>
          <a:lstStyle/>
          <a:p>
            <a:pPr>
              <a:buNone/>
              <a:defRPr sz="1875" b="0">
                <a:solidFill>
                  <a:srgbClr val="16382E"/>
                </a:solidFill>
                <a:latin typeface="Arial"/>
                <a:ea typeface="Arial"/>
                <a:cs typeface="Arial"/>
              </a:defRPr>
            </a:pPr>
            <a:r>
              <a:rPr sz="1875" b="0">
                <a:solidFill>
                  <a:srgbClr val="16382E"/>
                </a:solidFill>
                <a:latin typeface="Arial"/>
                <a:ea typeface="Arial"/>
                <a:cs typeface="Arial"/>
              </a:rPr>
              <a:t>Provide figures the owner can quickly access.</a:t>
            </a:r>
          </a:p>
        </p:txBody>
      </p:sp>
      <p:sp>
        <p:nvSpPr>
          <p:cNvPr id="10" name="Rechteck 9">
            <a:extLst>
              <a:ext uri="{FF2B5EF4-FFF2-40B4-BE49-F238E27FC236}">
                <a16:creationId xmlns:a16="http://schemas.microsoft.com/office/drawing/2014/main" id="{8AD376C9-2F93-4184-A690-001A5ACD7FC5}"/>
              </a:ext>
            </a:extLst>
          </p:cNvPr>
          <p:cNvSpPr>
            <a:spLocks noGrp="1"/>
          </p:cNvSpPr>
          <p:nvPr/>
        </p:nvSpPr>
        <p:spPr>
          <a:xfrm>
            <a:off x="685800" y="3867150"/>
            <a:ext cx="666750" cy="571500"/>
          </a:xfrm>
          <a:prstGeom prst="rect">
            <a:avLst/>
          </a:prstGeom>
          <a:noFill/>
          <a:ln w="0">
            <a:noFill/>
          </a:ln>
        </p:spPr>
        <p:txBody>
          <a:bodyPr>
            <a:noAutofit/>
          </a:bodyPr>
          <a:lstStyle/>
          <a:p>
            <a:pPr>
              <a:buNone/>
              <a:defRPr sz="2925" b="1">
                <a:solidFill>
                  <a:srgbClr val="536B60"/>
                </a:solidFill>
                <a:latin typeface="Arial"/>
                <a:ea typeface="Arial"/>
                <a:cs typeface="Arial"/>
              </a:defRPr>
            </a:pPr>
            <a:r>
              <a:rPr sz="2925" b="1">
                <a:solidFill>
                  <a:srgbClr val="536B60"/>
                </a:solidFill>
                <a:latin typeface="Arial"/>
                <a:ea typeface="Arial"/>
                <a:cs typeface="Arial"/>
              </a:rPr>
              <a:t>3</a:t>
            </a:r>
          </a:p>
        </p:txBody>
      </p:sp>
      <p:sp>
        <p:nvSpPr>
          <p:cNvPr id="11" name="Rechteck 10">
            <a:extLst>
              <a:ext uri="{FF2B5EF4-FFF2-40B4-BE49-F238E27FC236}">
                <a16:creationId xmlns:a16="http://schemas.microsoft.com/office/drawing/2014/main" id="{7FA42AE4-E753-4149-9179-5969F2F954C8}"/>
              </a:ext>
            </a:extLst>
          </p:cNvPr>
          <p:cNvSpPr>
            <a:spLocks noGrp="1"/>
          </p:cNvSpPr>
          <p:nvPr/>
        </p:nvSpPr>
        <p:spPr>
          <a:xfrm>
            <a:off x="1524000" y="3867150"/>
            <a:ext cx="3857625" cy="571500"/>
          </a:xfrm>
          <a:prstGeom prst="rect">
            <a:avLst/>
          </a:prstGeom>
          <a:noFill/>
          <a:ln w="0">
            <a:noFill/>
          </a:ln>
        </p:spPr>
        <p:txBody>
          <a:bodyPr>
            <a:noAutofit/>
          </a:bodyPr>
          <a:lstStyle/>
          <a:p>
            <a:pPr>
              <a:buNone/>
              <a:defRPr sz="2175" b="1">
                <a:solidFill>
                  <a:srgbClr val="16382E"/>
                </a:solidFill>
                <a:latin typeface="Arial"/>
                <a:ea typeface="Arial"/>
                <a:cs typeface="Arial"/>
              </a:defRPr>
            </a:pPr>
            <a:r>
              <a:rPr sz="2175" b="1">
                <a:solidFill>
                  <a:srgbClr val="16382E"/>
                </a:solidFill>
                <a:latin typeface="Arial"/>
                <a:ea typeface="Arial"/>
                <a:cs typeface="Arial"/>
              </a:rPr>
              <a:t>Get an estimate</a:t>
            </a:r>
          </a:p>
        </p:txBody>
      </p:sp>
      <p:sp>
        <p:nvSpPr>
          <p:cNvPr id="12" name="Rechteck 11">
            <a:extLst>
              <a:ext uri="{FF2B5EF4-FFF2-40B4-BE49-F238E27FC236}">
                <a16:creationId xmlns:a16="http://schemas.microsoft.com/office/drawing/2014/main" id="{51B87D3E-11F4-4DF8-830F-CA828D9317B9}"/>
              </a:ext>
            </a:extLst>
          </p:cNvPr>
          <p:cNvSpPr>
            <a:spLocks noGrp="1"/>
          </p:cNvSpPr>
          <p:nvPr/>
        </p:nvSpPr>
        <p:spPr>
          <a:xfrm>
            <a:off x="5667375" y="3867150"/>
            <a:ext cx="5810250" cy="742950"/>
          </a:xfrm>
          <a:prstGeom prst="rect">
            <a:avLst/>
          </a:prstGeom>
          <a:noFill/>
          <a:ln w="0">
            <a:noFill/>
          </a:ln>
        </p:spPr>
        <p:txBody>
          <a:bodyPr>
            <a:noAutofit/>
          </a:bodyPr>
          <a:lstStyle/>
          <a:p>
            <a:pPr>
              <a:buNone/>
              <a:defRPr sz="1875" b="0">
                <a:solidFill>
                  <a:srgbClr val="16382E"/>
                </a:solidFill>
                <a:latin typeface="Arial"/>
                <a:ea typeface="Arial"/>
                <a:cs typeface="Arial"/>
              </a:defRPr>
            </a:pPr>
            <a:r>
              <a:rPr sz="1875" b="0">
                <a:solidFill>
                  <a:srgbClr val="16382E"/>
                </a:solidFill>
                <a:latin typeface="Arial"/>
                <a:ea typeface="Arial"/>
                <a:cs typeface="Arial"/>
              </a:rPr>
              <a:t>A rough value range with assumptions and open questions.</a:t>
            </a:r>
          </a:p>
        </p:txBody>
      </p:sp>
      <p:sp>
        <p:nvSpPr>
          <p:cNvPr id="13" name="Rechteck 12">
            <a:extLst>
              <a:ext uri="{FF2B5EF4-FFF2-40B4-BE49-F238E27FC236}">
                <a16:creationId xmlns:a16="http://schemas.microsoft.com/office/drawing/2014/main" id="{AA30A34E-805D-45CF-846E-9D1A541DCB67}"/>
              </a:ext>
            </a:extLst>
          </p:cNvPr>
          <p:cNvSpPr>
            <a:spLocks noGrp="1"/>
          </p:cNvSpPr>
          <p:nvPr/>
        </p:nvSpPr>
        <p:spPr>
          <a:xfrm>
            <a:off x="685800" y="4886325"/>
            <a:ext cx="666750" cy="571500"/>
          </a:xfrm>
          <a:prstGeom prst="rect">
            <a:avLst/>
          </a:prstGeom>
          <a:noFill/>
          <a:ln w="0">
            <a:noFill/>
          </a:ln>
        </p:spPr>
        <p:txBody>
          <a:bodyPr>
            <a:noAutofit/>
          </a:bodyPr>
          <a:lstStyle/>
          <a:p>
            <a:pPr>
              <a:buNone/>
              <a:defRPr sz="2925" b="1">
                <a:solidFill>
                  <a:srgbClr val="536B60"/>
                </a:solidFill>
                <a:latin typeface="Arial"/>
                <a:ea typeface="Arial"/>
                <a:cs typeface="Arial"/>
              </a:defRPr>
            </a:pPr>
            <a:r>
              <a:rPr sz="2925" b="1">
                <a:solidFill>
                  <a:srgbClr val="536B60"/>
                </a:solidFill>
                <a:latin typeface="Arial"/>
                <a:ea typeface="Arial"/>
                <a:cs typeface="Arial"/>
              </a:rPr>
              <a:t>4</a:t>
            </a:r>
          </a:p>
        </p:txBody>
      </p:sp>
      <p:sp>
        <p:nvSpPr>
          <p:cNvPr id="14" name="Rechteck 13">
            <a:extLst>
              <a:ext uri="{FF2B5EF4-FFF2-40B4-BE49-F238E27FC236}">
                <a16:creationId xmlns:a16="http://schemas.microsoft.com/office/drawing/2014/main" id="{2A4BE777-7332-440C-908A-A01BBDE5DA5B}"/>
              </a:ext>
            </a:extLst>
          </p:cNvPr>
          <p:cNvSpPr>
            <a:spLocks noGrp="1"/>
          </p:cNvSpPr>
          <p:nvPr/>
        </p:nvSpPr>
        <p:spPr>
          <a:xfrm>
            <a:off x="1524000" y="4886325"/>
            <a:ext cx="3857625" cy="571500"/>
          </a:xfrm>
          <a:prstGeom prst="rect">
            <a:avLst/>
          </a:prstGeom>
          <a:noFill/>
          <a:ln w="0">
            <a:noFill/>
          </a:ln>
        </p:spPr>
        <p:txBody>
          <a:bodyPr>
            <a:noAutofit/>
          </a:bodyPr>
          <a:lstStyle/>
          <a:p>
            <a:pPr>
              <a:buNone/>
              <a:defRPr sz="2175" b="1">
                <a:solidFill>
                  <a:srgbClr val="16382E"/>
                </a:solidFill>
                <a:latin typeface="Arial"/>
                <a:ea typeface="Arial"/>
                <a:cs typeface="Arial"/>
              </a:defRPr>
            </a:pPr>
            <a:r>
              <a:rPr sz="2175" b="1">
                <a:solidFill>
                  <a:srgbClr val="16382E"/>
                </a:solidFill>
                <a:latin typeface="Arial"/>
                <a:ea typeface="Arial"/>
                <a:cs typeface="Arial"/>
              </a:rPr>
              <a:t>Choose the next step</a:t>
            </a:r>
          </a:p>
        </p:txBody>
      </p:sp>
      <p:sp>
        <p:nvSpPr>
          <p:cNvPr id="15" name="Rechteck 14">
            <a:extLst>
              <a:ext uri="{FF2B5EF4-FFF2-40B4-BE49-F238E27FC236}">
                <a16:creationId xmlns:a16="http://schemas.microsoft.com/office/drawing/2014/main" id="{736F7A8A-7D01-4D58-9AB9-8B9DFD3D5778}"/>
              </a:ext>
            </a:extLst>
          </p:cNvPr>
          <p:cNvSpPr>
            <a:spLocks noGrp="1"/>
          </p:cNvSpPr>
          <p:nvPr/>
        </p:nvSpPr>
        <p:spPr>
          <a:xfrm>
            <a:off x="5667375" y="4886325"/>
            <a:ext cx="5810250" cy="742950"/>
          </a:xfrm>
          <a:prstGeom prst="rect">
            <a:avLst/>
          </a:prstGeom>
          <a:noFill/>
          <a:ln w="0">
            <a:noFill/>
          </a:ln>
        </p:spPr>
        <p:txBody>
          <a:bodyPr>
            <a:noAutofit/>
          </a:bodyPr>
          <a:lstStyle/>
          <a:p>
            <a:pPr>
              <a:buNone/>
              <a:defRPr sz="1875" b="0">
                <a:solidFill>
                  <a:srgbClr val="16382E"/>
                </a:solidFill>
                <a:latin typeface="Arial"/>
                <a:ea typeface="Arial"/>
                <a:cs typeface="Arial"/>
              </a:defRPr>
            </a:pPr>
            <a:r>
              <a:rPr sz="1875" b="0">
                <a:solidFill>
                  <a:srgbClr val="16382E"/>
                </a:solidFill>
                <a:latin typeface="Arial"/>
                <a:ea typeface="Arial"/>
                <a:cs typeface="Arial"/>
              </a:rPr>
              <a:t>Save a profile, request a call or finish the check.</a:t>
            </a:r>
          </a:p>
        </p:txBody>
      </p:sp>
    </p:spTree>
    <p:extLst>
      <p:ext uri="{BB962C8B-B14F-4D97-AF65-F5344CB8AC3E}">
        <p14:creationId xmlns:p14="http://schemas.microsoft.com/office/powerpoint/2010/main" val="393428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2EA"/>
        </a:solidFill>
        <a:effectLst/>
      </p:bgPr>
    </p:bg>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E34BEA2B-4263-4149-AC33-4D556FE72950}"/>
              </a:ext>
            </a:extLst>
          </p:cNvPr>
          <p:cNvSpPr>
            <a:spLocks noGrp="1"/>
          </p:cNvSpPr>
          <p:nvPr/>
        </p:nvSpPr>
        <p:spPr>
          <a:xfrm>
            <a:off x="685800" y="523875"/>
            <a:ext cx="10820400" cy="1047750"/>
          </a:xfrm>
          <a:prstGeom prst="rect">
            <a:avLst/>
          </a:prstGeom>
          <a:noFill/>
          <a:ln w="0">
            <a:noFill/>
          </a:ln>
        </p:spPr>
        <p:txBody>
          <a:bodyPr>
            <a:noAutofit/>
          </a:bodyPr>
          <a:lstStyle/>
          <a:p>
            <a:pPr>
              <a:buNone/>
              <a:defRPr sz="3450" b="1">
                <a:solidFill>
                  <a:srgbClr val="16382E"/>
                </a:solidFill>
                <a:latin typeface="Arial"/>
                <a:ea typeface="Arial"/>
                <a:cs typeface="Arial"/>
              </a:defRPr>
            </a:pPr>
            <a:r>
              <a:rPr sz="3450" b="1">
                <a:solidFill>
                  <a:srgbClr val="16382E"/>
                </a:solidFill>
                <a:latin typeface="Arial"/>
                <a:ea typeface="Arial"/>
                <a:cs typeface="Arial"/>
              </a:rPr>
              <a:t>A few details for an initial estimate</a:t>
            </a:r>
          </a:p>
        </p:txBody>
      </p:sp>
      <p:sp>
        <p:nvSpPr>
          <p:cNvPr id="2" name="Rechteck 1">
            <a:extLst>
              <a:ext uri="{FF2B5EF4-FFF2-40B4-BE49-F238E27FC236}">
                <a16:creationId xmlns:a16="http://schemas.microsoft.com/office/drawing/2014/main" id="{DC5E1A7B-F76E-4328-9C8F-52A2791A50CE}"/>
              </a:ext>
            </a:extLst>
          </p:cNvPr>
          <p:cNvSpPr>
            <a:spLocks noGrp="1"/>
          </p:cNvSpPr>
          <p:nvPr/>
        </p:nvSpPr>
        <p:spPr>
          <a:xfrm>
            <a:off x="685800" y="6362700"/>
            <a:ext cx="1905000" cy="238125"/>
          </a:xfrm>
          <a:prstGeom prst="rect">
            <a:avLst/>
          </a:prstGeom>
          <a:noFill/>
          <a:ln w="0">
            <a:noFill/>
          </a:ln>
        </p:spPr>
        <p:txBody>
          <a:bodyPr>
            <a:noAutofit/>
          </a:bodyPr>
          <a:lstStyle/>
          <a:p>
            <a:pPr>
              <a:buNone/>
              <a:defRPr sz="1200" b="1">
                <a:solidFill>
                  <a:srgbClr val="536B60"/>
                </a:solidFill>
                <a:latin typeface="Arial"/>
                <a:ea typeface="Arial"/>
                <a:cs typeface="Arial"/>
              </a:defRPr>
            </a:pPr>
            <a:r>
              <a:rPr sz="1200" b="1">
                <a:solidFill>
                  <a:srgbClr val="536B60"/>
                </a:solidFill>
                <a:latin typeface="Arial"/>
                <a:ea typeface="Arial"/>
                <a:cs typeface="Arial"/>
              </a:rPr>
              <a:t>MERGERO</a:t>
            </a:r>
          </a:p>
        </p:txBody>
      </p:sp>
      <p:sp>
        <p:nvSpPr>
          <p:cNvPr id="3" name="Rechteck 2">
            <a:extLst>
              <a:ext uri="{FF2B5EF4-FFF2-40B4-BE49-F238E27FC236}">
                <a16:creationId xmlns:a16="http://schemas.microsoft.com/office/drawing/2014/main" id="{8526182F-C963-4B6E-A7A4-0F41360A631F}"/>
              </a:ext>
            </a:extLst>
          </p:cNvPr>
          <p:cNvSpPr>
            <a:spLocks noGrp="1"/>
          </p:cNvSpPr>
          <p:nvPr/>
        </p:nvSpPr>
        <p:spPr>
          <a:xfrm>
            <a:off x="10953750" y="6324600"/>
            <a:ext cx="571500" cy="266700"/>
          </a:xfrm>
          <a:prstGeom prst="rect">
            <a:avLst/>
          </a:prstGeom>
          <a:noFill/>
          <a:ln w="0">
            <a:noFill/>
          </a:ln>
        </p:spPr>
        <p:txBody>
          <a:bodyPr>
            <a:noAutofit/>
          </a:bodyPr>
          <a:lstStyle/>
          <a:p>
            <a:pPr>
              <a:buNone/>
              <a:defRPr sz="1350" b="0">
                <a:solidFill>
                  <a:srgbClr val="536B60"/>
                </a:solidFill>
                <a:latin typeface="Arial"/>
                <a:ea typeface="Arial"/>
                <a:cs typeface="Arial"/>
              </a:defRPr>
            </a:pPr>
            <a:r>
              <a:rPr sz="1350" b="0">
                <a:solidFill>
                  <a:srgbClr val="536B60"/>
                </a:solidFill>
                <a:latin typeface="Arial"/>
                <a:ea typeface="Arial"/>
                <a:cs typeface="Arial"/>
              </a:rPr>
              <a:t>04</a:t>
            </a:r>
          </a:p>
        </p:txBody>
      </p:sp>
      <p:sp>
        <p:nvSpPr>
          <p:cNvPr id="4" name="Rechteck 3">
            <a:extLst>
              <a:ext uri="{FF2B5EF4-FFF2-40B4-BE49-F238E27FC236}">
                <a16:creationId xmlns:a16="http://schemas.microsoft.com/office/drawing/2014/main" id="{86A87D45-52A5-4432-A51D-F14D03E80AD8}"/>
              </a:ext>
            </a:extLst>
          </p:cNvPr>
          <p:cNvSpPr>
            <a:spLocks noGrp="1"/>
          </p:cNvSpPr>
          <p:nvPr/>
        </p:nvSpPr>
        <p:spPr>
          <a:xfrm>
            <a:off x="685800" y="1971675"/>
            <a:ext cx="3190875" cy="609600"/>
          </a:xfrm>
          <a:prstGeom prst="rect">
            <a:avLst/>
          </a:prstGeom>
          <a:noFill/>
          <a:ln w="0">
            <a:noFill/>
          </a:ln>
        </p:spPr>
        <p:txBody>
          <a:bodyPr>
            <a:noAutofit/>
          </a:bodyPr>
          <a:lstStyle/>
          <a:p>
            <a:pPr>
              <a:buNone/>
              <a:defRPr sz="3900" b="0">
                <a:solidFill>
                  <a:srgbClr val="536B60"/>
                </a:solidFill>
                <a:latin typeface="Arial"/>
                <a:ea typeface="Arial"/>
                <a:cs typeface="Arial"/>
              </a:defRPr>
            </a:pPr>
            <a:r>
              <a:rPr sz="3900" b="0">
                <a:solidFill>
                  <a:srgbClr val="536B60"/>
                </a:solidFill>
                <a:latin typeface="Arial"/>
                <a:ea typeface="Arial"/>
                <a:cs typeface="Arial"/>
              </a:rPr>
              <a:t>€</a:t>
            </a:r>
          </a:p>
        </p:txBody>
      </p:sp>
      <p:sp>
        <p:nvSpPr>
          <p:cNvPr id="5" name="Rechteck 4">
            <a:extLst>
              <a:ext uri="{FF2B5EF4-FFF2-40B4-BE49-F238E27FC236}">
                <a16:creationId xmlns:a16="http://schemas.microsoft.com/office/drawing/2014/main" id="{D44B8FFF-9439-409D-84AE-B78B0612C237}"/>
              </a:ext>
            </a:extLst>
          </p:cNvPr>
          <p:cNvSpPr>
            <a:spLocks noGrp="1"/>
          </p:cNvSpPr>
          <p:nvPr/>
        </p:nvSpPr>
        <p:spPr>
          <a:xfrm>
            <a:off x="685800" y="2828925"/>
            <a:ext cx="3190875" cy="685800"/>
          </a:xfrm>
          <a:prstGeom prst="rect">
            <a:avLst/>
          </a:prstGeom>
          <a:noFill/>
          <a:ln w="0">
            <a:noFill/>
          </a:ln>
        </p:spPr>
        <p:txBody>
          <a:bodyPr>
            <a:noAutofit/>
          </a:bodyPr>
          <a:lstStyle/>
          <a:p>
            <a:pPr>
              <a:buNone/>
              <a:defRPr sz="2175" b="1">
                <a:solidFill>
                  <a:srgbClr val="16382E"/>
                </a:solidFill>
                <a:latin typeface="Arial"/>
                <a:ea typeface="Arial"/>
                <a:cs typeface="Arial"/>
              </a:defRPr>
            </a:pPr>
            <a:r>
              <a:rPr sz="2175" b="1">
                <a:solidFill>
                  <a:srgbClr val="16382E"/>
                </a:solidFill>
                <a:latin typeface="Arial"/>
                <a:ea typeface="Arial"/>
                <a:cs typeface="Arial"/>
              </a:rPr>
              <a:t>Revenue</a:t>
            </a:r>
          </a:p>
        </p:txBody>
      </p:sp>
      <p:sp>
        <p:nvSpPr>
          <p:cNvPr id="6" name="Rechteck 5">
            <a:extLst>
              <a:ext uri="{FF2B5EF4-FFF2-40B4-BE49-F238E27FC236}">
                <a16:creationId xmlns:a16="http://schemas.microsoft.com/office/drawing/2014/main" id="{D02D170D-15FD-4DDB-805E-DC86477B18EA}"/>
              </a:ext>
            </a:extLst>
          </p:cNvPr>
          <p:cNvSpPr>
            <a:spLocks noGrp="1"/>
          </p:cNvSpPr>
          <p:nvPr/>
        </p:nvSpPr>
        <p:spPr>
          <a:xfrm>
            <a:off x="685800" y="3714750"/>
            <a:ext cx="3190875" cy="2000250"/>
          </a:xfrm>
          <a:prstGeom prst="rect">
            <a:avLst/>
          </a:prstGeom>
          <a:noFill/>
          <a:ln w="0">
            <a:noFill/>
          </a:ln>
        </p:spPr>
        <p:txBody>
          <a:bodyPr>
            <a:noAutofit/>
          </a:bodyPr>
          <a:lstStyle/>
          <a:p>
            <a:pPr>
              <a:buNone/>
              <a:defRPr sz="1875" b="0">
                <a:solidFill>
                  <a:srgbClr val="16382E"/>
                </a:solidFill>
                <a:latin typeface="Arial"/>
                <a:ea typeface="Arial"/>
                <a:cs typeface="Arial"/>
              </a:defRPr>
            </a:pPr>
            <a:r>
              <a:rPr sz="1875" b="0">
                <a:solidFill>
                  <a:srgbClr val="16382E"/>
                </a:solidFill>
                <a:latin typeface="Arial"/>
                <a:ea typeface="Arial"/>
                <a:cs typeface="Arial"/>
              </a:rPr>
              <a:t>Revenue for the last completed financial year. Specify the period and currency.</a:t>
            </a:r>
          </a:p>
        </p:txBody>
      </p:sp>
      <p:sp>
        <p:nvSpPr>
          <p:cNvPr id="7" name="Rechteck 6">
            <a:extLst>
              <a:ext uri="{FF2B5EF4-FFF2-40B4-BE49-F238E27FC236}">
                <a16:creationId xmlns:a16="http://schemas.microsoft.com/office/drawing/2014/main" id="{6D172439-A03F-49F7-B2BC-B94F45963A53}"/>
              </a:ext>
            </a:extLst>
          </p:cNvPr>
          <p:cNvSpPr>
            <a:spLocks noGrp="1"/>
          </p:cNvSpPr>
          <p:nvPr/>
        </p:nvSpPr>
        <p:spPr>
          <a:xfrm>
            <a:off x="4400550" y="1971675"/>
            <a:ext cx="3190875" cy="609600"/>
          </a:xfrm>
          <a:prstGeom prst="rect">
            <a:avLst/>
          </a:prstGeom>
          <a:noFill/>
          <a:ln w="0">
            <a:noFill/>
          </a:ln>
        </p:spPr>
        <p:txBody>
          <a:bodyPr>
            <a:noAutofit/>
          </a:bodyPr>
          <a:lstStyle/>
          <a:p>
            <a:pPr>
              <a:buNone/>
              <a:defRPr sz="3900" b="0">
                <a:solidFill>
                  <a:srgbClr val="536B60"/>
                </a:solidFill>
                <a:latin typeface="Arial"/>
                <a:ea typeface="Arial"/>
                <a:cs typeface="Arial"/>
              </a:defRPr>
            </a:pPr>
            <a:r>
              <a:rPr sz="3900" b="0">
                <a:solidFill>
                  <a:srgbClr val="536B60"/>
                </a:solidFill>
                <a:latin typeface="Arial"/>
                <a:ea typeface="Arial"/>
                <a:cs typeface="Arial"/>
              </a:rPr>
              <a:t>€</a:t>
            </a:r>
          </a:p>
        </p:txBody>
      </p:sp>
      <p:sp>
        <p:nvSpPr>
          <p:cNvPr id="8" name="Rechteck 7">
            <a:extLst>
              <a:ext uri="{FF2B5EF4-FFF2-40B4-BE49-F238E27FC236}">
                <a16:creationId xmlns:a16="http://schemas.microsoft.com/office/drawing/2014/main" id="{9F683D84-6315-4E12-AA68-C8FEA04E648C}"/>
              </a:ext>
            </a:extLst>
          </p:cNvPr>
          <p:cNvSpPr>
            <a:spLocks noGrp="1"/>
          </p:cNvSpPr>
          <p:nvPr/>
        </p:nvSpPr>
        <p:spPr>
          <a:xfrm>
            <a:off x="4400550" y="2828925"/>
            <a:ext cx="3190875" cy="685800"/>
          </a:xfrm>
          <a:prstGeom prst="rect">
            <a:avLst/>
          </a:prstGeom>
          <a:noFill/>
          <a:ln w="0">
            <a:noFill/>
          </a:ln>
        </p:spPr>
        <p:txBody>
          <a:bodyPr>
            <a:noAutofit/>
          </a:bodyPr>
          <a:lstStyle/>
          <a:p>
            <a:pPr>
              <a:buNone/>
              <a:defRPr sz="2175" b="1">
                <a:solidFill>
                  <a:srgbClr val="16382E"/>
                </a:solidFill>
                <a:latin typeface="Arial"/>
                <a:ea typeface="Arial"/>
                <a:cs typeface="Arial"/>
              </a:defRPr>
            </a:pPr>
            <a:r>
              <a:rPr sz="2175" b="1">
                <a:solidFill>
                  <a:srgbClr val="16382E"/>
                </a:solidFill>
                <a:latin typeface="Arial"/>
                <a:ea typeface="Arial"/>
                <a:cs typeface="Arial"/>
              </a:rPr>
              <a:t>Profit</a:t>
            </a:r>
          </a:p>
        </p:txBody>
      </p:sp>
      <p:sp>
        <p:nvSpPr>
          <p:cNvPr id="9" name="Rechteck 8">
            <a:extLst>
              <a:ext uri="{FF2B5EF4-FFF2-40B4-BE49-F238E27FC236}">
                <a16:creationId xmlns:a16="http://schemas.microsoft.com/office/drawing/2014/main" id="{29B11EEF-5EDF-44B9-874D-EFFB5103C6DA}"/>
              </a:ext>
            </a:extLst>
          </p:cNvPr>
          <p:cNvSpPr>
            <a:spLocks noGrp="1"/>
          </p:cNvSpPr>
          <p:nvPr/>
        </p:nvSpPr>
        <p:spPr>
          <a:xfrm>
            <a:off x="4400550" y="3714750"/>
            <a:ext cx="3190875" cy="2000250"/>
          </a:xfrm>
          <a:prstGeom prst="rect">
            <a:avLst/>
          </a:prstGeom>
          <a:noFill/>
          <a:ln w="0">
            <a:noFill/>
          </a:ln>
        </p:spPr>
        <p:txBody>
          <a:bodyPr>
            <a:noAutofit/>
          </a:bodyPr>
          <a:lstStyle/>
          <a:p>
            <a:pPr>
              <a:buNone/>
              <a:defRPr sz="1875" b="0">
                <a:solidFill>
                  <a:srgbClr val="16382E"/>
                </a:solidFill>
                <a:latin typeface="Arial"/>
                <a:ea typeface="Arial"/>
                <a:cs typeface="Arial"/>
              </a:defRPr>
            </a:pPr>
            <a:r>
              <a:rPr sz="1875" b="0">
                <a:solidFill>
                  <a:srgbClr val="16382E"/>
                </a:solidFill>
                <a:latin typeface="Arial"/>
                <a:ea typeface="Arial"/>
                <a:cs typeface="Arial"/>
              </a:rPr>
              <a:t>Profit for the same period. Clearly identify the profit measure used.</a:t>
            </a:r>
          </a:p>
        </p:txBody>
      </p:sp>
      <p:sp>
        <p:nvSpPr>
          <p:cNvPr id="10" name="Rechteck 9">
            <a:extLst>
              <a:ext uri="{FF2B5EF4-FFF2-40B4-BE49-F238E27FC236}">
                <a16:creationId xmlns:a16="http://schemas.microsoft.com/office/drawing/2014/main" id="{2E72EF2D-855E-4083-A1E7-398FA5089CE7}"/>
              </a:ext>
            </a:extLst>
          </p:cNvPr>
          <p:cNvSpPr>
            <a:spLocks noGrp="1"/>
          </p:cNvSpPr>
          <p:nvPr/>
        </p:nvSpPr>
        <p:spPr>
          <a:xfrm>
            <a:off x="8115300" y="1971675"/>
            <a:ext cx="3190875" cy="609600"/>
          </a:xfrm>
          <a:prstGeom prst="rect">
            <a:avLst/>
          </a:prstGeom>
          <a:noFill/>
          <a:ln w="0">
            <a:noFill/>
          </a:ln>
        </p:spPr>
        <p:txBody>
          <a:bodyPr>
            <a:noAutofit/>
          </a:bodyPr>
          <a:lstStyle/>
          <a:p>
            <a:pPr>
              <a:buNone/>
              <a:defRPr sz="3900" b="0">
                <a:solidFill>
                  <a:srgbClr val="536B60"/>
                </a:solidFill>
                <a:latin typeface="Arial"/>
                <a:ea typeface="Arial"/>
                <a:cs typeface="Arial"/>
              </a:defRPr>
            </a:pPr>
            <a:r>
              <a:rPr sz="3900" b="0">
                <a:solidFill>
                  <a:srgbClr val="536B60"/>
                </a:solidFill>
                <a:latin typeface="Arial"/>
                <a:ea typeface="Arial"/>
                <a:cs typeface="Arial"/>
              </a:rPr>
              <a:t>#</a:t>
            </a:r>
          </a:p>
        </p:txBody>
      </p:sp>
      <p:sp>
        <p:nvSpPr>
          <p:cNvPr id="11" name="Rechteck 10">
            <a:extLst>
              <a:ext uri="{FF2B5EF4-FFF2-40B4-BE49-F238E27FC236}">
                <a16:creationId xmlns:a16="http://schemas.microsoft.com/office/drawing/2014/main" id="{4A6F1DFB-B380-4EF6-B70A-B6AFF20BCE61}"/>
              </a:ext>
            </a:extLst>
          </p:cNvPr>
          <p:cNvSpPr>
            <a:spLocks noGrp="1"/>
          </p:cNvSpPr>
          <p:nvPr/>
        </p:nvSpPr>
        <p:spPr>
          <a:xfrm>
            <a:off x="8115300" y="2828925"/>
            <a:ext cx="3190875" cy="685800"/>
          </a:xfrm>
          <a:prstGeom prst="rect">
            <a:avLst/>
          </a:prstGeom>
          <a:noFill/>
          <a:ln w="0">
            <a:noFill/>
          </a:ln>
        </p:spPr>
        <p:txBody>
          <a:bodyPr>
            <a:noAutofit/>
          </a:bodyPr>
          <a:lstStyle/>
          <a:p>
            <a:pPr>
              <a:buNone/>
              <a:defRPr sz="2175" b="1">
                <a:solidFill>
                  <a:srgbClr val="16382E"/>
                </a:solidFill>
                <a:latin typeface="Arial"/>
                <a:ea typeface="Arial"/>
                <a:cs typeface="Arial"/>
              </a:defRPr>
            </a:pPr>
            <a:r>
              <a:rPr sz="2175" b="1">
                <a:solidFill>
                  <a:srgbClr val="16382E"/>
                </a:solidFill>
                <a:latin typeface="Arial"/>
                <a:ea typeface="Arial"/>
                <a:cs typeface="Arial"/>
              </a:rPr>
              <a:t>Employees</a:t>
            </a:r>
          </a:p>
        </p:txBody>
      </p:sp>
      <p:sp>
        <p:nvSpPr>
          <p:cNvPr id="12" name="Rechteck 11">
            <a:extLst>
              <a:ext uri="{FF2B5EF4-FFF2-40B4-BE49-F238E27FC236}">
                <a16:creationId xmlns:a16="http://schemas.microsoft.com/office/drawing/2014/main" id="{97A8961C-3AAE-4B22-9A75-B9FA05282AE8}"/>
              </a:ext>
            </a:extLst>
          </p:cNvPr>
          <p:cNvSpPr>
            <a:spLocks noGrp="1"/>
          </p:cNvSpPr>
          <p:nvPr/>
        </p:nvSpPr>
        <p:spPr>
          <a:xfrm>
            <a:off x="8115300" y="3714750"/>
            <a:ext cx="3190875" cy="2000250"/>
          </a:xfrm>
          <a:prstGeom prst="rect">
            <a:avLst/>
          </a:prstGeom>
          <a:noFill/>
          <a:ln w="0">
            <a:noFill/>
          </a:ln>
        </p:spPr>
        <p:txBody>
          <a:bodyPr>
            <a:noAutofit/>
          </a:bodyPr>
          <a:lstStyle/>
          <a:p>
            <a:pPr>
              <a:buNone/>
              <a:defRPr sz="1875" b="0">
                <a:solidFill>
                  <a:srgbClr val="16382E"/>
                </a:solidFill>
                <a:latin typeface="Arial"/>
                <a:ea typeface="Arial"/>
                <a:cs typeface="Arial"/>
              </a:defRPr>
            </a:pPr>
            <a:r>
              <a:rPr sz="1875" b="0">
                <a:solidFill>
                  <a:srgbClr val="16382E"/>
                </a:solidFill>
                <a:latin typeface="Arial"/>
                <a:ea typeface="Arial"/>
                <a:cs typeface="Arial"/>
              </a:rPr>
              <a:t>Current employee count. A simple number is enough to get started.</a:t>
            </a:r>
          </a:p>
        </p:txBody>
      </p:sp>
      <p:sp>
        <p:nvSpPr>
          <p:cNvPr id="13" name="Rechteck 12">
            <a:extLst>
              <a:ext uri="{FF2B5EF4-FFF2-40B4-BE49-F238E27FC236}">
                <a16:creationId xmlns:a16="http://schemas.microsoft.com/office/drawing/2014/main" id="{D2E79AAC-26A7-48C9-9F58-3664126BDDEB}"/>
              </a:ext>
            </a:extLst>
          </p:cNvPr>
          <p:cNvSpPr>
            <a:spLocks noGrp="1"/>
          </p:cNvSpPr>
          <p:nvPr/>
        </p:nvSpPr>
        <p:spPr>
          <a:xfrm>
            <a:off x="685800" y="5715000"/>
            <a:ext cx="10477500" cy="419100"/>
          </a:xfrm>
          <a:prstGeom prst="rect">
            <a:avLst/>
          </a:prstGeom>
          <a:noFill/>
          <a:ln w="0">
            <a:noFill/>
          </a:ln>
        </p:spPr>
        <p:txBody>
          <a:bodyPr>
            <a:noAutofit/>
          </a:bodyPr>
          <a:lstStyle/>
          <a:p>
            <a:pPr>
              <a:buNone/>
              <a:defRPr sz="1725" b="0">
                <a:solidFill>
                  <a:srgbClr val="536B60"/>
                </a:solidFill>
                <a:latin typeface="Arial"/>
                <a:ea typeface="Arial"/>
                <a:cs typeface="Arial"/>
              </a:defRPr>
            </a:pPr>
            <a:r>
              <a:rPr sz="1725" b="0">
                <a:solidFill>
                  <a:srgbClr val="536B60"/>
                </a:solidFill>
                <a:latin typeface="Arial"/>
                <a:ea typeface="Arial"/>
                <a:cs typeface="Arial"/>
              </a:rPr>
              <a:t>Suggested addition: short selection fields for industry and location.</a:t>
            </a:r>
          </a:p>
        </p:txBody>
      </p:sp>
    </p:spTree>
    <p:extLst>
      <p:ext uri="{BB962C8B-B14F-4D97-AF65-F5344CB8AC3E}">
        <p14:creationId xmlns:p14="http://schemas.microsoft.com/office/powerpoint/2010/main" val="1570903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02F2A"/>
        </a:solidFill>
        <a:effectLst/>
      </p:bgPr>
    </p:bg>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0FBB16DC-5CE0-453A-98C5-9300DEE0232A}"/>
              </a:ext>
            </a:extLst>
          </p:cNvPr>
          <p:cNvSpPr>
            <a:spLocks noGrp="1"/>
          </p:cNvSpPr>
          <p:nvPr/>
        </p:nvSpPr>
        <p:spPr>
          <a:xfrm>
            <a:off x="685800" y="523875"/>
            <a:ext cx="10820400" cy="1047750"/>
          </a:xfrm>
          <a:prstGeom prst="rect">
            <a:avLst/>
          </a:prstGeom>
          <a:noFill/>
          <a:ln w="0">
            <a:noFill/>
          </a:ln>
        </p:spPr>
        <p:txBody>
          <a:bodyPr>
            <a:noAutofit/>
          </a:bodyPr>
          <a:lstStyle/>
          <a:p>
            <a:pPr>
              <a:buNone/>
              <a:defRPr sz="3450" b="1">
                <a:solidFill>
                  <a:srgbClr val="F4F2EA"/>
                </a:solidFill>
                <a:latin typeface="Arial"/>
                <a:ea typeface="Arial"/>
                <a:cs typeface="Arial"/>
              </a:defRPr>
            </a:pPr>
            <a:r>
              <a:rPr sz="3450" b="1">
                <a:solidFill>
                  <a:srgbClr val="F4F2EA"/>
                </a:solidFill>
                <a:latin typeface="Arial"/>
                <a:ea typeface="Arial"/>
                <a:cs typeface="Arial"/>
              </a:rPr>
              <a:t>The result: a rough value range</a:t>
            </a:r>
          </a:p>
        </p:txBody>
      </p:sp>
      <p:sp>
        <p:nvSpPr>
          <p:cNvPr id="2" name="Rechteck 1">
            <a:extLst>
              <a:ext uri="{FF2B5EF4-FFF2-40B4-BE49-F238E27FC236}">
                <a16:creationId xmlns:a16="http://schemas.microsoft.com/office/drawing/2014/main" id="{AE2A774A-BE89-4CCF-AB38-E0C0B06AE828}"/>
              </a:ext>
            </a:extLst>
          </p:cNvPr>
          <p:cNvSpPr>
            <a:spLocks noGrp="1"/>
          </p:cNvSpPr>
          <p:nvPr/>
        </p:nvSpPr>
        <p:spPr>
          <a:xfrm>
            <a:off x="685800" y="6362700"/>
            <a:ext cx="1905000" cy="238125"/>
          </a:xfrm>
          <a:prstGeom prst="rect">
            <a:avLst/>
          </a:prstGeom>
          <a:noFill/>
          <a:ln w="0">
            <a:noFill/>
          </a:ln>
        </p:spPr>
        <p:txBody>
          <a:bodyPr>
            <a:noAutofit/>
          </a:bodyPr>
          <a:lstStyle/>
          <a:p>
            <a:pPr>
              <a:buNone/>
              <a:defRPr sz="1200" b="1">
                <a:solidFill>
                  <a:srgbClr val="B9DEC7"/>
                </a:solidFill>
                <a:latin typeface="Arial"/>
                <a:ea typeface="Arial"/>
                <a:cs typeface="Arial"/>
              </a:defRPr>
            </a:pPr>
            <a:r>
              <a:rPr sz="1200" b="1">
                <a:solidFill>
                  <a:srgbClr val="B9DEC7"/>
                </a:solidFill>
                <a:latin typeface="Arial"/>
                <a:ea typeface="Arial"/>
                <a:cs typeface="Arial"/>
              </a:rPr>
              <a:t>MERGERO</a:t>
            </a:r>
          </a:p>
        </p:txBody>
      </p:sp>
      <p:sp>
        <p:nvSpPr>
          <p:cNvPr id="3" name="Rechteck 2">
            <a:extLst>
              <a:ext uri="{FF2B5EF4-FFF2-40B4-BE49-F238E27FC236}">
                <a16:creationId xmlns:a16="http://schemas.microsoft.com/office/drawing/2014/main" id="{2A341BE8-F1A1-4620-9E90-01265BF286C1}"/>
              </a:ext>
            </a:extLst>
          </p:cNvPr>
          <p:cNvSpPr>
            <a:spLocks noGrp="1"/>
          </p:cNvSpPr>
          <p:nvPr/>
        </p:nvSpPr>
        <p:spPr>
          <a:xfrm>
            <a:off x="10953750" y="6324600"/>
            <a:ext cx="571500" cy="266700"/>
          </a:xfrm>
          <a:prstGeom prst="rect">
            <a:avLst/>
          </a:prstGeom>
          <a:noFill/>
          <a:ln w="0">
            <a:noFill/>
          </a:ln>
        </p:spPr>
        <p:txBody>
          <a:bodyPr>
            <a:noAutofit/>
          </a:bodyPr>
          <a:lstStyle/>
          <a:p>
            <a:pPr>
              <a:buNone/>
              <a:defRPr sz="1350" b="0">
                <a:solidFill>
                  <a:srgbClr val="B9DEC7"/>
                </a:solidFill>
                <a:latin typeface="Arial"/>
                <a:ea typeface="Arial"/>
                <a:cs typeface="Arial"/>
              </a:defRPr>
            </a:pPr>
            <a:r>
              <a:rPr sz="1350" b="0">
                <a:solidFill>
                  <a:srgbClr val="B9DEC7"/>
                </a:solidFill>
                <a:latin typeface="Arial"/>
                <a:ea typeface="Arial"/>
                <a:cs typeface="Arial"/>
              </a:rPr>
              <a:t>05</a:t>
            </a:r>
          </a:p>
        </p:txBody>
      </p:sp>
      <p:sp>
        <p:nvSpPr>
          <p:cNvPr id="4" name="Rechteck 3">
            <a:extLst>
              <a:ext uri="{FF2B5EF4-FFF2-40B4-BE49-F238E27FC236}">
                <a16:creationId xmlns:a16="http://schemas.microsoft.com/office/drawing/2014/main" id="{C81BDDFE-62A9-444D-AC03-2525DD459AA3}"/>
              </a:ext>
            </a:extLst>
          </p:cNvPr>
          <p:cNvSpPr>
            <a:spLocks noGrp="1"/>
          </p:cNvSpPr>
          <p:nvPr/>
        </p:nvSpPr>
        <p:spPr>
          <a:xfrm>
            <a:off x="685800" y="2000250"/>
            <a:ext cx="6096000" cy="809625"/>
          </a:xfrm>
          <a:prstGeom prst="rect">
            <a:avLst/>
          </a:prstGeom>
          <a:noFill/>
          <a:ln w="0">
            <a:noFill/>
          </a:ln>
        </p:spPr>
        <p:txBody>
          <a:bodyPr>
            <a:noAutofit/>
          </a:bodyPr>
          <a:lstStyle/>
          <a:p>
            <a:pPr>
              <a:buNone/>
              <a:defRPr sz="3600" b="1">
                <a:solidFill>
                  <a:srgbClr val="B9DEC7"/>
                </a:solidFill>
                <a:latin typeface="Arial"/>
                <a:ea typeface="Arial"/>
                <a:cs typeface="Arial"/>
              </a:defRPr>
            </a:pPr>
            <a:r>
              <a:rPr sz="3600" b="1">
                <a:solidFill>
                  <a:srgbClr val="B9DEC7"/>
                </a:solidFill>
                <a:latin typeface="Arial"/>
                <a:ea typeface="Arial"/>
                <a:cs typeface="Arial"/>
              </a:rPr>
              <a:t>Initial guidance</a:t>
            </a:r>
          </a:p>
        </p:txBody>
      </p:sp>
      <p:sp>
        <p:nvSpPr>
          <p:cNvPr id="5" name="Rechteck 4">
            <a:extLst>
              <a:ext uri="{FF2B5EF4-FFF2-40B4-BE49-F238E27FC236}">
                <a16:creationId xmlns:a16="http://schemas.microsoft.com/office/drawing/2014/main" id="{FA184C8C-EE0F-4096-A1F2-3FF5A0476914}"/>
              </a:ext>
            </a:extLst>
          </p:cNvPr>
          <p:cNvSpPr>
            <a:spLocks noGrp="1"/>
          </p:cNvSpPr>
          <p:nvPr/>
        </p:nvSpPr>
        <p:spPr>
          <a:xfrm>
            <a:off x="685800" y="3000375"/>
            <a:ext cx="5810250" cy="1143000"/>
          </a:xfrm>
          <a:prstGeom prst="rect">
            <a:avLst/>
          </a:prstGeom>
          <a:noFill/>
          <a:ln w="0">
            <a:noFill/>
          </a:ln>
        </p:spPr>
        <p:txBody>
          <a:bodyPr>
            <a:noAutofit/>
          </a:bodyPr>
          <a:lstStyle/>
          <a:p>
            <a:pPr>
              <a:buNone/>
              <a:defRPr sz="2325" b="0">
                <a:solidFill>
                  <a:srgbClr val="F4F2EA"/>
                </a:solidFill>
                <a:latin typeface="Arial"/>
                <a:ea typeface="Arial"/>
                <a:cs typeface="Arial"/>
              </a:defRPr>
            </a:pPr>
            <a:r>
              <a:rPr sz="2325" b="0">
                <a:solidFill>
                  <a:srgbClr val="F4F2EA"/>
                </a:solidFill>
                <a:latin typeface="Arial"/>
                <a:ea typeface="Arial"/>
                <a:cs typeface="Arial"/>
              </a:rPr>
              <a:t>The engine uses the basic data</a:t>
            </a:r>
          </a:p>
          <a:p>
            <a:pPr>
              <a:buNone/>
              <a:defRPr sz="2325" b="0">
                <a:solidFill>
                  <a:srgbClr val="F4F2EA"/>
                </a:solidFill>
                <a:latin typeface="Arial"/>
                <a:ea typeface="Arial"/>
                <a:cs typeface="Arial"/>
              </a:defRPr>
            </a:pPr>
            <a:r>
              <a:rPr sz="2325" b="0">
                <a:solidFill>
                  <a:srgbClr val="F4F2EA"/>
                </a:solidFill>
                <a:latin typeface="Arial"/>
                <a:ea typeface="Arial"/>
                <a:cs typeface="Arial"/>
              </a:rPr>
              <a:t>to generate a preliminary estimate.</a:t>
            </a:r>
          </a:p>
        </p:txBody>
      </p:sp>
      <p:sp>
        <p:nvSpPr>
          <p:cNvPr id="6" name="Rechteck 5">
            <a:extLst>
              <a:ext uri="{FF2B5EF4-FFF2-40B4-BE49-F238E27FC236}">
                <a16:creationId xmlns:a16="http://schemas.microsoft.com/office/drawing/2014/main" id="{E103C53B-D181-4C98-A7BD-CDFDC3A76BC4}"/>
              </a:ext>
            </a:extLst>
          </p:cNvPr>
          <p:cNvSpPr>
            <a:spLocks noGrp="1"/>
          </p:cNvSpPr>
          <p:nvPr/>
        </p:nvSpPr>
        <p:spPr>
          <a:xfrm>
            <a:off x="685800" y="4552950"/>
            <a:ext cx="6000750" cy="933450"/>
          </a:xfrm>
          <a:prstGeom prst="rect">
            <a:avLst/>
          </a:prstGeom>
          <a:noFill/>
          <a:ln w="0">
            <a:noFill/>
          </a:ln>
        </p:spPr>
        <p:txBody>
          <a:bodyPr>
            <a:noAutofit/>
          </a:bodyPr>
          <a:lstStyle/>
          <a:p>
            <a:pPr>
              <a:buNone/>
              <a:defRPr sz="2025" b="0">
                <a:solidFill>
                  <a:srgbClr val="F4F2EA"/>
                </a:solidFill>
                <a:latin typeface="Arial"/>
                <a:ea typeface="Arial"/>
                <a:cs typeface="Arial"/>
              </a:defRPr>
            </a:pPr>
            <a:r>
              <a:rPr sz="2025" b="0">
                <a:solidFill>
                  <a:srgbClr val="F4F2EA"/>
                </a:solidFill>
                <a:latin typeface="Arial"/>
                <a:ea typeface="Arial"/>
                <a:cs typeface="Arial"/>
              </a:rPr>
              <a:t>If there is interest, Mergero follows up</a:t>
            </a:r>
          </a:p>
          <a:p>
            <a:pPr>
              <a:buNone/>
              <a:defRPr sz="2025" b="0">
                <a:solidFill>
                  <a:srgbClr val="F4F2EA"/>
                </a:solidFill>
                <a:latin typeface="Arial"/>
                <a:ea typeface="Arial"/>
                <a:cs typeface="Arial"/>
              </a:defRPr>
            </a:pPr>
            <a:r>
              <a:rPr sz="2025" b="0">
                <a:solidFill>
                  <a:srgbClr val="F4F2EA"/>
                </a:solidFill>
                <a:latin typeface="Arial"/>
                <a:ea typeface="Arial"/>
                <a:cs typeface="Arial"/>
              </a:rPr>
              <a:t>and refines the business profile.</a:t>
            </a:r>
          </a:p>
        </p:txBody>
      </p:sp>
      <p:sp>
        <p:nvSpPr>
          <p:cNvPr id="7" name="Rechteck 6">
            <a:extLst>
              <a:ext uri="{FF2B5EF4-FFF2-40B4-BE49-F238E27FC236}">
                <a16:creationId xmlns:a16="http://schemas.microsoft.com/office/drawing/2014/main" id="{20724D13-5613-4D1B-9C93-3150438F1DFE}"/>
              </a:ext>
            </a:extLst>
          </p:cNvPr>
          <p:cNvSpPr>
            <a:spLocks noGrp="1"/>
          </p:cNvSpPr>
          <p:nvPr/>
        </p:nvSpPr>
        <p:spPr>
          <a:xfrm>
            <a:off x="7858125" y="2076450"/>
            <a:ext cx="3571875" cy="571500"/>
          </a:xfrm>
          <a:prstGeom prst="rect">
            <a:avLst/>
          </a:prstGeom>
          <a:noFill/>
          <a:ln w="0">
            <a:noFill/>
          </a:ln>
        </p:spPr>
        <p:txBody>
          <a:bodyPr>
            <a:noAutofit/>
          </a:bodyPr>
          <a:lstStyle/>
          <a:p>
            <a:pPr>
              <a:buNone/>
              <a:defRPr sz="2100" b="1">
                <a:solidFill>
                  <a:srgbClr val="B9DEC7"/>
                </a:solidFill>
                <a:latin typeface="Arial"/>
                <a:ea typeface="Arial"/>
                <a:cs typeface="Arial"/>
              </a:defRPr>
            </a:pPr>
            <a:r>
              <a:rPr sz="2100" b="1">
                <a:solidFill>
                  <a:srgbClr val="B9DEC7"/>
                </a:solidFill>
                <a:latin typeface="Arial"/>
                <a:ea typeface="Arial"/>
                <a:cs typeface="Arial"/>
              </a:rPr>
              <a:t>What the result shows</a:t>
            </a:r>
          </a:p>
        </p:txBody>
      </p:sp>
      <p:sp>
        <p:nvSpPr>
          <p:cNvPr id="8" name="Rechteck 7">
            <a:extLst>
              <a:ext uri="{FF2B5EF4-FFF2-40B4-BE49-F238E27FC236}">
                <a16:creationId xmlns:a16="http://schemas.microsoft.com/office/drawing/2014/main" id="{7EB54DC8-78BF-4937-AF77-CE918F91714E}"/>
              </a:ext>
            </a:extLst>
          </p:cNvPr>
          <p:cNvSpPr>
            <a:spLocks noGrp="1"/>
          </p:cNvSpPr>
          <p:nvPr/>
        </p:nvSpPr>
        <p:spPr>
          <a:xfrm>
            <a:off x="7858125" y="2886074"/>
            <a:ext cx="3714750" cy="3971926"/>
          </a:xfrm>
          <a:prstGeom prst="rect">
            <a:avLst/>
          </a:prstGeom>
          <a:noFill/>
          <a:ln w="0">
            <a:noFill/>
          </a:ln>
        </p:spPr>
        <p:txBody>
          <a:bodyPr>
            <a:noAutofit/>
          </a:bodyPr>
          <a:lstStyle/>
          <a:p>
            <a:pPr>
              <a:buNone/>
              <a:defRPr sz="1875" b="0">
                <a:solidFill>
                  <a:srgbClr val="F4F2EA"/>
                </a:solidFill>
                <a:latin typeface="Arial"/>
                <a:ea typeface="Arial"/>
                <a:cs typeface="Arial"/>
              </a:defRPr>
            </a:pPr>
            <a:r>
              <a:rPr sz="1875" b="0">
                <a:solidFill>
                  <a:srgbClr val="F4F2EA"/>
                </a:solidFill>
                <a:latin typeface="Arial"/>
                <a:ea typeface="Arial"/>
                <a:cs typeface="Arial"/>
              </a:rPr>
              <a:t>Value range</a:t>
            </a:r>
          </a:p>
          <a:p>
            <a:endParaRPr sz="1875" b="0">
              <a:solidFill>
                <a:srgbClr val="F4F2EA"/>
              </a:solidFill>
              <a:latin typeface="Arial"/>
              <a:ea typeface="Arial"/>
              <a:cs typeface="Arial"/>
            </a:endParaRPr>
          </a:p>
          <a:p>
            <a:pPr>
              <a:buNone/>
              <a:defRPr sz="1875" b="0">
                <a:solidFill>
                  <a:srgbClr val="F4F2EA"/>
                </a:solidFill>
                <a:latin typeface="Arial"/>
                <a:ea typeface="Arial"/>
                <a:cs typeface="Arial"/>
              </a:defRPr>
            </a:pPr>
            <a:r>
              <a:rPr sz="1875" b="0">
                <a:solidFill>
                  <a:srgbClr val="F4F2EA"/>
                </a:solidFill>
                <a:latin typeface="Arial"/>
                <a:ea typeface="Arial"/>
                <a:cs typeface="Arial"/>
              </a:rPr>
              <a:t>Data used</a:t>
            </a:r>
          </a:p>
          <a:p>
            <a:endParaRPr sz="1875" b="0">
              <a:solidFill>
                <a:srgbClr val="F4F2EA"/>
              </a:solidFill>
              <a:latin typeface="Arial"/>
              <a:ea typeface="Arial"/>
              <a:cs typeface="Arial"/>
            </a:endParaRPr>
          </a:p>
          <a:p>
            <a:pPr>
              <a:buNone/>
              <a:defRPr sz="1875" b="0">
                <a:solidFill>
                  <a:srgbClr val="F4F2EA"/>
                </a:solidFill>
                <a:latin typeface="Arial"/>
                <a:ea typeface="Arial"/>
                <a:cs typeface="Arial"/>
              </a:defRPr>
            </a:pPr>
            <a:r>
              <a:rPr sz="1875" b="0">
                <a:solidFill>
                  <a:srgbClr val="F4F2EA"/>
                </a:solidFill>
                <a:latin typeface="Arial"/>
                <a:ea typeface="Arial"/>
                <a:cs typeface="Arial"/>
              </a:rPr>
              <a:t>Assumptions and limitations</a:t>
            </a:r>
          </a:p>
          <a:p>
            <a:endParaRPr sz="1875" b="0">
              <a:solidFill>
                <a:srgbClr val="F4F2EA"/>
              </a:solidFill>
              <a:latin typeface="Arial"/>
              <a:ea typeface="Arial"/>
              <a:cs typeface="Arial"/>
            </a:endParaRPr>
          </a:p>
          <a:p>
            <a:pPr>
              <a:buNone/>
              <a:defRPr sz="1875" b="0">
                <a:solidFill>
                  <a:srgbClr val="F4F2EA"/>
                </a:solidFill>
                <a:latin typeface="Arial"/>
                <a:ea typeface="Arial"/>
                <a:cs typeface="Arial"/>
              </a:defRPr>
            </a:pPr>
            <a:r>
              <a:rPr sz="1875" b="0">
                <a:solidFill>
                  <a:srgbClr val="F4F2EA"/>
                </a:solidFill>
                <a:latin typeface="Arial"/>
                <a:ea typeface="Arial"/>
                <a:cs typeface="Arial"/>
              </a:rPr>
              <a:t>Possible next steps</a:t>
            </a:r>
          </a:p>
          <a:p>
            <a:pPr>
              <a:buNone/>
              <a:defRPr sz="1875" b="0">
                <a:solidFill>
                  <a:srgbClr val="F4F2EA"/>
                </a:solidFill>
                <a:latin typeface="Arial"/>
                <a:ea typeface="Arial"/>
                <a:cs typeface="Arial"/>
              </a:defRPr>
            </a:pPr>
            <a:endParaRPr sz="1875">
              <a:solidFill>
                <a:srgbClr val="F4F2EA"/>
              </a:solidFill>
              <a:latin typeface="Arial"/>
              <a:ea typeface="Arial"/>
              <a:cs typeface="Arial"/>
            </a:endParaRPr>
          </a:p>
          <a:p>
            <a:pPr>
              <a:buNone/>
              <a:defRPr sz="1875" b="0">
                <a:solidFill>
                  <a:srgbClr val="F4F2EA"/>
                </a:solidFill>
                <a:latin typeface="Arial"/>
                <a:ea typeface="Arial"/>
                <a:cs typeface="Arial"/>
              </a:defRPr>
            </a:pPr>
            <a:r>
              <a:rPr sz="1875" b="0">
                <a:solidFill>
                  <a:srgbClr val="F4F2EA"/>
                </a:solidFill>
                <a:latin typeface="Arial"/>
                <a:ea typeface="Arial"/>
                <a:cs typeface="Arial"/>
              </a:rPr>
              <a:t>A statement from the owner about the firm policy and culture currently</a:t>
            </a:r>
          </a:p>
        </p:txBody>
      </p:sp>
    </p:spTree>
    <p:extLst>
      <p:ext uri="{BB962C8B-B14F-4D97-AF65-F5344CB8AC3E}">
        <p14:creationId xmlns:p14="http://schemas.microsoft.com/office/powerpoint/2010/main" val="699746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2EA"/>
        </a:solidFill>
        <a:effectLst/>
      </p:bgPr>
    </p:bg>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3A918C89-2D68-4B06-9BFB-8FD21B3A21B8}"/>
              </a:ext>
            </a:extLst>
          </p:cNvPr>
          <p:cNvSpPr>
            <a:spLocks noGrp="1"/>
          </p:cNvSpPr>
          <p:nvPr/>
        </p:nvSpPr>
        <p:spPr>
          <a:xfrm>
            <a:off x="685800" y="523875"/>
            <a:ext cx="10820400" cy="1047750"/>
          </a:xfrm>
          <a:prstGeom prst="rect">
            <a:avLst/>
          </a:prstGeom>
          <a:noFill/>
          <a:ln w="0">
            <a:noFill/>
          </a:ln>
        </p:spPr>
        <p:txBody>
          <a:bodyPr>
            <a:noAutofit/>
          </a:bodyPr>
          <a:lstStyle/>
          <a:p>
            <a:pPr>
              <a:buNone/>
              <a:defRPr sz="3450" b="1">
                <a:solidFill>
                  <a:srgbClr val="16382E"/>
                </a:solidFill>
                <a:latin typeface="Arial"/>
                <a:ea typeface="Arial"/>
                <a:cs typeface="Arial"/>
              </a:defRPr>
            </a:pPr>
            <a:r>
              <a:rPr sz="3450" b="1">
                <a:solidFill>
                  <a:srgbClr val="16382E"/>
                </a:solidFill>
                <a:latin typeface="Arial"/>
                <a:ea typeface="Arial"/>
                <a:cs typeface="Arial"/>
              </a:rPr>
              <a:t>An AI conversation captures further conditions</a:t>
            </a:r>
          </a:p>
        </p:txBody>
      </p:sp>
      <p:sp>
        <p:nvSpPr>
          <p:cNvPr id="2" name="Rechteck 1">
            <a:extLst>
              <a:ext uri="{FF2B5EF4-FFF2-40B4-BE49-F238E27FC236}">
                <a16:creationId xmlns:a16="http://schemas.microsoft.com/office/drawing/2014/main" id="{1EAB35E0-E1AE-4CB2-9355-458484EAD2E5}"/>
              </a:ext>
            </a:extLst>
          </p:cNvPr>
          <p:cNvSpPr>
            <a:spLocks noGrp="1"/>
          </p:cNvSpPr>
          <p:nvPr/>
        </p:nvSpPr>
        <p:spPr>
          <a:xfrm>
            <a:off x="685800" y="6362700"/>
            <a:ext cx="1905000" cy="238125"/>
          </a:xfrm>
          <a:prstGeom prst="rect">
            <a:avLst/>
          </a:prstGeom>
          <a:noFill/>
          <a:ln w="0">
            <a:noFill/>
          </a:ln>
        </p:spPr>
        <p:txBody>
          <a:bodyPr>
            <a:noAutofit/>
          </a:bodyPr>
          <a:lstStyle/>
          <a:p>
            <a:pPr>
              <a:buNone/>
              <a:defRPr sz="1200" b="1">
                <a:solidFill>
                  <a:srgbClr val="536B60"/>
                </a:solidFill>
                <a:latin typeface="Arial"/>
                <a:ea typeface="Arial"/>
                <a:cs typeface="Arial"/>
              </a:defRPr>
            </a:pPr>
            <a:r>
              <a:rPr sz="1200" b="1">
                <a:solidFill>
                  <a:srgbClr val="536B60"/>
                </a:solidFill>
                <a:latin typeface="Arial"/>
                <a:ea typeface="Arial"/>
                <a:cs typeface="Arial"/>
              </a:rPr>
              <a:t>MERGERO</a:t>
            </a:r>
          </a:p>
        </p:txBody>
      </p:sp>
      <p:sp>
        <p:nvSpPr>
          <p:cNvPr id="3" name="Rechteck 2">
            <a:extLst>
              <a:ext uri="{FF2B5EF4-FFF2-40B4-BE49-F238E27FC236}">
                <a16:creationId xmlns:a16="http://schemas.microsoft.com/office/drawing/2014/main" id="{5AC7BAD0-29E3-4B78-AB85-6D0499E8E0E2}"/>
              </a:ext>
            </a:extLst>
          </p:cNvPr>
          <p:cNvSpPr>
            <a:spLocks noGrp="1"/>
          </p:cNvSpPr>
          <p:nvPr/>
        </p:nvSpPr>
        <p:spPr>
          <a:xfrm>
            <a:off x="10953750" y="6324600"/>
            <a:ext cx="571500" cy="266700"/>
          </a:xfrm>
          <a:prstGeom prst="rect">
            <a:avLst/>
          </a:prstGeom>
          <a:noFill/>
          <a:ln w="0">
            <a:noFill/>
          </a:ln>
        </p:spPr>
        <p:txBody>
          <a:bodyPr>
            <a:noAutofit/>
          </a:bodyPr>
          <a:lstStyle/>
          <a:p>
            <a:pPr>
              <a:buNone/>
              <a:defRPr sz="1350" b="0">
                <a:solidFill>
                  <a:srgbClr val="536B60"/>
                </a:solidFill>
                <a:latin typeface="Arial"/>
                <a:ea typeface="Arial"/>
                <a:cs typeface="Arial"/>
              </a:defRPr>
            </a:pPr>
            <a:r>
              <a:rPr sz="1350" b="0">
                <a:solidFill>
                  <a:srgbClr val="536B60"/>
                </a:solidFill>
                <a:latin typeface="Arial"/>
                <a:ea typeface="Arial"/>
                <a:cs typeface="Arial"/>
              </a:rPr>
              <a:t>07</a:t>
            </a:r>
          </a:p>
        </p:txBody>
      </p:sp>
      <p:sp>
        <p:nvSpPr>
          <p:cNvPr id="4" name="Rechteck 3">
            <a:extLst>
              <a:ext uri="{FF2B5EF4-FFF2-40B4-BE49-F238E27FC236}">
                <a16:creationId xmlns:a16="http://schemas.microsoft.com/office/drawing/2014/main" id="{22777858-3119-4C85-BC40-E7A19C7D2468}"/>
              </a:ext>
            </a:extLst>
          </p:cNvPr>
          <p:cNvSpPr>
            <a:spLocks noGrp="1"/>
          </p:cNvSpPr>
          <p:nvPr/>
        </p:nvSpPr>
        <p:spPr>
          <a:xfrm>
            <a:off x="685800" y="1981200"/>
            <a:ext cx="4953000" cy="857250"/>
          </a:xfrm>
          <a:prstGeom prst="rect">
            <a:avLst/>
          </a:prstGeom>
          <a:noFill/>
          <a:ln w="0">
            <a:noFill/>
          </a:ln>
        </p:spPr>
        <p:txBody>
          <a:bodyPr>
            <a:noAutofit/>
          </a:bodyPr>
          <a:lstStyle/>
          <a:p>
            <a:pPr>
              <a:buNone/>
              <a:defRPr sz="2850" b="1">
                <a:solidFill>
                  <a:srgbClr val="16382E"/>
                </a:solidFill>
                <a:latin typeface="Arial"/>
                <a:ea typeface="Arial"/>
                <a:cs typeface="Arial"/>
              </a:defRPr>
            </a:pPr>
            <a:r>
              <a:rPr sz="2850" b="1">
                <a:solidFill>
                  <a:srgbClr val="16382E"/>
                </a:solidFill>
                <a:latin typeface="Arial"/>
                <a:ea typeface="Arial"/>
                <a:cs typeface="Arial"/>
              </a:rPr>
              <a:t>Optional calling service</a:t>
            </a:r>
          </a:p>
        </p:txBody>
      </p:sp>
      <p:sp>
        <p:nvSpPr>
          <p:cNvPr id="5" name="Rechteck 4">
            <a:extLst>
              <a:ext uri="{FF2B5EF4-FFF2-40B4-BE49-F238E27FC236}">
                <a16:creationId xmlns:a16="http://schemas.microsoft.com/office/drawing/2014/main" id="{8C9A7491-6CED-467F-8CEC-D818432BDD19}"/>
              </a:ext>
            </a:extLst>
          </p:cNvPr>
          <p:cNvSpPr>
            <a:spLocks noGrp="1"/>
          </p:cNvSpPr>
          <p:nvPr/>
        </p:nvSpPr>
        <p:spPr>
          <a:xfrm>
            <a:off x="685800" y="3114675"/>
            <a:ext cx="4953000" cy="1619250"/>
          </a:xfrm>
          <a:prstGeom prst="rect">
            <a:avLst/>
          </a:prstGeom>
          <a:noFill/>
          <a:ln w="0">
            <a:noFill/>
          </a:ln>
        </p:spPr>
        <p:txBody>
          <a:bodyPr>
            <a:noAutofit/>
          </a:bodyPr>
          <a:lstStyle/>
          <a:p>
            <a:pPr>
              <a:buNone/>
              <a:defRPr sz="2175" b="0">
                <a:solidFill>
                  <a:srgbClr val="16382E"/>
                </a:solidFill>
                <a:latin typeface="Arial"/>
                <a:ea typeface="Arial"/>
                <a:cs typeface="Arial"/>
              </a:defRPr>
            </a:pPr>
            <a:r>
              <a:rPr sz="2175" b="0">
                <a:solidFill>
                  <a:srgbClr val="16382E"/>
                </a:solidFill>
                <a:latin typeface="Arial"/>
                <a:ea typeface="Arial"/>
                <a:cs typeface="Arial"/>
              </a:rPr>
              <a:t>The owner can request an automated</a:t>
            </a:r>
          </a:p>
          <a:p>
            <a:pPr>
              <a:buNone/>
              <a:defRPr sz="2175" b="0">
                <a:solidFill>
                  <a:srgbClr val="16382E"/>
                </a:solidFill>
                <a:latin typeface="Arial"/>
                <a:ea typeface="Arial"/>
                <a:cs typeface="Arial"/>
              </a:defRPr>
            </a:pPr>
            <a:r>
              <a:rPr sz="2175" b="0">
                <a:solidFill>
                  <a:srgbClr val="16382E"/>
                </a:solidFill>
                <a:latin typeface="Arial"/>
                <a:ea typeface="Arial"/>
                <a:cs typeface="Arial"/>
              </a:rPr>
              <a:t>AI conversation and choose</a:t>
            </a:r>
          </a:p>
          <a:p>
            <a:pPr>
              <a:buNone/>
              <a:defRPr sz="2175" b="0">
                <a:solidFill>
                  <a:srgbClr val="16382E"/>
                </a:solidFill>
                <a:latin typeface="Arial"/>
                <a:ea typeface="Arial"/>
                <a:cs typeface="Arial"/>
              </a:defRPr>
            </a:pPr>
            <a:r>
              <a:rPr sz="2175" b="0">
                <a:solidFill>
                  <a:srgbClr val="16382E"/>
                </a:solidFill>
                <a:latin typeface="Arial"/>
                <a:ea typeface="Arial"/>
                <a:cs typeface="Arial"/>
              </a:rPr>
              <a:t>a convenient time.</a:t>
            </a:r>
          </a:p>
        </p:txBody>
      </p:sp>
      <p:sp>
        <p:nvSpPr>
          <p:cNvPr id="6" name="Rechteck 5">
            <a:extLst>
              <a:ext uri="{FF2B5EF4-FFF2-40B4-BE49-F238E27FC236}">
                <a16:creationId xmlns:a16="http://schemas.microsoft.com/office/drawing/2014/main" id="{8D1A8E61-FBD5-40F8-B941-9CCC77FFE833}"/>
              </a:ext>
            </a:extLst>
          </p:cNvPr>
          <p:cNvSpPr>
            <a:spLocks noGrp="1"/>
          </p:cNvSpPr>
          <p:nvPr/>
        </p:nvSpPr>
        <p:spPr>
          <a:xfrm>
            <a:off x="685800" y="5010150"/>
            <a:ext cx="5143500" cy="933450"/>
          </a:xfrm>
          <a:prstGeom prst="rect">
            <a:avLst/>
          </a:prstGeom>
          <a:noFill/>
          <a:ln w="0">
            <a:noFill/>
          </a:ln>
        </p:spPr>
        <p:txBody>
          <a:bodyPr>
            <a:noAutofit/>
          </a:bodyPr>
          <a:lstStyle/>
          <a:p>
            <a:pPr>
              <a:buNone/>
              <a:defRPr sz="1875" b="0">
                <a:solidFill>
                  <a:srgbClr val="536B60"/>
                </a:solidFill>
                <a:latin typeface="Arial"/>
                <a:ea typeface="Arial"/>
                <a:cs typeface="Arial"/>
              </a:defRPr>
            </a:pPr>
            <a:r>
              <a:rPr sz="1875" b="0">
                <a:solidFill>
                  <a:srgbClr val="536B60"/>
                </a:solidFill>
                <a:latin typeface="Arial"/>
                <a:ea typeface="Arial"/>
                <a:cs typeface="Arial"/>
              </a:rPr>
              <a:t>Mergero adds the confirmed</a:t>
            </a:r>
          </a:p>
          <a:p>
            <a:pPr>
              <a:buNone/>
              <a:defRPr sz="1875" b="0">
                <a:solidFill>
                  <a:srgbClr val="536B60"/>
                </a:solidFill>
                <a:latin typeface="Arial"/>
                <a:ea typeface="Arial"/>
                <a:cs typeface="Arial"/>
              </a:defRPr>
            </a:pPr>
            <a:r>
              <a:rPr sz="1875" b="0">
                <a:solidFill>
                  <a:srgbClr val="536B60"/>
                </a:solidFill>
                <a:latin typeface="Arial"/>
                <a:ea typeface="Arial"/>
                <a:cs typeface="Arial"/>
              </a:rPr>
              <a:t>conversation summary to the profile.</a:t>
            </a:r>
          </a:p>
        </p:txBody>
      </p:sp>
      <p:sp>
        <p:nvSpPr>
          <p:cNvPr id="7" name="Rechteck 6">
            <a:extLst>
              <a:ext uri="{FF2B5EF4-FFF2-40B4-BE49-F238E27FC236}">
                <a16:creationId xmlns:a16="http://schemas.microsoft.com/office/drawing/2014/main" id="{487A28F0-FE6A-4743-ADFF-BB8713070F25}"/>
              </a:ext>
            </a:extLst>
          </p:cNvPr>
          <p:cNvSpPr>
            <a:spLocks noGrp="1"/>
          </p:cNvSpPr>
          <p:nvPr/>
        </p:nvSpPr>
        <p:spPr>
          <a:xfrm>
            <a:off x="6858000" y="2000250"/>
            <a:ext cx="4667250" cy="571500"/>
          </a:xfrm>
          <a:prstGeom prst="rect">
            <a:avLst/>
          </a:prstGeom>
          <a:noFill/>
          <a:ln w="0">
            <a:noFill/>
          </a:ln>
        </p:spPr>
        <p:txBody>
          <a:bodyPr>
            <a:noAutofit/>
          </a:bodyPr>
          <a:lstStyle/>
          <a:p>
            <a:pPr>
              <a:buNone/>
              <a:defRPr sz="2175" b="1">
                <a:solidFill>
                  <a:srgbClr val="16382E"/>
                </a:solidFill>
                <a:latin typeface="Arial"/>
                <a:ea typeface="Arial"/>
                <a:cs typeface="Arial"/>
              </a:defRPr>
            </a:pPr>
            <a:r>
              <a:rPr sz="2175" b="1">
                <a:solidFill>
                  <a:srgbClr val="16382E"/>
                </a:solidFill>
                <a:latin typeface="Arial"/>
                <a:ea typeface="Arial"/>
                <a:cs typeface="Arial"/>
              </a:rPr>
              <a:t>Possible topics</a:t>
            </a:r>
          </a:p>
        </p:txBody>
      </p:sp>
      <p:sp>
        <p:nvSpPr>
          <p:cNvPr id="8" name="Rechteck 7">
            <a:extLst>
              <a:ext uri="{FF2B5EF4-FFF2-40B4-BE49-F238E27FC236}">
                <a16:creationId xmlns:a16="http://schemas.microsoft.com/office/drawing/2014/main" id="{616A9033-2B28-42E7-9AB4-6592CE45CDF8}"/>
              </a:ext>
            </a:extLst>
          </p:cNvPr>
          <p:cNvSpPr>
            <a:spLocks noGrp="1"/>
          </p:cNvSpPr>
          <p:nvPr/>
        </p:nvSpPr>
        <p:spPr>
          <a:xfrm>
            <a:off x="6858000" y="2914650"/>
            <a:ext cx="4667250" cy="2952750"/>
          </a:xfrm>
          <a:prstGeom prst="rect">
            <a:avLst/>
          </a:prstGeom>
          <a:noFill/>
          <a:ln w="0">
            <a:noFill/>
          </a:ln>
        </p:spPr>
        <p:txBody>
          <a:bodyPr>
            <a:noAutofit/>
          </a:bodyPr>
          <a:lstStyle/>
          <a:p>
            <a:pPr>
              <a:buNone/>
              <a:defRPr sz="1950" b="0">
                <a:solidFill>
                  <a:srgbClr val="16382E"/>
                </a:solidFill>
                <a:latin typeface="Arial"/>
                <a:ea typeface="Arial"/>
                <a:cs typeface="Arial"/>
              </a:defRPr>
            </a:pPr>
            <a:r>
              <a:rPr sz="1950" b="0">
                <a:solidFill>
                  <a:srgbClr val="16382E"/>
                </a:solidFill>
                <a:latin typeface="Arial"/>
                <a:ea typeface="Arial"/>
                <a:cs typeface="Arial"/>
              </a:rPr>
              <a:t>Interest in selling and timing</a:t>
            </a:r>
          </a:p>
          <a:p>
            <a:endParaRPr sz="1950" b="0">
              <a:solidFill>
                <a:srgbClr val="16382E"/>
              </a:solidFill>
              <a:latin typeface="Arial"/>
              <a:ea typeface="Arial"/>
              <a:cs typeface="Arial"/>
            </a:endParaRPr>
          </a:p>
          <a:p>
            <a:pPr>
              <a:buNone/>
              <a:defRPr sz="1950" b="0">
                <a:solidFill>
                  <a:srgbClr val="16382E"/>
                </a:solidFill>
                <a:latin typeface="Arial"/>
                <a:ea typeface="Arial"/>
                <a:cs typeface="Arial"/>
              </a:defRPr>
            </a:pPr>
            <a:r>
              <a:rPr sz="1950" b="0">
                <a:solidFill>
                  <a:srgbClr val="16382E"/>
                </a:solidFill>
                <a:latin typeface="Arial"/>
                <a:ea typeface="Arial"/>
                <a:cs typeface="Arial"/>
              </a:rPr>
              <a:t>Owner’s role after the handover</a:t>
            </a:r>
          </a:p>
          <a:p>
            <a:endParaRPr sz="1950" b="0">
              <a:solidFill>
                <a:srgbClr val="16382E"/>
              </a:solidFill>
              <a:latin typeface="Arial"/>
              <a:ea typeface="Arial"/>
              <a:cs typeface="Arial"/>
            </a:endParaRPr>
          </a:p>
          <a:p>
            <a:pPr>
              <a:buNone/>
              <a:defRPr sz="1950" b="0">
                <a:solidFill>
                  <a:srgbClr val="16382E"/>
                </a:solidFill>
                <a:latin typeface="Arial"/>
                <a:ea typeface="Arial"/>
                <a:cs typeface="Arial"/>
              </a:defRPr>
            </a:pPr>
            <a:r>
              <a:rPr sz="1950" b="0">
                <a:solidFill>
                  <a:srgbClr val="16382E"/>
                </a:solidFill>
                <a:latin typeface="Arial"/>
                <a:ea typeface="Arial"/>
                <a:cs typeface="Arial"/>
              </a:rPr>
              <a:t>Expectations of a buyer</a:t>
            </a:r>
          </a:p>
          <a:p>
            <a:endParaRPr sz="1950" b="0">
              <a:solidFill>
                <a:srgbClr val="16382E"/>
              </a:solidFill>
              <a:latin typeface="Arial"/>
              <a:ea typeface="Arial"/>
              <a:cs typeface="Arial"/>
            </a:endParaRPr>
          </a:p>
          <a:p>
            <a:pPr>
              <a:buNone/>
              <a:defRPr sz="1950" b="0">
                <a:solidFill>
                  <a:srgbClr val="16382E"/>
                </a:solidFill>
                <a:latin typeface="Arial"/>
                <a:ea typeface="Arial"/>
                <a:cs typeface="Arial"/>
              </a:defRPr>
            </a:pPr>
            <a:r>
              <a:rPr sz="1950" b="0">
                <a:solidFill>
                  <a:srgbClr val="16382E"/>
                </a:solidFill>
                <a:latin typeface="Arial"/>
                <a:ea typeface="Arial"/>
                <a:cs typeface="Arial"/>
              </a:rPr>
              <a:t>Specific business conditions</a:t>
            </a:r>
          </a:p>
        </p:txBody>
      </p:sp>
    </p:spTree>
    <p:extLst>
      <p:ext uri="{BB962C8B-B14F-4D97-AF65-F5344CB8AC3E}">
        <p14:creationId xmlns:p14="http://schemas.microsoft.com/office/powerpoint/2010/main" val="896436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2EA"/>
        </a:solidFill>
        <a:effectLst/>
      </p:bgPr>
    </p:bg>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08B076C6-C040-48DF-A72D-95936B83449A}"/>
              </a:ext>
            </a:extLst>
          </p:cNvPr>
          <p:cNvSpPr>
            <a:spLocks noGrp="1"/>
          </p:cNvSpPr>
          <p:nvPr/>
        </p:nvSpPr>
        <p:spPr>
          <a:xfrm>
            <a:off x="685800" y="523875"/>
            <a:ext cx="10820400" cy="1047750"/>
          </a:xfrm>
          <a:prstGeom prst="rect">
            <a:avLst/>
          </a:prstGeom>
          <a:noFill/>
          <a:ln w="0">
            <a:noFill/>
          </a:ln>
        </p:spPr>
        <p:txBody>
          <a:bodyPr>
            <a:noAutofit/>
          </a:bodyPr>
          <a:lstStyle/>
          <a:p>
            <a:pPr>
              <a:buNone/>
              <a:defRPr sz="3450" b="1">
                <a:solidFill>
                  <a:srgbClr val="16382E"/>
                </a:solidFill>
                <a:latin typeface="Arial"/>
                <a:ea typeface="Arial"/>
                <a:cs typeface="Arial"/>
              </a:defRPr>
            </a:pPr>
            <a:r>
              <a:rPr sz="3450" b="1">
                <a:solidFill>
                  <a:srgbClr val="16382E"/>
                </a:solidFill>
                <a:latin typeface="Arial"/>
                <a:ea typeface="Arial"/>
                <a:cs typeface="Arial"/>
              </a:rPr>
              <a:t>Company culture as part of the profile</a:t>
            </a:r>
          </a:p>
        </p:txBody>
      </p:sp>
      <p:sp>
        <p:nvSpPr>
          <p:cNvPr id="2" name="Rechteck 1">
            <a:extLst>
              <a:ext uri="{FF2B5EF4-FFF2-40B4-BE49-F238E27FC236}">
                <a16:creationId xmlns:a16="http://schemas.microsoft.com/office/drawing/2014/main" id="{C9C3D460-8A74-4E28-9364-3BFD4E4049BE}"/>
              </a:ext>
            </a:extLst>
          </p:cNvPr>
          <p:cNvSpPr>
            <a:spLocks noGrp="1"/>
          </p:cNvSpPr>
          <p:nvPr/>
        </p:nvSpPr>
        <p:spPr>
          <a:xfrm>
            <a:off x="685800" y="6362700"/>
            <a:ext cx="1905000" cy="238125"/>
          </a:xfrm>
          <a:prstGeom prst="rect">
            <a:avLst/>
          </a:prstGeom>
          <a:noFill/>
          <a:ln w="0">
            <a:noFill/>
          </a:ln>
        </p:spPr>
        <p:txBody>
          <a:bodyPr>
            <a:noAutofit/>
          </a:bodyPr>
          <a:lstStyle/>
          <a:p>
            <a:pPr>
              <a:buNone/>
              <a:defRPr sz="1200" b="1">
                <a:solidFill>
                  <a:srgbClr val="536B60"/>
                </a:solidFill>
                <a:latin typeface="Arial"/>
                <a:ea typeface="Arial"/>
                <a:cs typeface="Arial"/>
              </a:defRPr>
            </a:pPr>
            <a:r>
              <a:rPr sz="1200" b="1">
                <a:solidFill>
                  <a:srgbClr val="536B60"/>
                </a:solidFill>
                <a:latin typeface="Arial"/>
                <a:ea typeface="Arial"/>
                <a:cs typeface="Arial"/>
              </a:rPr>
              <a:t>MERGERO</a:t>
            </a:r>
          </a:p>
        </p:txBody>
      </p:sp>
      <p:sp>
        <p:nvSpPr>
          <p:cNvPr id="3" name="Rechteck 2">
            <a:extLst>
              <a:ext uri="{FF2B5EF4-FFF2-40B4-BE49-F238E27FC236}">
                <a16:creationId xmlns:a16="http://schemas.microsoft.com/office/drawing/2014/main" id="{EFBB2CA5-4B0C-484C-B0C6-8105F721D63A}"/>
              </a:ext>
            </a:extLst>
          </p:cNvPr>
          <p:cNvSpPr>
            <a:spLocks noGrp="1"/>
          </p:cNvSpPr>
          <p:nvPr/>
        </p:nvSpPr>
        <p:spPr>
          <a:xfrm>
            <a:off x="10953750" y="6324600"/>
            <a:ext cx="571500" cy="266700"/>
          </a:xfrm>
          <a:prstGeom prst="rect">
            <a:avLst/>
          </a:prstGeom>
          <a:noFill/>
          <a:ln w="0">
            <a:noFill/>
          </a:ln>
        </p:spPr>
        <p:txBody>
          <a:bodyPr>
            <a:noAutofit/>
          </a:bodyPr>
          <a:lstStyle/>
          <a:p>
            <a:pPr>
              <a:buNone/>
              <a:defRPr sz="1350" b="0">
                <a:solidFill>
                  <a:srgbClr val="536B60"/>
                </a:solidFill>
                <a:latin typeface="Arial"/>
                <a:ea typeface="Arial"/>
                <a:cs typeface="Arial"/>
              </a:defRPr>
            </a:pPr>
            <a:r>
              <a:rPr sz="1350" b="0">
                <a:solidFill>
                  <a:srgbClr val="536B60"/>
                </a:solidFill>
                <a:latin typeface="Arial"/>
                <a:ea typeface="Arial"/>
                <a:cs typeface="Arial"/>
              </a:rPr>
              <a:t>08</a:t>
            </a:r>
          </a:p>
        </p:txBody>
      </p:sp>
      <p:sp>
        <p:nvSpPr>
          <p:cNvPr id="4" name="Rechteck 3">
            <a:extLst>
              <a:ext uri="{FF2B5EF4-FFF2-40B4-BE49-F238E27FC236}">
                <a16:creationId xmlns:a16="http://schemas.microsoft.com/office/drawing/2014/main" id="{56B2348A-5F47-499E-9AD3-627CFE3BD9BE}"/>
              </a:ext>
            </a:extLst>
          </p:cNvPr>
          <p:cNvSpPr>
            <a:spLocks noGrp="1"/>
          </p:cNvSpPr>
          <p:nvPr/>
        </p:nvSpPr>
        <p:spPr>
          <a:xfrm>
            <a:off x="685800" y="1952625"/>
            <a:ext cx="10810875" cy="1047750"/>
          </a:xfrm>
          <a:prstGeom prst="rect">
            <a:avLst/>
          </a:prstGeom>
          <a:noFill/>
          <a:ln w="0">
            <a:noFill/>
          </a:ln>
        </p:spPr>
        <p:txBody>
          <a:bodyPr>
            <a:noAutofit/>
          </a:bodyPr>
          <a:lstStyle/>
          <a:p>
            <a:pPr>
              <a:buNone/>
              <a:defRPr sz="2850" b="1">
                <a:solidFill>
                  <a:srgbClr val="16382E"/>
                </a:solidFill>
                <a:latin typeface="Arial"/>
                <a:ea typeface="Arial"/>
                <a:cs typeface="Arial"/>
              </a:defRPr>
            </a:pPr>
            <a:r>
              <a:rPr sz="2850" b="1">
                <a:solidFill>
                  <a:srgbClr val="16382E"/>
                </a:solidFill>
                <a:latin typeface="Arial"/>
                <a:ea typeface="Arial"/>
                <a:cs typeface="Arial"/>
              </a:rPr>
              <a:t>The numbers explain the business.</a:t>
            </a:r>
          </a:p>
          <a:p>
            <a:pPr>
              <a:buNone/>
              <a:defRPr sz="2850" b="1">
                <a:solidFill>
                  <a:srgbClr val="16382E"/>
                </a:solidFill>
                <a:latin typeface="Arial"/>
                <a:ea typeface="Arial"/>
                <a:cs typeface="Arial"/>
              </a:defRPr>
            </a:pPr>
            <a:r>
              <a:rPr sz="2850" b="1">
                <a:solidFill>
                  <a:srgbClr val="16382E"/>
                </a:solidFill>
                <a:latin typeface="Arial"/>
                <a:ea typeface="Arial"/>
                <a:cs typeface="Arial"/>
              </a:rPr>
              <a:t>The owner describes the culture.</a:t>
            </a:r>
          </a:p>
        </p:txBody>
      </p:sp>
      <p:sp>
        <p:nvSpPr>
          <p:cNvPr id="5" name="Rechteck 4">
            <a:extLst>
              <a:ext uri="{FF2B5EF4-FFF2-40B4-BE49-F238E27FC236}">
                <a16:creationId xmlns:a16="http://schemas.microsoft.com/office/drawing/2014/main" id="{DFFB23EF-A967-4CA3-AC40-4B922F24339C}"/>
              </a:ext>
            </a:extLst>
          </p:cNvPr>
          <p:cNvSpPr>
            <a:spLocks noGrp="1"/>
          </p:cNvSpPr>
          <p:nvPr/>
        </p:nvSpPr>
        <p:spPr>
          <a:xfrm>
            <a:off x="685800" y="3524250"/>
            <a:ext cx="4905375" cy="571500"/>
          </a:xfrm>
          <a:prstGeom prst="rect">
            <a:avLst/>
          </a:prstGeom>
          <a:noFill/>
          <a:ln w="0">
            <a:noFill/>
          </a:ln>
        </p:spPr>
        <p:txBody>
          <a:bodyPr>
            <a:noAutofit/>
          </a:bodyPr>
          <a:lstStyle/>
          <a:p>
            <a:pPr>
              <a:buNone/>
              <a:defRPr sz="2175" b="1">
                <a:solidFill>
                  <a:srgbClr val="16382E"/>
                </a:solidFill>
                <a:latin typeface="Arial"/>
                <a:ea typeface="Arial"/>
                <a:cs typeface="Arial"/>
              </a:defRPr>
            </a:pPr>
            <a:r>
              <a:rPr sz="2175" b="1">
                <a:solidFill>
                  <a:srgbClr val="16382E"/>
                </a:solidFill>
                <a:latin typeface="Arial"/>
                <a:ea typeface="Arial"/>
                <a:cs typeface="Arial"/>
              </a:rPr>
              <a:t>AI chat as a writing aid</a:t>
            </a:r>
          </a:p>
        </p:txBody>
      </p:sp>
      <p:sp>
        <p:nvSpPr>
          <p:cNvPr id="6" name="Rechteck 5">
            <a:extLst>
              <a:ext uri="{FF2B5EF4-FFF2-40B4-BE49-F238E27FC236}">
                <a16:creationId xmlns:a16="http://schemas.microsoft.com/office/drawing/2014/main" id="{9571C466-A911-47B7-AC0D-52125B610236}"/>
              </a:ext>
            </a:extLst>
          </p:cNvPr>
          <p:cNvSpPr>
            <a:spLocks noGrp="1"/>
          </p:cNvSpPr>
          <p:nvPr/>
        </p:nvSpPr>
        <p:spPr>
          <a:xfrm>
            <a:off x="685800" y="4257675"/>
            <a:ext cx="5048250" cy="1381125"/>
          </a:xfrm>
          <a:prstGeom prst="rect">
            <a:avLst/>
          </a:prstGeom>
          <a:noFill/>
          <a:ln w="0">
            <a:noFill/>
          </a:ln>
        </p:spPr>
        <p:txBody>
          <a:bodyPr>
            <a:noAutofit/>
          </a:bodyPr>
          <a:lstStyle/>
          <a:p>
            <a:pPr>
              <a:buNone/>
              <a:defRPr sz="1950" b="0">
                <a:solidFill>
                  <a:srgbClr val="16382E"/>
                </a:solidFill>
                <a:latin typeface="Arial"/>
                <a:ea typeface="Arial"/>
                <a:cs typeface="Arial"/>
              </a:defRPr>
            </a:pPr>
            <a:r>
              <a:rPr sz="1950" b="0">
                <a:solidFill>
                  <a:srgbClr val="16382E"/>
                </a:solidFill>
                <a:latin typeface="Arial"/>
                <a:ea typeface="Arial"/>
                <a:cs typeface="Arial"/>
              </a:rPr>
              <a:t>Short questions about leadership,</a:t>
            </a:r>
          </a:p>
          <a:p>
            <a:pPr>
              <a:buNone/>
              <a:defRPr sz="1950" b="0">
                <a:solidFill>
                  <a:srgbClr val="16382E"/>
                </a:solidFill>
                <a:latin typeface="Arial"/>
                <a:ea typeface="Arial"/>
                <a:cs typeface="Arial"/>
              </a:defRPr>
            </a:pPr>
            <a:r>
              <a:rPr sz="1950" b="0">
                <a:solidFill>
                  <a:srgbClr val="16382E"/>
                </a:solidFill>
                <a:latin typeface="Arial"/>
                <a:ea typeface="Arial"/>
                <a:cs typeface="Arial"/>
              </a:rPr>
              <a:t>collaboration and principles produce</a:t>
            </a:r>
          </a:p>
          <a:p>
            <a:pPr>
              <a:buNone/>
              <a:defRPr sz="1950" b="0">
                <a:solidFill>
                  <a:srgbClr val="16382E"/>
                </a:solidFill>
                <a:latin typeface="Arial"/>
                <a:ea typeface="Arial"/>
                <a:cs typeface="Arial"/>
              </a:defRPr>
            </a:pPr>
            <a:r>
              <a:rPr sz="1950" b="0">
                <a:solidFill>
                  <a:srgbClr val="16382E"/>
                </a:solidFill>
                <a:latin typeface="Arial"/>
                <a:ea typeface="Arial"/>
                <a:cs typeface="Arial"/>
              </a:rPr>
              <a:t>a text of around 500 words.</a:t>
            </a:r>
          </a:p>
        </p:txBody>
      </p:sp>
      <p:sp>
        <p:nvSpPr>
          <p:cNvPr id="7" name="Rechteck 6">
            <a:extLst>
              <a:ext uri="{FF2B5EF4-FFF2-40B4-BE49-F238E27FC236}">
                <a16:creationId xmlns:a16="http://schemas.microsoft.com/office/drawing/2014/main" id="{770C2428-AB12-480E-A86C-DFF04783CFB8}"/>
              </a:ext>
            </a:extLst>
          </p:cNvPr>
          <p:cNvSpPr>
            <a:spLocks noGrp="1"/>
          </p:cNvSpPr>
          <p:nvPr/>
        </p:nvSpPr>
        <p:spPr>
          <a:xfrm>
            <a:off x="6858000" y="3524250"/>
            <a:ext cx="4667250" cy="571500"/>
          </a:xfrm>
          <a:prstGeom prst="rect">
            <a:avLst/>
          </a:prstGeom>
          <a:noFill/>
          <a:ln w="0">
            <a:noFill/>
          </a:ln>
        </p:spPr>
        <p:txBody>
          <a:bodyPr>
            <a:noAutofit/>
          </a:bodyPr>
          <a:lstStyle/>
          <a:p>
            <a:pPr>
              <a:buNone/>
              <a:defRPr sz="2175" b="1">
                <a:solidFill>
                  <a:srgbClr val="16382E"/>
                </a:solidFill>
                <a:latin typeface="Arial"/>
                <a:ea typeface="Arial"/>
                <a:cs typeface="Arial"/>
              </a:defRPr>
            </a:pPr>
            <a:r>
              <a:rPr sz="2175" b="1">
                <a:solidFill>
                  <a:srgbClr val="16382E"/>
                </a:solidFill>
                <a:latin typeface="Arial"/>
                <a:ea typeface="Arial"/>
                <a:cs typeface="Arial"/>
              </a:rPr>
              <a:t>The owner’s perspective</a:t>
            </a:r>
          </a:p>
        </p:txBody>
      </p:sp>
      <p:sp>
        <p:nvSpPr>
          <p:cNvPr id="8" name="Rechteck 7">
            <a:extLst>
              <a:ext uri="{FF2B5EF4-FFF2-40B4-BE49-F238E27FC236}">
                <a16:creationId xmlns:a16="http://schemas.microsoft.com/office/drawing/2014/main" id="{7C92FF49-7633-4470-AC84-29CE205ADAAE}"/>
              </a:ext>
            </a:extLst>
          </p:cNvPr>
          <p:cNvSpPr>
            <a:spLocks noGrp="1"/>
          </p:cNvSpPr>
          <p:nvPr/>
        </p:nvSpPr>
        <p:spPr>
          <a:xfrm>
            <a:off x="6858000" y="4257675"/>
            <a:ext cx="4667250" cy="1381125"/>
          </a:xfrm>
          <a:prstGeom prst="rect">
            <a:avLst/>
          </a:prstGeom>
          <a:noFill/>
          <a:ln w="0">
            <a:noFill/>
          </a:ln>
        </p:spPr>
        <p:txBody>
          <a:bodyPr>
            <a:noAutofit/>
          </a:bodyPr>
          <a:lstStyle/>
          <a:p>
            <a:pPr>
              <a:buNone/>
              <a:defRPr sz="1950" b="0">
                <a:solidFill>
                  <a:srgbClr val="16382E"/>
                </a:solidFill>
                <a:latin typeface="Arial"/>
                <a:ea typeface="Arial"/>
                <a:cs typeface="Arial"/>
              </a:defRPr>
            </a:pPr>
            <a:r>
              <a:rPr sz="1950" b="0">
                <a:solidFill>
                  <a:srgbClr val="16382E"/>
                </a:solidFill>
                <a:latin typeface="Arial"/>
                <a:ea typeface="Arial"/>
                <a:cs typeface="Arial"/>
              </a:rPr>
              <a:t>The owner approves the text for buyers.</a:t>
            </a:r>
          </a:p>
          <a:p>
            <a:pPr>
              <a:buNone/>
              <a:defRPr sz="1950" b="0">
                <a:solidFill>
                  <a:srgbClr val="16382E"/>
                </a:solidFill>
                <a:latin typeface="Arial"/>
                <a:ea typeface="Arial"/>
                <a:cs typeface="Arial"/>
              </a:defRPr>
            </a:pPr>
            <a:r>
              <a:rPr sz="1950" b="0">
                <a:solidFill>
                  <a:srgbClr val="16382E"/>
                </a:solidFill>
                <a:latin typeface="Arial"/>
                <a:ea typeface="Arial"/>
                <a:cs typeface="Arial"/>
              </a:rPr>
              <a:t>This self-assessment complements</a:t>
            </a:r>
          </a:p>
          <a:p>
            <a:pPr>
              <a:buNone/>
              <a:defRPr sz="1950" b="0">
                <a:solidFill>
                  <a:srgbClr val="16382E"/>
                </a:solidFill>
                <a:latin typeface="Arial"/>
                <a:ea typeface="Arial"/>
                <a:cs typeface="Arial"/>
              </a:defRPr>
            </a:pPr>
            <a:r>
              <a:rPr sz="1950" b="0">
                <a:solidFill>
                  <a:srgbClr val="16382E"/>
                </a:solidFill>
                <a:latin typeface="Arial"/>
                <a:ea typeface="Arial"/>
                <a:cs typeface="Arial"/>
              </a:rPr>
              <a:t>the business figures.</a:t>
            </a:r>
          </a:p>
        </p:txBody>
      </p:sp>
    </p:spTree>
    <p:extLst>
      <p:ext uri="{BB962C8B-B14F-4D97-AF65-F5344CB8AC3E}">
        <p14:creationId xmlns:p14="http://schemas.microsoft.com/office/powerpoint/2010/main" val="626807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2EA"/>
        </a:solidFill>
        <a:effectLst/>
      </p:bgPr>
    </p:bg>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1A065ED4-F02C-4FC4-A9D3-D7CBB7B8403F}"/>
              </a:ext>
            </a:extLst>
          </p:cNvPr>
          <p:cNvSpPr>
            <a:spLocks noGrp="1"/>
          </p:cNvSpPr>
          <p:nvPr/>
        </p:nvSpPr>
        <p:spPr>
          <a:xfrm>
            <a:off x="685800" y="523875"/>
            <a:ext cx="10820400" cy="1047750"/>
          </a:xfrm>
          <a:prstGeom prst="rect">
            <a:avLst/>
          </a:prstGeom>
          <a:noFill/>
          <a:ln w="0">
            <a:noFill/>
          </a:ln>
        </p:spPr>
        <p:txBody>
          <a:bodyPr>
            <a:noAutofit/>
          </a:bodyPr>
          <a:lstStyle/>
          <a:p>
            <a:pPr>
              <a:buNone/>
              <a:defRPr sz="3450" b="1">
                <a:solidFill>
                  <a:srgbClr val="16382E"/>
                </a:solidFill>
                <a:latin typeface="Arial"/>
                <a:ea typeface="Arial"/>
                <a:cs typeface="Arial"/>
              </a:defRPr>
            </a:pPr>
            <a:r>
              <a:rPr sz="3450" b="1">
                <a:solidFill>
                  <a:srgbClr val="16382E"/>
                </a:solidFill>
                <a:latin typeface="Arial"/>
                <a:ea typeface="Arial"/>
                <a:cs typeface="Arial"/>
              </a:rPr>
              <a:t>Buyer introductions and initial implementation</a:t>
            </a:r>
          </a:p>
        </p:txBody>
      </p:sp>
      <p:sp>
        <p:nvSpPr>
          <p:cNvPr id="2" name="Rechteck 1">
            <a:extLst>
              <a:ext uri="{FF2B5EF4-FFF2-40B4-BE49-F238E27FC236}">
                <a16:creationId xmlns:a16="http://schemas.microsoft.com/office/drawing/2014/main" id="{C04EF6C0-2D9C-40AA-80A8-8732DCFDBA1A}"/>
              </a:ext>
            </a:extLst>
          </p:cNvPr>
          <p:cNvSpPr>
            <a:spLocks noGrp="1"/>
          </p:cNvSpPr>
          <p:nvPr/>
        </p:nvSpPr>
        <p:spPr>
          <a:xfrm>
            <a:off x="685800" y="6362700"/>
            <a:ext cx="1905000" cy="238125"/>
          </a:xfrm>
          <a:prstGeom prst="rect">
            <a:avLst/>
          </a:prstGeom>
          <a:noFill/>
          <a:ln w="0">
            <a:noFill/>
          </a:ln>
        </p:spPr>
        <p:txBody>
          <a:bodyPr>
            <a:noAutofit/>
          </a:bodyPr>
          <a:lstStyle/>
          <a:p>
            <a:pPr>
              <a:buNone/>
              <a:defRPr sz="1200" b="1">
                <a:solidFill>
                  <a:srgbClr val="536B60"/>
                </a:solidFill>
                <a:latin typeface="Arial"/>
                <a:ea typeface="Arial"/>
                <a:cs typeface="Arial"/>
              </a:defRPr>
            </a:pPr>
            <a:r>
              <a:rPr sz="1200" b="1">
                <a:solidFill>
                  <a:srgbClr val="536B60"/>
                </a:solidFill>
                <a:latin typeface="Arial"/>
                <a:ea typeface="Arial"/>
                <a:cs typeface="Arial"/>
              </a:rPr>
              <a:t>MERGERO</a:t>
            </a:r>
          </a:p>
        </p:txBody>
      </p:sp>
      <p:sp>
        <p:nvSpPr>
          <p:cNvPr id="3" name="Rechteck 2">
            <a:extLst>
              <a:ext uri="{FF2B5EF4-FFF2-40B4-BE49-F238E27FC236}">
                <a16:creationId xmlns:a16="http://schemas.microsoft.com/office/drawing/2014/main" id="{0303785B-37C7-43AA-AF1F-C9AB976E75DB}"/>
              </a:ext>
            </a:extLst>
          </p:cNvPr>
          <p:cNvSpPr>
            <a:spLocks noGrp="1"/>
          </p:cNvSpPr>
          <p:nvPr/>
        </p:nvSpPr>
        <p:spPr>
          <a:xfrm>
            <a:off x="10953750" y="6324600"/>
            <a:ext cx="571500" cy="266700"/>
          </a:xfrm>
          <a:prstGeom prst="rect">
            <a:avLst/>
          </a:prstGeom>
          <a:noFill/>
          <a:ln w="0">
            <a:noFill/>
          </a:ln>
        </p:spPr>
        <p:txBody>
          <a:bodyPr>
            <a:noAutofit/>
          </a:bodyPr>
          <a:lstStyle/>
          <a:p>
            <a:pPr>
              <a:buNone/>
              <a:defRPr sz="1350" b="0">
                <a:solidFill>
                  <a:srgbClr val="536B60"/>
                </a:solidFill>
                <a:latin typeface="Arial"/>
                <a:ea typeface="Arial"/>
                <a:cs typeface="Arial"/>
              </a:defRPr>
            </a:pPr>
            <a:r>
              <a:rPr sz="1350" b="0">
                <a:solidFill>
                  <a:srgbClr val="536B60"/>
                </a:solidFill>
                <a:latin typeface="Arial"/>
                <a:ea typeface="Arial"/>
                <a:cs typeface="Arial"/>
              </a:rPr>
              <a:t>09</a:t>
            </a:r>
          </a:p>
        </p:txBody>
      </p:sp>
      <p:sp>
        <p:nvSpPr>
          <p:cNvPr id="4" name="Rechteck 3">
            <a:extLst>
              <a:ext uri="{FF2B5EF4-FFF2-40B4-BE49-F238E27FC236}">
                <a16:creationId xmlns:a16="http://schemas.microsoft.com/office/drawing/2014/main" id="{16610583-77F3-41CC-964E-90A43BF349E3}"/>
              </a:ext>
            </a:extLst>
          </p:cNvPr>
          <p:cNvSpPr>
            <a:spLocks noGrp="1"/>
          </p:cNvSpPr>
          <p:nvPr/>
        </p:nvSpPr>
        <p:spPr>
          <a:xfrm>
            <a:off x="685800" y="1857375"/>
            <a:ext cx="5191125" cy="619125"/>
          </a:xfrm>
          <a:prstGeom prst="rect">
            <a:avLst/>
          </a:prstGeom>
          <a:noFill/>
          <a:ln w="0">
            <a:noFill/>
          </a:ln>
        </p:spPr>
        <p:txBody>
          <a:bodyPr>
            <a:noAutofit/>
          </a:bodyPr>
          <a:lstStyle/>
          <a:p>
            <a:pPr>
              <a:buNone/>
              <a:defRPr sz="2400" b="1">
                <a:solidFill>
                  <a:srgbClr val="16382E"/>
                </a:solidFill>
                <a:latin typeface="Arial"/>
                <a:ea typeface="Arial"/>
                <a:cs typeface="Arial"/>
              </a:defRPr>
            </a:pPr>
            <a:r>
              <a:rPr sz="2400" b="1">
                <a:solidFill>
                  <a:srgbClr val="16382E"/>
                </a:solidFill>
                <a:latin typeface="Arial"/>
                <a:ea typeface="Arial"/>
                <a:cs typeface="Arial"/>
              </a:rPr>
              <a:t>How an introduction takes shape</a:t>
            </a:r>
          </a:p>
        </p:txBody>
      </p:sp>
      <p:sp>
        <p:nvSpPr>
          <p:cNvPr id="5" name="Rechteck 4">
            <a:extLst>
              <a:ext uri="{FF2B5EF4-FFF2-40B4-BE49-F238E27FC236}">
                <a16:creationId xmlns:a16="http://schemas.microsoft.com/office/drawing/2014/main" id="{E60F6521-BCA6-4564-9600-43742967F47D}"/>
              </a:ext>
            </a:extLst>
          </p:cNvPr>
          <p:cNvSpPr>
            <a:spLocks noGrp="1"/>
          </p:cNvSpPr>
          <p:nvPr/>
        </p:nvSpPr>
        <p:spPr>
          <a:xfrm>
            <a:off x="685800" y="2800350"/>
            <a:ext cx="5286375" cy="3048000"/>
          </a:xfrm>
          <a:prstGeom prst="rect">
            <a:avLst/>
          </a:prstGeom>
          <a:noFill/>
          <a:ln w="0">
            <a:noFill/>
          </a:ln>
        </p:spPr>
        <p:txBody>
          <a:bodyPr>
            <a:noAutofit/>
          </a:bodyPr>
          <a:lstStyle/>
          <a:p>
            <a:pPr>
              <a:buNone/>
              <a:defRPr sz="1950" b="0">
                <a:solidFill>
                  <a:srgbClr val="16382E"/>
                </a:solidFill>
                <a:latin typeface="Arial"/>
                <a:ea typeface="Arial"/>
                <a:cs typeface="Arial"/>
              </a:defRPr>
            </a:pPr>
            <a:r>
              <a:rPr sz="1950" b="0">
                <a:solidFill>
                  <a:srgbClr val="16382E"/>
                </a:solidFill>
                <a:latin typeface="Arial"/>
                <a:ea typeface="Arial"/>
                <a:cs typeface="Arial"/>
              </a:rPr>
              <a:t>Match saved profiles with the search</a:t>
            </a:r>
          </a:p>
          <a:p>
            <a:pPr>
              <a:buNone/>
              <a:defRPr sz="1950" b="0">
                <a:solidFill>
                  <a:srgbClr val="16382E"/>
                </a:solidFill>
                <a:latin typeface="Arial"/>
                <a:ea typeface="Arial"/>
                <a:cs typeface="Arial"/>
              </a:defRPr>
            </a:pPr>
            <a:r>
              <a:rPr sz="1950" b="0">
                <a:solidFill>
                  <a:srgbClr val="16382E"/>
                </a:solidFill>
                <a:latin typeface="Arial"/>
                <a:ea typeface="Arial"/>
                <a:cs typeface="Arial"/>
              </a:rPr>
              <a:t>criteria of potential buyers.</a:t>
            </a:r>
          </a:p>
          <a:p>
            <a:endParaRPr sz="1950" b="0">
              <a:solidFill>
                <a:srgbClr val="16382E"/>
              </a:solidFill>
              <a:latin typeface="Arial"/>
              <a:ea typeface="Arial"/>
              <a:cs typeface="Arial"/>
            </a:endParaRPr>
          </a:p>
          <a:p>
            <a:pPr>
              <a:buNone/>
              <a:defRPr sz="1950" b="0">
                <a:solidFill>
                  <a:srgbClr val="16382E"/>
                </a:solidFill>
                <a:latin typeface="Arial"/>
                <a:ea typeface="Arial"/>
                <a:cs typeface="Arial"/>
              </a:defRPr>
            </a:pPr>
            <a:r>
              <a:rPr sz="1950" b="0">
                <a:solidFill>
                  <a:srgbClr val="16382E"/>
                </a:solidFill>
                <a:latin typeface="Arial"/>
                <a:ea typeface="Arial"/>
                <a:cs typeface="Arial"/>
              </a:rPr>
              <a:t>When interest aligns, contact the owner</a:t>
            </a:r>
          </a:p>
          <a:p>
            <a:pPr>
              <a:buNone/>
              <a:defRPr sz="1950" b="0">
                <a:solidFill>
                  <a:srgbClr val="16382E"/>
                </a:solidFill>
                <a:latin typeface="Arial"/>
                <a:ea typeface="Arial"/>
                <a:cs typeface="Arial"/>
              </a:defRPr>
            </a:pPr>
            <a:r>
              <a:rPr sz="1950" b="0">
                <a:solidFill>
                  <a:srgbClr val="16382E"/>
                </a:solidFill>
                <a:latin typeface="Arial"/>
                <a:ea typeface="Arial"/>
                <a:cs typeface="Arial"/>
              </a:rPr>
              <a:t>in line with their permission.</a:t>
            </a:r>
          </a:p>
          <a:p>
            <a:endParaRPr sz="1950" b="0">
              <a:solidFill>
                <a:srgbClr val="16382E"/>
              </a:solidFill>
              <a:latin typeface="Arial"/>
              <a:ea typeface="Arial"/>
              <a:cs typeface="Arial"/>
            </a:endParaRPr>
          </a:p>
          <a:p>
            <a:pPr>
              <a:buNone/>
              <a:defRPr sz="1950" b="0">
                <a:solidFill>
                  <a:srgbClr val="16382E"/>
                </a:solidFill>
                <a:latin typeface="Arial"/>
                <a:ea typeface="Arial"/>
                <a:cs typeface="Arial"/>
              </a:defRPr>
            </a:pPr>
            <a:r>
              <a:rPr sz="1950" b="0">
                <a:solidFill>
                  <a:srgbClr val="16382E"/>
                </a:solidFill>
                <a:latin typeface="Arial"/>
                <a:ea typeface="Arial"/>
                <a:cs typeface="Arial"/>
              </a:rPr>
              <a:t>Clarify further details and connect both</a:t>
            </a:r>
          </a:p>
          <a:p>
            <a:pPr>
              <a:buNone/>
              <a:defRPr sz="1950" b="0">
                <a:solidFill>
                  <a:srgbClr val="16382E"/>
                </a:solidFill>
                <a:latin typeface="Arial"/>
                <a:ea typeface="Arial"/>
                <a:cs typeface="Arial"/>
              </a:defRPr>
            </a:pPr>
            <a:r>
              <a:rPr sz="1950" b="0">
                <a:solidFill>
                  <a:srgbClr val="16382E"/>
                </a:solidFill>
                <a:latin typeface="Arial"/>
                <a:ea typeface="Arial"/>
                <a:cs typeface="Arial"/>
              </a:rPr>
              <a:t>sides when there is mutual interest.</a:t>
            </a:r>
          </a:p>
        </p:txBody>
      </p:sp>
      <p:sp>
        <p:nvSpPr>
          <p:cNvPr id="6" name="Rechteck 5">
            <a:extLst>
              <a:ext uri="{FF2B5EF4-FFF2-40B4-BE49-F238E27FC236}">
                <a16:creationId xmlns:a16="http://schemas.microsoft.com/office/drawing/2014/main" id="{C41DC93C-015C-42F3-81E4-BAD6670AE7E8}"/>
              </a:ext>
            </a:extLst>
          </p:cNvPr>
          <p:cNvSpPr>
            <a:spLocks noGrp="1"/>
          </p:cNvSpPr>
          <p:nvPr/>
        </p:nvSpPr>
        <p:spPr>
          <a:xfrm>
            <a:off x="6953250" y="1857375"/>
            <a:ext cx="4572000" cy="809625"/>
          </a:xfrm>
          <a:prstGeom prst="rect">
            <a:avLst/>
          </a:prstGeom>
          <a:noFill/>
          <a:ln w="0">
            <a:noFill/>
          </a:ln>
        </p:spPr>
        <p:txBody>
          <a:bodyPr>
            <a:noAutofit/>
          </a:bodyPr>
          <a:lstStyle/>
          <a:p>
            <a:pPr>
              <a:buNone/>
              <a:defRPr sz="2400" b="1">
                <a:solidFill>
                  <a:srgbClr val="16382E"/>
                </a:solidFill>
                <a:latin typeface="Arial"/>
                <a:ea typeface="Arial"/>
                <a:cs typeface="Arial"/>
              </a:defRPr>
            </a:pPr>
            <a:r>
              <a:rPr sz="2400" b="1">
                <a:solidFill>
                  <a:srgbClr val="16382E"/>
                </a:solidFill>
                <a:latin typeface="Arial"/>
                <a:ea typeface="Arial"/>
                <a:cs typeface="Arial"/>
              </a:rPr>
              <a:t>Proposed first version</a:t>
            </a:r>
          </a:p>
        </p:txBody>
      </p:sp>
      <p:sp>
        <p:nvSpPr>
          <p:cNvPr id="7" name="Rechteck 6">
            <a:extLst>
              <a:ext uri="{FF2B5EF4-FFF2-40B4-BE49-F238E27FC236}">
                <a16:creationId xmlns:a16="http://schemas.microsoft.com/office/drawing/2014/main" id="{8FF1A717-0F91-41FA-818C-7681364DBE86}"/>
              </a:ext>
            </a:extLst>
          </p:cNvPr>
          <p:cNvSpPr>
            <a:spLocks noGrp="1"/>
          </p:cNvSpPr>
          <p:nvPr/>
        </p:nvSpPr>
        <p:spPr>
          <a:xfrm>
            <a:off x="6953250" y="2800350"/>
            <a:ext cx="4619625" cy="3048000"/>
          </a:xfrm>
          <a:prstGeom prst="rect">
            <a:avLst/>
          </a:prstGeom>
          <a:noFill/>
          <a:ln w="0">
            <a:noFill/>
          </a:ln>
        </p:spPr>
        <p:txBody>
          <a:bodyPr>
            <a:noAutofit/>
          </a:bodyPr>
          <a:lstStyle/>
          <a:p>
            <a:pPr>
              <a:buNone/>
              <a:defRPr sz="1950" b="0">
                <a:solidFill>
                  <a:srgbClr val="16382E"/>
                </a:solidFill>
                <a:latin typeface="Arial"/>
                <a:ea typeface="Arial"/>
                <a:cs typeface="Arial"/>
              </a:defRPr>
            </a:pPr>
            <a:r>
              <a:rPr sz="1950" b="0">
                <a:solidFill>
                  <a:srgbClr val="16382E"/>
                </a:solidFill>
                <a:latin typeface="Arial"/>
                <a:ea typeface="Arial"/>
                <a:cs typeface="Arial"/>
              </a:rPr>
              <a:t>Quick Check and results</a:t>
            </a:r>
          </a:p>
          <a:p>
            <a:endParaRPr sz="1950" b="0">
              <a:solidFill>
                <a:srgbClr val="16382E"/>
              </a:solidFill>
              <a:latin typeface="Arial"/>
              <a:ea typeface="Arial"/>
              <a:cs typeface="Arial"/>
            </a:endParaRPr>
          </a:p>
          <a:p>
            <a:pPr>
              <a:buNone/>
              <a:defRPr sz="1950" b="0">
                <a:solidFill>
                  <a:srgbClr val="16382E"/>
                </a:solidFill>
                <a:latin typeface="Arial"/>
                <a:ea typeface="Arial"/>
                <a:cs typeface="Arial"/>
              </a:defRPr>
            </a:pPr>
            <a:r>
              <a:rPr sz="1950" b="0">
                <a:solidFill>
                  <a:srgbClr val="16382E"/>
                </a:solidFill>
                <a:latin typeface="Arial"/>
                <a:ea typeface="Arial"/>
                <a:cs typeface="Arial"/>
              </a:rPr>
              <a:t>Profile database with separate permissions</a:t>
            </a:r>
          </a:p>
          <a:p>
            <a:endParaRPr sz="1950" b="0">
              <a:solidFill>
                <a:srgbClr val="16382E"/>
              </a:solidFill>
              <a:latin typeface="Arial"/>
              <a:ea typeface="Arial"/>
              <a:cs typeface="Arial"/>
            </a:endParaRPr>
          </a:p>
          <a:p>
            <a:pPr>
              <a:buNone/>
              <a:defRPr sz="1950" b="0">
                <a:solidFill>
                  <a:srgbClr val="16382E"/>
                </a:solidFill>
                <a:latin typeface="Arial"/>
                <a:ea typeface="Arial"/>
                <a:cs typeface="Arial"/>
              </a:defRPr>
            </a:pPr>
            <a:r>
              <a:rPr sz="1950" b="0">
                <a:solidFill>
                  <a:srgbClr val="16382E"/>
                </a:solidFill>
                <a:latin typeface="Arial"/>
                <a:ea typeface="Arial"/>
                <a:cs typeface="Arial"/>
              </a:rPr>
              <a:t>Mergero handles buyer matching initially</a:t>
            </a:r>
          </a:p>
          <a:p>
            <a:endParaRPr sz="1950" b="0">
              <a:solidFill>
                <a:srgbClr val="16382E"/>
              </a:solidFill>
              <a:latin typeface="Arial"/>
              <a:ea typeface="Arial"/>
              <a:cs typeface="Arial"/>
            </a:endParaRPr>
          </a:p>
          <a:p>
            <a:pPr>
              <a:buNone/>
              <a:defRPr sz="1950" b="0">
                <a:solidFill>
                  <a:srgbClr val="16382E"/>
                </a:solidFill>
                <a:latin typeface="Arial"/>
                <a:ea typeface="Arial"/>
                <a:cs typeface="Arial"/>
              </a:defRPr>
            </a:pPr>
            <a:r>
              <a:rPr sz="1950" b="0">
                <a:solidFill>
                  <a:srgbClr val="16382E"/>
                </a:solidFill>
                <a:latin typeface="Arial"/>
                <a:ea typeface="Arial"/>
                <a:cs typeface="Arial"/>
              </a:rPr>
              <a:t>Later: AI calls</a:t>
            </a:r>
          </a:p>
        </p:txBody>
      </p:sp>
    </p:spTree>
    <p:extLst>
      <p:ext uri="{BB962C8B-B14F-4D97-AF65-F5344CB8AC3E}">
        <p14:creationId xmlns:p14="http://schemas.microsoft.com/office/powerpoint/2010/main" val="2126450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2EA"/>
        </a:solidFill>
        <a:effectLst/>
      </p:bgPr>
    </p:bg>
    <p:spTree>
      <p:nvGrpSpPr>
        <p:cNvPr id="1" name=""/>
        <p:cNvGrpSpPr/>
        <p:nvPr/>
      </p:nvGrpSpPr>
      <p:grpSpPr>
        <a:xfrm>
          <a:off x="0" y="0"/>
          <a:ext cx="0" cy="0"/>
          <a:chOff x="0" y="0"/>
          <a:chExt cx="0" cy="0"/>
        </a:xfrm>
      </p:grpSpPr>
      <p:sp>
        <p:nvSpPr>
          <p:cNvPr id="13" name="Rechteck 12">
            <a:extLst>
              <a:ext uri="{FF2B5EF4-FFF2-40B4-BE49-F238E27FC236}">
                <a16:creationId xmlns:a16="http://schemas.microsoft.com/office/drawing/2014/main" id="{59131610-64EA-474F-BFCC-899D23F44415}"/>
              </a:ext>
            </a:extLst>
          </p:cNvPr>
          <p:cNvSpPr>
            <a:spLocks noGrp="1"/>
          </p:cNvSpPr>
          <p:nvPr/>
        </p:nvSpPr>
        <p:spPr>
          <a:xfrm>
            <a:off x="685800" y="523875"/>
            <a:ext cx="10820400" cy="1047750"/>
          </a:xfrm>
          <a:prstGeom prst="rect">
            <a:avLst/>
          </a:prstGeom>
          <a:noFill/>
          <a:ln w="0">
            <a:noFill/>
          </a:ln>
        </p:spPr>
        <p:txBody>
          <a:bodyPr>
            <a:noAutofit/>
          </a:bodyPr>
          <a:lstStyle/>
          <a:p>
            <a:pPr>
              <a:defRPr sz="3450" b="1">
                <a:solidFill>
                  <a:srgbClr val="16382E"/>
                </a:solidFill>
                <a:latin typeface="Arial"/>
                <a:ea typeface="Arial"/>
                <a:cs typeface="Arial"/>
              </a:defRPr>
            </a:pPr>
            <a:r>
              <a:rPr sz="3450" b="1">
                <a:solidFill>
                  <a:srgbClr val="16382E"/>
                </a:solidFill>
                <a:latin typeface="Arial"/>
                <a:ea typeface="Arial"/>
                <a:cs typeface="Arial"/>
              </a:rPr>
              <a:t>Reaching business owners</a:t>
            </a:r>
          </a:p>
        </p:txBody>
      </p:sp>
      <p:sp>
        <p:nvSpPr>
          <p:cNvPr id="2" name="Rechteck 1">
            <a:extLst>
              <a:ext uri="{FF2B5EF4-FFF2-40B4-BE49-F238E27FC236}">
                <a16:creationId xmlns:a16="http://schemas.microsoft.com/office/drawing/2014/main" id="{9623AD04-AF83-4753-852E-0EE681C2A975}"/>
              </a:ext>
            </a:extLst>
          </p:cNvPr>
          <p:cNvSpPr>
            <a:spLocks noGrp="1"/>
          </p:cNvSpPr>
          <p:nvPr/>
        </p:nvSpPr>
        <p:spPr>
          <a:xfrm>
            <a:off x="685800" y="6362700"/>
            <a:ext cx="1905000" cy="238125"/>
          </a:xfrm>
          <a:prstGeom prst="rect">
            <a:avLst/>
          </a:prstGeom>
          <a:noFill/>
          <a:ln w="0">
            <a:noFill/>
          </a:ln>
        </p:spPr>
        <p:txBody>
          <a:bodyPr>
            <a:noAutofit/>
          </a:bodyPr>
          <a:lstStyle/>
          <a:p>
            <a:pPr>
              <a:defRPr sz="1200" b="1">
                <a:solidFill>
                  <a:srgbClr val="536B60"/>
                </a:solidFill>
                <a:latin typeface="Arial"/>
                <a:ea typeface="Arial"/>
                <a:cs typeface="Arial"/>
              </a:defRPr>
            </a:pPr>
            <a:r>
              <a:rPr sz="1200" b="1">
                <a:solidFill>
                  <a:srgbClr val="536B60"/>
                </a:solidFill>
                <a:latin typeface="Arial"/>
                <a:ea typeface="Arial"/>
                <a:cs typeface="Arial"/>
              </a:rPr>
              <a:t>MERGERO</a:t>
            </a:r>
          </a:p>
        </p:txBody>
      </p:sp>
      <p:sp>
        <p:nvSpPr>
          <p:cNvPr id="3" name="Rechteck 2">
            <a:extLst>
              <a:ext uri="{FF2B5EF4-FFF2-40B4-BE49-F238E27FC236}">
                <a16:creationId xmlns:a16="http://schemas.microsoft.com/office/drawing/2014/main" id="{CBA9AFAA-DF43-43CC-BC64-F4BE4469AA9D}"/>
              </a:ext>
            </a:extLst>
          </p:cNvPr>
          <p:cNvSpPr>
            <a:spLocks noGrp="1"/>
          </p:cNvSpPr>
          <p:nvPr/>
        </p:nvSpPr>
        <p:spPr>
          <a:xfrm>
            <a:off x="10953750" y="6324600"/>
            <a:ext cx="571500" cy="266700"/>
          </a:xfrm>
          <a:prstGeom prst="rect">
            <a:avLst/>
          </a:prstGeom>
          <a:noFill/>
          <a:ln w="0">
            <a:noFill/>
          </a:ln>
        </p:spPr>
        <p:txBody>
          <a:bodyPr>
            <a:noAutofit/>
          </a:bodyPr>
          <a:lstStyle/>
          <a:p>
            <a:pPr>
              <a:defRPr sz="1350" b="0">
                <a:solidFill>
                  <a:srgbClr val="536B60"/>
                </a:solidFill>
                <a:latin typeface="Arial"/>
                <a:ea typeface="Arial"/>
                <a:cs typeface="Arial"/>
              </a:defRPr>
            </a:pPr>
            <a:r>
              <a:rPr sz="1350" b="0">
                <a:solidFill>
                  <a:srgbClr val="536B60"/>
                </a:solidFill>
                <a:latin typeface="Arial"/>
                <a:ea typeface="Arial"/>
                <a:cs typeface="Arial"/>
              </a:rPr>
              <a:t>09</a:t>
            </a:r>
          </a:p>
        </p:txBody>
      </p:sp>
      <p:sp>
        <p:nvSpPr>
          <p:cNvPr id="4" name="Rechteck 3">
            <a:extLst>
              <a:ext uri="{FF2B5EF4-FFF2-40B4-BE49-F238E27FC236}">
                <a16:creationId xmlns:a16="http://schemas.microsoft.com/office/drawing/2014/main" id="{0DE3F272-893A-4EFF-910A-70108A1BC031}"/>
              </a:ext>
            </a:extLst>
          </p:cNvPr>
          <p:cNvSpPr>
            <a:spLocks noGrp="1"/>
          </p:cNvSpPr>
          <p:nvPr/>
        </p:nvSpPr>
        <p:spPr>
          <a:xfrm>
            <a:off x="685800" y="1838325"/>
            <a:ext cx="3190875" cy="609600"/>
          </a:xfrm>
          <a:prstGeom prst="rect">
            <a:avLst/>
          </a:prstGeom>
          <a:noFill/>
          <a:ln w="0">
            <a:noFill/>
          </a:ln>
        </p:spPr>
        <p:txBody>
          <a:bodyPr>
            <a:noAutofit/>
          </a:bodyPr>
          <a:lstStyle/>
          <a:p>
            <a:pPr>
              <a:defRPr sz="3900" b="0">
                <a:solidFill>
                  <a:srgbClr val="536B60"/>
                </a:solidFill>
                <a:latin typeface="Arial"/>
                <a:ea typeface="Arial"/>
                <a:cs typeface="Arial"/>
              </a:defRPr>
            </a:pPr>
            <a:r>
              <a:rPr sz="3900" b="0">
                <a:solidFill>
                  <a:srgbClr val="536B60"/>
                </a:solidFill>
                <a:latin typeface="Arial"/>
                <a:ea typeface="Arial"/>
                <a:cs typeface="Arial"/>
              </a:rPr>
              <a:t>01</a:t>
            </a:r>
          </a:p>
        </p:txBody>
      </p:sp>
      <p:sp>
        <p:nvSpPr>
          <p:cNvPr id="5" name="Rechteck 4">
            <a:extLst>
              <a:ext uri="{FF2B5EF4-FFF2-40B4-BE49-F238E27FC236}">
                <a16:creationId xmlns:a16="http://schemas.microsoft.com/office/drawing/2014/main" id="{2DB154CC-6EBB-4ED7-BCE7-C9A0F74C6B1F}"/>
              </a:ext>
            </a:extLst>
          </p:cNvPr>
          <p:cNvSpPr>
            <a:spLocks noGrp="1"/>
          </p:cNvSpPr>
          <p:nvPr/>
        </p:nvSpPr>
        <p:spPr>
          <a:xfrm>
            <a:off x="685800" y="2705100"/>
            <a:ext cx="3190875" cy="819150"/>
          </a:xfrm>
          <a:prstGeom prst="rect">
            <a:avLst/>
          </a:prstGeom>
          <a:noFill/>
          <a:ln w="0">
            <a:noFill/>
          </a:ln>
        </p:spPr>
        <p:txBody>
          <a:bodyPr>
            <a:noAutofit/>
          </a:bodyPr>
          <a:lstStyle/>
          <a:p>
            <a:pPr>
              <a:defRPr sz="2175" b="1">
                <a:solidFill>
                  <a:srgbClr val="16382E"/>
                </a:solidFill>
                <a:latin typeface="Arial"/>
                <a:ea typeface="Arial"/>
                <a:cs typeface="Arial"/>
              </a:defRPr>
            </a:pPr>
            <a:r>
              <a:rPr sz="2175" b="1">
                <a:solidFill>
                  <a:srgbClr val="16382E"/>
                </a:solidFill>
                <a:latin typeface="Arial"/>
                <a:ea typeface="Arial"/>
                <a:cs typeface="Arial"/>
              </a:rPr>
              <a:t>Trusted introductions</a:t>
            </a:r>
          </a:p>
        </p:txBody>
      </p:sp>
      <p:sp>
        <p:nvSpPr>
          <p:cNvPr id="6" name="Rechteck 5">
            <a:extLst>
              <a:ext uri="{FF2B5EF4-FFF2-40B4-BE49-F238E27FC236}">
                <a16:creationId xmlns:a16="http://schemas.microsoft.com/office/drawing/2014/main" id="{071850B6-C641-4334-B3E6-5F22EEDAA044}"/>
              </a:ext>
            </a:extLst>
          </p:cNvPr>
          <p:cNvSpPr>
            <a:spLocks noGrp="1"/>
          </p:cNvSpPr>
          <p:nvPr/>
        </p:nvSpPr>
        <p:spPr>
          <a:xfrm>
            <a:off x="685800" y="3752850"/>
            <a:ext cx="3190875" cy="1981200"/>
          </a:xfrm>
          <a:prstGeom prst="rect">
            <a:avLst/>
          </a:prstGeom>
          <a:noFill/>
          <a:ln w="0">
            <a:noFill/>
          </a:ln>
        </p:spPr>
        <p:txBody>
          <a:bodyPr>
            <a:noAutofit/>
          </a:bodyPr>
          <a:lstStyle/>
          <a:p>
            <a:pPr>
              <a:defRPr sz="1875" b="0">
                <a:solidFill>
                  <a:srgbClr val="16382E"/>
                </a:solidFill>
                <a:latin typeface="Arial"/>
                <a:ea typeface="Arial"/>
                <a:cs typeface="Arial"/>
              </a:defRPr>
            </a:pPr>
            <a:r>
              <a:rPr sz="1875" b="0">
                <a:solidFill>
                  <a:srgbClr val="16382E"/>
                </a:solidFill>
                <a:latin typeface="Arial"/>
                <a:ea typeface="Arial"/>
                <a:cs typeface="Arial"/>
              </a:rPr>
              <a:t>Accountants, advisers and entrepreneur associations share the check with owners they already know.</a:t>
            </a:r>
          </a:p>
        </p:txBody>
      </p:sp>
      <p:sp>
        <p:nvSpPr>
          <p:cNvPr id="7" name="Rechteck 6">
            <a:extLst>
              <a:ext uri="{FF2B5EF4-FFF2-40B4-BE49-F238E27FC236}">
                <a16:creationId xmlns:a16="http://schemas.microsoft.com/office/drawing/2014/main" id="{F46C579E-3F98-45A6-BB60-94E0F685676C}"/>
              </a:ext>
            </a:extLst>
          </p:cNvPr>
          <p:cNvSpPr>
            <a:spLocks noGrp="1"/>
          </p:cNvSpPr>
          <p:nvPr/>
        </p:nvSpPr>
        <p:spPr>
          <a:xfrm>
            <a:off x="4400550" y="1838325"/>
            <a:ext cx="3190875" cy="609600"/>
          </a:xfrm>
          <a:prstGeom prst="rect">
            <a:avLst/>
          </a:prstGeom>
          <a:noFill/>
          <a:ln w="0">
            <a:noFill/>
          </a:ln>
        </p:spPr>
        <p:txBody>
          <a:bodyPr>
            <a:noAutofit/>
          </a:bodyPr>
          <a:lstStyle/>
          <a:p>
            <a:pPr>
              <a:defRPr sz="3900" b="0">
                <a:solidFill>
                  <a:srgbClr val="536B60"/>
                </a:solidFill>
                <a:latin typeface="Arial"/>
                <a:ea typeface="Arial"/>
                <a:cs typeface="Arial"/>
              </a:defRPr>
            </a:pPr>
            <a:r>
              <a:rPr sz="3900" b="0">
                <a:solidFill>
                  <a:srgbClr val="536B60"/>
                </a:solidFill>
                <a:latin typeface="Arial"/>
                <a:ea typeface="Arial"/>
                <a:cs typeface="Arial"/>
              </a:rPr>
              <a:t>02</a:t>
            </a:r>
          </a:p>
        </p:txBody>
      </p:sp>
      <p:sp>
        <p:nvSpPr>
          <p:cNvPr id="8" name="Rechteck 7">
            <a:extLst>
              <a:ext uri="{FF2B5EF4-FFF2-40B4-BE49-F238E27FC236}">
                <a16:creationId xmlns:a16="http://schemas.microsoft.com/office/drawing/2014/main" id="{342DFC2E-D73B-4808-87E0-937477177E62}"/>
              </a:ext>
            </a:extLst>
          </p:cNvPr>
          <p:cNvSpPr>
            <a:spLocks noGrp="1"/>
          </p:cNvSpPr>
          <p:nvPr/>
        </p:nvSpPr>
        <p:spPr>
          <a:xfrm>
            <a:off x="4400550" y="2705100"/>
            <a:ext cx="3190875" cy="819150"/>
          </a:xfrm>
          <a:prstGeom prst="rect">
            <a:avLst/>
          </a:prstGeom>
          <a:noFill/>
          <a:ln w="0">
            <a:noFill/>
          </a:ln>
        </p:spPr>
        <p:txBody>
          <a:bodyPr>
            <a:noAutofit/>
          </a:bodyPr>
          <a:lstStyle/>
          <a:p>
            <a:pPr>
              <a:defRPr sz="2175" b="1">
                <a:solidFill>
                  <a:srgbClr val="16382E"/>
                </a:solidFill>
                <a:latin typeface="Arial"/>
                <a:ea typeface="Arial"/>
                <a:cs typeface="Arial"/>
              </a:defRPr>
            </a:pPr>
            <a:r>
              <a:rPr sz="2175" b="1">
                <a:solidFill>
                  <a:srgbClr val="16382E"/>
                </a:solidFill>
                <a:latin typeface="Arial"/>
                <a:ea typeface="Arial"/>
                <a:cs typeface="Arial"/>
              </a:rPr>
              <a:t>Focused research</a:t>
            </a:r>
          </a:p>
        </p:txBody>
      </p:sp>
      <p:sp>
        <p:nvSpPr>
          <p:cNvPr id="9" name="Rechteck 8">
            <a:extLst>
              <a:ext uri="{FF2B5EF4-FFF2-40B4-BE49-F238E27FC236}">
                <a16:creationId xmlns:a16="http://schemas.microsoft.com/office/drawing/2014/main" id="{8F5F6F52-14B3-4E09-8F2A-15FB5A17225F}"/>
              </a:ext>
            </a:extLst>
          </p:cNvPr>
          <p:cNvSpPr>
            <a:spLocks noGrp="1"/>
          </p:cNvSpPr>
          <p:nvPr/>
        </p:nvSpPr>
        <p:spPr>
          <a:xfrm>
            <a:off x="4400550" y="3752850"/>
            <a:ext cx="3190875" cy="1981200"/>
          </a:xfrm>
          <a:prstGeom prst="rect">
            <a:avLst/>
          </a:prstGeom>
          <a:noFill/>
          <a:ln w="0">
            <a:noFill/>
          </a:ln>
        </p:spPr>
        <p:txBody>
          <a:bodyPr>
            <a:noAutofit/>
          </a:bodyPr>
          <a:lstStyle/>
          <a:p>
            <a:pPr>
              <a:defRPr sz="1875" b="0">
                <a:solidFill>
                  <a:srgbClr val="16382E"/>
                </a:solidFill>
                <a:latin typeface="Arial"/>
                <a:ea typeface="Arial"/>
                <a:cs typeface="Arial"/>
              </a:defRPr>
            </a:pPr>
            <a:r>
              <a:rPr sz="1875" b="0" dirty="0">
                <a:solidFill>
                  <a:srgbClr val="16382E"/>
                </a:solidFill>
                <a:latin typeface="Arial"/>
                <a:ea typeface="Arial"/>
                <a:cs typeface="Arial"/>
              </a:rPr>
              <a:t>Choose one sector and region. Use YTJ and PRH, then verify owner roles on company websites.</a:t>
            </a:r>
          </a:p>
        </p:txBody>
      </p:sp>
      <p:sp>
        <p:nvSpPr>
          <p:cNvPr id="10" name="Rechteck 9">
            <a:extLst>
              <a:ext uri="{FF2B5EF4-FFF2-40B4-BE49-F238E27FC236}">
                <a16:creationId xmlns:a16="http://schemas.microsoft.com/office/drawing/2014/main" id="{6743FB8D-EA2A-4F1C-8125-5FD91E8E0445}"/>
              </a:ext>
            </a:extLst>
          </p:cNvPr>
          <p:cNvSpPr>
            <a:spLocks noGrp="1"/>
          </p:cNvSpPr>
          <p:nvPr/>
        </p:nvSpPr>
        <p:spPr>
          <a:xfrm>
            <a:off x="8115300" y="1838325"/>
            <a:ext cx="3190875" cy="609600"/>
          </a:xfrm>
          <a:prstGeom prst="rect">
            <a:avLst/>
          </a:prstGeom>
          <a:noFill/>
          <a:ln w="0">
            <a:noFill/>
          </a:ln>
        </p:spPr>
        <p:txBody>
          <a:bodyPr>
            <a:noAutofit/>
          </a:bodyPr>
          <a:lstStyle/>
          <a:p>
            <a:pPr>
              <a:defRPr sz="3900" b="0">
                <a:solidFill>
                  <a:srgbClr val="536B60"/>
                </a:solidFill>
                <a:latin typeface="Arial"/>
                <a:ea typeface="Arial"/>
                <a:cs typeface="Arial"/>
              </a:defRPr>
            </a:pPr>
            <a:r>
              <a:rPr sz="3900" b="0">
                <a:solidFill>
                  <a:srgbClr val="536B60"/>
                </a:solidFill>
                <a:latin typeface="Arial"/>
                <a:ea typeface="Arial"/>
                <a:cs typeface="Arial"/>
              </a:rPr>
              <a:t>03</a:t>
            </a:r>
          </a:p>
        </p:txBody>
      </p:sp>
      <p:sp>
        <p:nvSpPr>
          <p:cNvPr id="11" name="Rechteck 10">
            <a:extLst>
              <a:ext uri="{FF2B5EF4-FFF2-40B4-BE49-F238E27FC236}">
                <a16:creationId xmlns:a16="http://schemas.microsoft.com/office/drawing/2014/main" id="{58C1618D-9C43-4AB1-A2E2-01BBF40E6197}"/>
              </a:ext>
            </a:extLst>
          </p:cNvPr>
          <p:cNvSpPr>
            <a:spLocks noGrp="1"/>
          </p:cNvSpPr>
          <p:nvPr/>
        </p:nvSpPr>
        <p:spPr>
          <a:xfrm>
            <a:off x="8115300" y="2705100"/>
            <a:ext cx="3190875" cy="819150"/>
          </a:xfrm>
          <a:prstGeom prst="rect">
            <a:avLst/>
          </a:prstGeom>
          <a:noFill/>
          <a:ln w="0">
            <a:noFill/>
          </a:ln>
        </p:spPr>
        <p:txBody>
          <a:bodyPr>
            <a:noAutofit/>
          </a:bodyPr>
          <a:lstStyle/>
          <a:p>
            <a:pPr>
              <a:defRPr sz="2175" b="1">
                <a:solidFill>
                  <a:srgbClr val="16382E"/>
                </a:solidFill>
                <a:latin typeface="Arial"/>
                <a:ea typeface="Arial"/>
                <a:cs typeface="Arial"/>
              </a:defRPr>
            </a:pPr>
            <a:r>
              <a:rPr sz="2175" b="1">
                <a:solidFill>
                  <a:srgbClr val="16382E"/>
                </a:solidFill>
                <a:latin typeface="Arial"/>
                <a:ea typeface="Arial"/>
                <a:cs typeface="Arial"/>
              </a:rPr>
              <a:t>Succession channels</a:t>
            </a:r>
          </a:p>
        </p:txBody>
      </p:sp>
      <p:sp>
        <p:nvSpPr>
          <p:cNvPr id="12" name="Rechteck 11">
            <a:extLst>
              <a:ext uri="{FF2B5EF4-FFF2-40B4-BE49-F238E27FC236}">
                <a16:creationId xmlns:a16="http://schemas.microsoft.com/office/drawing/2014/main" id="{0D09E5ED-6E89-46B9-827D-A1CBBFCE7CC7}"/>
              </a:ext>
            </a:extLst>
          </p:cNvPr>
          <p:cNvSpPr>
            <a:spLocks noGrp="1"/>
          </p:cNvSpPr>
          <p:nvPr/>
        </p:nvSpPr>
        <p:spPr>
          <a:xfrm>
            <a:off x="8115300" y="3752850"/>
            <a:ext cx="3190875" cy="1981200"/>
          </a:xfrm>
          <a:prstGeom prst="rect">
            <a:avLst/>
          </a:prstGeom>
          <a:noFill/>
          <a:ln w="0">
            <a:noFill/>
          </a:ln>
        </p:spPr>
        <p:txBody>
          <a:bodyPr>
            <a:noAutofit/>
          </a:bodyPr>
          <a:lstStyle/>
          <a:p>
            <a:pPr>
              <a:defRPr sz="1875" b="0">
                <a:solidFill>
                  <a:srgbClr val="16382E"/>
                </a:solidFill>
                <a:latin typeface="Arial"/>
                <a:ea typeface="Arial"/>
                <a:cs typeface="Arial"/>
              </a:defRPr>
            </a:pPr>
            <a:r>
              <a:rPr sz="1875" b="0">
                <a:solidFill>
                  <a:srgbClr val="16382E"/>
                </a:solidFill>
                <a:latin typeface="Arial"/>
                <a:ea typeface="Arial"/>
                <a:cs typeface="Arial"/>
              </a:rPr>
              <a:t>Explore partnerships with business-sale platforms and succession events where owners seek guidance.</a:t>
            </a:r>
          </a:p>
        </p:txBody>
      </p:sp>
    </p:spTree>
    <p:extLst>
      <p:ext uri="{BB962C8B-B14F-4D97-AF65-F5344CB8AC3E}">
        <p14:creationId xmlns:p14="http://schemas.microsoft.com/office/powerpoint/2010/main" val="898258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02F2A"/>
        </a:solidFill>
        <a:effectLst/>
      </p:bgPr>
    </p:bg>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4D228085-75B4-453C-8232-0B9927B87D9D}"/>
              </a:ext>
            </a:extLst>
          </p:cNvPr>
          <p:cNvSpPr>
            <a:spLocks noGrp="1"/>
          </p:cNvSpPr>
          <p:nvPr/>
        </p:nvSpPr>
        <p:spPr>
          <a:xfrm>
            <a:off x="685800" y="523875"/>
            <a:ext cx="10820400" cy="1047750"/>
          </a:xfrm>
          <a:prstGeom prst="rect">
            <a:avLst/>
          </a:prstGeom>
          <a:noFill/>
          <a:ln w="0">
            <a:noFill/>
          </a:ln>
        </p:spPr>
        <p:txBody>
          <a:bodyPr>
            <a:noAutofit/>
          </a:bodyPr>
          <a:lstStyle/>
          <a:p>
            <a:pPr>
              <a:defRPr sz="3450" b="1">
                <a:solidFill>
                  <a:srgbClr val="F4F2EA"/>
                </a:solidFill>
                <a:latin typeface="Arial"/>
                <a:ea typeface="Arial"/>
                <a:cs typeface="Arial"/>
              </a:defRPr>
            </a:pPr>
            <a:r>
              <a:rPr sz="3450" b="1">
                <a:solidFill>
                  <a:srgbClr val="F4F2EA"/>
                </a:solidFill>
                <a:latin typeface="Arial"/>
                <a:ea typeface="Arial"/>
                <a:cs typeface="Arial"/>
              </a:rPr>
              <a:t>A focused first outreach pilot</a:t>
            </a:r>
          </a:p>
        </p:txBody>
      </p:sp>
      <p:sp>
        <p:nvSpPr>
          <p:cNvPr id="2" name="Rechteck 1">
            <a:extLst>
              <a:ext uri="{FF2B5EF4-FFF2-40B4-BE49-F238E27FC236}">
                <a16:creationId xmlns:a16="http://schemas.microsoft.com/office/drawing/2014/main" id="{F2131BED-EC43-4024-B08E-00381D2EFD93}"/>
              </a:ext>
            </a:extLst>
          </p:cNvPr>
          <p:cNvSpPr>
            <a:spLocks noGrp="1"/>
          </p:cNvSpPr>
          <p:nvPr/>
        </p:nvSpPr>
        <p:spPr>
          <a:xfrm>
            <a:off x="685800" y="6362700"/>
            <a:ext cx="1905000" cy="238125"/>
          </a:xfrm>
          <a:prstGeom prst="rect">
            <a:avLst/>
          </a:prstGeom>
          <a:noFill/>
          <a:ln w="0">
            <a:noFill/>
          </a:ln>
        </p:spPr>
        <p:txBody>
          <a:bodyPr>
            <a:noAutofit/>
          </a:bodyPr>
          <a:lstStyle/>
          <a:p>
            <a:pPr>
              <a:defRPr sz="1200" b="1">
                <a:solidFill>
                  <a:srgbClr val="B9DEC7"/>
                </a:solidFill>
                <a:latin typeface="Arial"/>
                <a:ea typeface="Arial"/>
                <a:cs typeface="Arial"/>
              </a:defRPr>
            </a:pPr>
            <a:r>
              <a:rPr sz="1200" b="1">
                <a:solidFill>
                  <a:srgbClr val="B9DEC7"/>
                </a:solidFill>
                <a:latin typeface="Arial"/>
                <a:ea typeface="Arial"/>
                <a:cs typeface="Arial"/>
              </a:rPr>
              <a:t>MERGERO</a:t>
            </a:r>
          </a:p>
        </p:txBody>
      </p:sp>
      <p:sp>
        <p:nvSpPr>
          <p:cNvPr id="3" name="Rechteck 2">
            <a:extLst>
              <a:ext uri="{FF2B5EF4-FFF2-40B4-BE49-F238E27FC236}">
                <a16:creationId xmlns:a16="http://schemas.microsoft.com/office/drawing/2014/main" id="{C36EEE95-D5A5-436D-94A4-01D9BBBDB79A}"/>
              </a:ext>
            </a:extLst>
          </p:cNvPr>
          <p:cNvSpPr>
            <a:spLocks noGrp="1"/>
          </p:cNvSpPr>
          <p:nvPr/>
        </p:nvSpPr>
        <p:spPr>
          <a:xfrm>
            <a:off x="10953750" y="6324600"/>
            <a:ext cx="571500" cy="266700"/>
          </a:xfrm>
          <a:prstGeom prst="rect">
            <a:avLst/>
          </a:prstGeom>
          <a:noFill/>
          <a:ln w="0">
            <a:noFill/>
          </a:ln>
        </p:spPr>
        <p:txBody>
          <a:bodyPr>
            <a:noAutofit/>
          </a:bodyPr>
          <a:lstStyle/>
          <a:p>
            <a:pPr>
              <a:defRPr sz="1350" b="0">
                <a:solidFill>
                  <a:srgbClr val="B9DEC7"/>
                </a:solidFill>
                <a:latin typeface="Arial"/>
                <a:ea typeface="Arial"/>
                <a:cs typeface="Arial"/>
              </a:defRPr>
            </a:pPr>
            <a:r>
              <a:rPr sz="1350" b="0">
                <a:solidFill>
                  <a:srgbClr val="B9DEC7"/>
                </a:solidFill>
                <a:latin typeface="Arial"/>
                <a:ea typeface="Arial"/>
                <a:cs typeface="Arial"/>
              </a:rPr>
              <a:t>10</a:t>
            </a:r>
          </a:p>
        </p:txBody>
      </p:sp>
      <p:sp>
        <p:nvSpPr>
          <p:cNvPr id="4" name="Rechteck 3">
            <a:extLst>
              <a:ext uri="{FF2B5EF4-FFF2-40B4-BE49-F238E27FC236}">
                <a16:creationId xmlns:a16="http://schemas.microsoft.com/office/drawing/2014/main" id="{2B85C9F1-21C7-4F79-9A53-5226939C3B3A}"/>
              </a:ext>
            </a:extLst>
          </p:cNvPr>
          <p:cNvSpPr>
            <a:spLocks noGrp="1"/>
          </p:cNvSpPr>
          <p:nvPr/>
        </p:nvSpPr>
        <p:spPr>
          <a:xfrm>
            <a:off x="685800" y="1952625"/>
            <a:ext cx="5286375" cy="1428750"/>
          </a:xfrm>
          <a:prstGeom prst="rect">
            <a:avLst/>
          </a:prstGeom>
          <a:noFill/>
          <a:ln w="0">
            <a:noFill/>
          </a:ln>
        </p:spPr>
        <p:txBody>
          <a:bodyPr>
            <a:noAutofit/>
          </a:bodyPr>
          <a:lstStyle/>
          <a:p>
            <a:pPr>
              <a:defRPr sz="3450" b="1">
                <a:solidFill>
                  <a:srgbClr val="B9DEC7"/>
                </a:solidFill>
                <a:latin typeface="Arial"/>
                <a:ea typeface="Arial"/>
                <a:cs typeface="Arial"/>
              </a:defRPr>
            </a:pPr>
            <a:r>
              <a:rPr sz="3450" b="1">
                <a:solidFill>
                  <a:srgbClr val="B9DEC7"/>
                </a:solidFill>
                <a:latin typeface="Arial"/>
                <a:ea typeface="Arial"/>
                <a:cs typeface="Arial"/>
              </a:rPr>
              <a:t>30 companies</a:t>
            </a:r>
          </a:p>
          <a:p>
            <a:pPr>
              <a:defRPr sz="3450" b="1">
                <a:solidFill>
                  <a:srgbClr val="B9DEC7"/>
                </a:solidFill>
                <a:latin typeface="Arial"/>
                <a:ea typeface="Arial"/>
                <a:cs typeface="Arial"/>
              </a:defRPr>
            </a:pPr>
            <a:r>
              <a:rPr sz="3450" b="1">
                <a:solidFill>
                  <a:srgbClr val="B9DEC7"/>
                </a:solidFill>
                <a:latin typeface="Arial"/>
                <a:ea typeface="Arial"/>
                <a:cs typeface="Arial"/>
              </a:rPr>
              <a:t>3 potential partners</a:t>
            </a:r>
          </a:p>
        </p:txBody>
      </p:sp>
      <p:sp>
        <p:nvSpPr>
          <p:cNvPr id="5" name="Rechteck 4">
            <a:extLst>
              <a:ext uri="{FF2B5EF4-FFF2-40B4-BE49-F238E27FC236}">
                <a16:creationId xmlns:a16="http://schemas.microsoft.com/office/drawing/2014/main" id="{7F6D39DD-1FB5-456E-BC73-E17C7173A584}"/>
              </a:ext>
            </a:extLst>
          </p:cNvPr>
          <p:cNvSpPr>
            <a:spLocks noGrp="1"/>
          </p:cNvSpPr>
          <p:nvPr/>
        </p:nvSpPr>
        <p:spPr>
          <a:xfrm>
            <a:off x="685800" y="3743325"/>
            <a:ext cx="5381625" cy="1809750"/>
          </a:xfrm>
          <a:prstGeom prst="rect">
            <a:avLst/>
          </a:prstGeom>
          <a:noFill/>
          <a:ln w="0">
            <a:noFill/>
          </a:ln>
        </p:spPr>
        <p:txBody>
          <a:bodyPr>
            <a:noAutofit/>
          </a:bodyPr>
          <a:lstStyle/>
          <a:p>
            <a:pPr>
              <a:defRPr sz="2025" b="0">
                <a:solidFill>
                  <a:srgbClr val="F4F2EA"/>
                </a:solidFill>
                <a:latin typeface="Arial"/>
                <a:ea typeface="Arial"/>
                <a:cs typeface="Arial"/>
              </a:defRPr>
            </a:pPr>
            <a:r>
              <a:rPr sz="2025" b="0" dirty="0">
                <a:solidFill>
                  <a:srgbClr val="F4F2EA"/>
                </a:solidFill>
                <a:latin typeface="Arial"/>
                <a:ea typeface="Arial"/>
                <a:cs typeface="Arial"/>
              </a:rPr>
              <a:t>One sector in one region.</a:t>
            </a:r>
          </a:p>
          <a:p>
            <a:pPr>
              <a:defRPr sz="2025" b="0">
                <a:solidFill>
                  <a:srgbClr val="F4F2EA"/>
                </a:solidFill>
                <a:latin typeface="Arial"/>
                <a:ea typeface="Arial"/>
                <a:cs typeface="Arial"/>
              </a:defRPr>
            </a:pPr>
            <a:r>
              <a:rPr sz="2025" b="0" dirty="0">
                <a:solidFill>
                  <a:srgbClr val="F4F2EA"/>
                </a:solidFill>
                <a:latin typeface="Arial"/>
                <a:ea typeface="Arial"/>
                <a:cs typeface="Arial"/>
              </a:rPr>
              <a:t>Record the owner, the evidence,</a:t>
            </a:r>
          </a:p>
          <a:p>
            <a:pPr>
              <a:defRPr sz="2025" b="0">
                <a:solidFill>
                  <a:srgbClr val="F4F2EA"/>
                </a:solidFill>
                <a:latin typeface="Arial"/>
                <a:ea typeface="Arial"/>
                <a:cs typeface="Arial"/>
              </a:defRPr>
            </a:pPr>
            <a:r>
              <a:rPr sz="2025" b="0" dirty="0">
                <a:solidFill>
                  <a:srgbClr val="F4F2EA"/>
                </a:solidFill>
                <a:latin typeface="Arial"/>
                <a:ea typeface="Arial"/>
                <a:cs typeface="Arial"/>
              </a:rPr>
              <a:t>the reason for fit and the</a:t>
            </a:r>
          </a:p>
          <a:p>
            <a:pPr>
              <a:defRPr sz="2025" b="0">
                <a:solidFill>
                  <a:srgbClr val="F4F2EA"/>
                </a:solidFill>
                <a:latin typeface="Arial"/>
                <a:ea typeface="Arial"/>
                <a:cs typeface="Arial"/>
              </a:defRPr>
            </a:pPr>
            <a:r>
              <a:rPr sz="2025" b="0" dirty="0">
                <a:solidFill>
                  <a:srgbClr val="F4F2EA"/>
                </a:solidFill>
                <a:latin typeface="Arial"/>
                <a:ea typeface="Arial"/>
                <a:cs typeface="Arial"/>
              </a:rPr>
              <a:t>most relevant introduction route.</a:t>
            </a:r>
          </a:p>
        </p:txBody>
      </p:sp>
      <p:sp>
        <p:nvSpPr>
          <p:cNvPr id="6" name="Rechteck 5">
            <a:extLst>
              <a:ext uri="{FF2B5EF4-FFF2-40B4-BE49-F238E27FC236}">
                <a16:creationId xmlns:a16="http://schemas.microsoft.com/office/drawing/2014/main" id="{CDD64D83-CC45-4BE6-B756-DB19A77EEC0E}"/>
              </a:ext>
            </a:extLst>
          </p:cNvPr>
          <p:cNvSpPr>
            <a:spLocks noGrp="1"/>
          </p:cNvSpPr>
          <p:nvPr/>
        </p:nvSpPr>
        <p:spPr>
          <a:xfrm>
            <a:off x="6667500" y="1981200"/>
            <a:ext cx="4762500" cy="790575"/>
          </a:xfrm>
          <a:prstGeom prst="rect">
            <a:avLst/>
          </a:prstGeom>
          <a:noFill/>
          <a:ln w="0">
            <a:noFill/>
          </a:ln>
        </p:spPr>
        <p:txBody>
          <a:bodyPr>
            <a:noAutofit/>
          </a:bodyPr>
          <a:lstStyle/>
          <a:p>
            <a:pPr>
              <a:defRPr sz="2250" b="1">
                <a:solidFill>
                  <a:srgbClr val="B9DEC7"/>
                </a:solidFill>
                <a:latin typeface="Arial"/>
                <a:ea typeface="Arial"/>
                <a:cs typeface="Arial"/>
              </a:defRPr>
            </a:pPr>
            <a:r>
              <a:rPr sz="2250" b="1">
                <a:solidFill>
                  <a:srgbClr val="B9DEC7"/>
                </a:solidFill>
                <a:latin typeface="Arial"/>
                <a:ea typeface="Arial"/>
                <a:cs typeface="Arial"/>
              </a:rPr>
              <a:t>An invitation with immediate value</a:t>
            </a:r>
          </a:p>
        </p:txBody>
      </p:sp>
      <p:sp>
        <p:nvSpPr>
          <p:cNvPr id="7" name="Rechteck 6">
            <a:extLst>
              <a:ext uri="{FF2B5EF4-FFF2-40B4-BE49-F238E27FC236}">
                <a16:creationId xmlns:a16="http://schemas.microsoft.com/office/drawing/2014/main" id="{C70EBDDD-1AD7-4071-938C-7D46B8254264}"/>
              </a:ext>
            </a:extLst>
          </p:cNvPr>
          <p:cNvSpPr>
            <a:spLocks noGrp="1"/>
          </p:cNvSpPr>
          <p:nvPr/>
        </p:nvSpPr>
        <p:spPr>
          <a:xfrm>
            <a:off x="6667500" y="2952750"/>
            <a:ext cx="4810125" cy="1676400"/>
          </a:xfrm>
          <a:prstGeom prst="rect">
            <a:avLst/>
          </a:prstGeom>
          <a:noFill/>
          <a:ln w="0">
            <a:noFill/>
          </a:ln>
        </p:spPr>
        <p:txBody>
          <a:bodyPr>
            <a:noAutofit/>
          </a:bodyPr>
          <a:lstStyle/>
          <a:p>
            <a:pPr>
              <a:defRPr sz="2100" b="0">
                <a:solidFill>
                  <a:srgbClr val="F4F2EA"/>
                </a:solidFill>
                <a:latin typeface="Arial"/>
                <a:ea typeface="Arial"/>
                <a:cs typeface="Arial"/>
              </a:defRPr>
            </a:pPr>
            <a:r>
              <a:rPr sz="2100" b="0">
                <a:solidFill>
                  <a:srgbClr val="F4F2EA"/>
                </a:solidFill>
                <a:latin typeface="Arial"/>
                <a:ea typeface="Arial"/>
                <a:cs typeface="Arial"/>
              </a:rPr>
              <a:t>“How well would your business run</a:t>
            </a:r>
          </a:p>
          <a:p>
            <a:pPr>
              <a:defRPr sz="2100" b="0">
                <a:solidFill>
                  <a:srgbClr val="F4F2EA"/>
                </a:solidFill>
                <a:latin typeface="Arial"/>
                <a:ea typeface="Arial"/>
                <a:cs typeface="Arial"/>
              </a:defRPr>
            </a:pPr>
            <a:r>
              <a:rPr sz="2100" b="0">
                <a:solidFill>
                  <a:srgbClr val="F4F2EA"/>
                </a:solidFill>
                <a:latin typeface="Arial"/>
                <a:ea typeface="Arial"/>
                <a:cs typeface="Arial"/>
              </a:rPr>
              <a:t>if you stepped away for a month?</a:t>
            </a:r>
          </a:p>
          <a:p>
            <a:pPr>
              <a:defRPr sz="2100" b="0">
                <a:solidFill>
                  <a:srgbClr val="F4F2EA"/>
                </a:solidFill>
                <a:latin typeface="Arial"/>
                <a:ea typeface="Arial"/>
                <a:cs typeface="Arial"/>
              </a:defRPr>
            </a:pPr>
            <a:r>
              <a:rPr sz="2100" b="0">
                <a:solidFill>
                  <a:srgbClr val="F4F2EA"/>
                </a:solidFill>
                <a:latin typeface="Arial"/>
                <a:ea typeface="Arial"/>
                <a:cs typeface="Arial"/>
              </a:rPr>
              <a:t>Explore your next chapter</a:t>
            </a:r>
          </a:p>
          <a:p>
            <a:pPr>
              <a:defRPr sz="2100" b="0">
                <a:solidFill>
                  <a:srgbClr val="F4F2EA"/>
                </a:solidFill>
                <a:latin typeface="Arial"/>
                <a:ea typeface="Arial"/>
                <a:cs typeface="Arial"/>
              </a:defRPr>
            </a:pPr>
            <a:r>
              <a:rPr sz="2100" b="0">
                <a:solidFill>
                  <a:srgbClr val="F4F2EA"/>
                </a:solidFill>
                <a:latin typeface="Arial"/>
                <a:ea typeface="Arial"/>
                <a:cs typeface="Arial"/>
              </a:rPr>
              <a:t>with Mergero.”</a:t>
            </a:r>
          </a:p>
        </p:txBody>
      </p:sp>
      <p:sp>
        <p:nvSpPr>
          <p:cNvPr id="8" name="Rechteck 7">
            <a:extLst>
              <a:ext uri="{FF2B5EF4-FFF2-40B4-BE49-F238E27FC236}">
                <a16:creationId xmlns:a16="http://schemas.microsoft.com/office/drawing/2014/main" id="{856ABF70-7072-4A6B-8E5A-E22909FB16AE}"/>
              </a:ext>
            </a:extLst>
          </p:cNvPr>
          <p:cNvSpPr>
            <a:spLocks noGrp="1"/>
          </p:cNvSpPr>
          <p:nvPr/>
        </p:nvSpPr>
        <p:spPr>
          <a:xfrm>
            <a:off x="6667500" y="5124450"/>
            <a:ext cx="4810125" cy="781050"/>
          </a:xfrm>
          <a:prstGeom prst="rect">
            <a:avLst/>
          </a:prstGeom>
          <a:noFill/>
          <a:ln w="0">
            <a:noFill/>
          </a:ln>
        </p:spPr>
        <p:txBody>
          <a:bodyPr>
            <a:noAutofit/>
          </a:bodyPr>
          <a:lstStyle/>
          <a:p>
            <a:pPr>
              <a:defRPr sz="1875" b="0">
                <a:solidFill>
                  <a:srgbClr val="B9DEC7"/>
                </a:solidFill>
                <a:latin typeface="Arial"/>
                <a:ea typeface="Arial"/>
                <a:cs typeface="Arial"/>
              </a:defRPr>
            </a:pPr>
            <a:r>
              <a:rPr sz="1875" b="0">
                <a:solidFill>
                  <a:srgbClr val="B9DEC7"/>
                </a:solidFill>
                <a:latin typeface="Arial"/>
                <a:ea typeface="Arial"/>
                <a:cs typeface="Arial"/>
              </a:rPr>
              <a:t>Measure completed checks and</a:t>
            </a:r>
          </a:p>
          <a:p>
            <a:pPr>
              <a:defRPr sz="1875" b="0">
                <a:solidFill>
                  <a:srgbClr val="B9DEC7"/>
                </a:solidFill>
                <a:latin typeface="Arial"/>
                <a:ea typeface="Arial"/>
                <a:cs typeface="Arial"/>
              </a:defRPr>
            </a:pPr>
            <a:r>
              <a:rPr sz="1875" b="0">
                <a:solidFill>
                  <a:srgbClr val="B9DEC7"/>
                </a:solidFill>
                <a:latin typeface="Arial"/>
                <a:ea typeface="Arial"/>
                <a:cs typeface="Arial"/>
              </a:rPr>
              <a:t>requested conversations by channel.</a:t>
            </a:r>
          </a:p>
        </p:txBody>
      </p:sp>
    </p:spTree>
    <p:extLst>
      <p:ext uri="{BB962C8B-B14F-4D97-AF65-F5344CB8AC3E}">
        <p14:creationId xmlns:p14="http://schemas.microsoft.com/office/powerpoint/2010/main" val="906372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2EA"/>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D346E52B-3A4E-4981-AEFC-AD4CF998D37E}"/>
              </a:ext>
            </a:extLst>
          </p:cNvPr>
          <p:cNvSpPr>
            <a:spLocks noGrp="1"/>
          </p:cNvSpPr>
          <p:nvPr/>
        </p:nvSpPr>
        <p:spPr>
          <a:xfrm>
            <a:off x="685800" y="523875"/>
            <a:ext cx="10820400" cy="1047750"/>
          </a:xfrm>
          <a:prstGeom prst="rect">
            <a:avLst/>
          </a:prstGeom>
          <a:noFill/>
          <a:ln w="0">
            <a:noFill/>
          </a:ln>
        </p:spPr>
        <p:txBody>
          <a:bodyPr>
            <a:noAutofit/>
          </a:bodyPr>
          <a:lstStyle/>
          <a:p>
            <a:pPr>
              <a:defRPr sz="3450" b="1">
                <a:solidFill>
                  <a:srgbClr val="16382E"/>
                </a:solidFill>
                <a:latin typeface="Arial"/>
                <a:ea typeface="Arial"/>
                <a:cs typeface="Arial"/>
              </a:defRPr>
            </a:pPr>
            <a:r>
              <a:rPr sz="3450" b="1">
                <a:solidFill>
                  <a:srgbClr val="16382E"/>
                </a:solidFill>
                <a:latin typeface="Arial"/>
                <a:ea typeface="Arial"/>
                <a:cs typeface="Arial"/>
              </a:rPr>
              <a:t>Example ads for owner acquisition</a:t>
            </a:r>
          </a:p>
        </p:txBody>
      </p:sp>
      <p:sp>
        <p:nvSpPr>
          <p:cNvPr id="2" name="Rechteck 1">
            <a:extLst>
              <a:ext uri="{FF2B5EF4-FFF2-40B4-BE49-F238E27FC236}">
                <a16:creationId xmlns:a16="http://schemas.microsoft.com/office/drawing/2014/main" id="{42912360-8C95-45B7-A5DD-826DE680D0A8}"/>
              </a:ext>
            </a:extLst>
          </p:cNvPr>
          <p:cNvSpPr>
            <a:spLocks noGrp="1"/>
          </p:cNvSpPr>
          <p:nvPr/>
        </p:nvSpPr>
        <p:spPr>
          <a:xfrm>
            <a:off x="685800" y="6362700"/>
            <a:ext cx="1905000" cy="238125"/>
          </a:xfrm>
          <a:prstGeom prst="rect">
            <a:avLst/>
          </a:prstGeom>
          <a:noFill/>
          <a:ln w="0">
            <a:noFill/>
          </a:ln>
        </p:spPr>
        <p:txBody>
          <a:bodyPr>
            <a:noAutofit/>
          </a:bodyPr>
          <a:lstStyle/>
          <a:p>
            <a:pPr>
              <a:defRPr sz="1200" b="1">
                <a:solidFill>
                  <a:srgbClr val="536B60"/>
                </a:solidFill>
                <a:latin typeface="Arial"/>
                <a:ea typeface="Arial"/>
                <a:cs typeface="Arial"/>
              </a:defRPr>
            </a:pPr>
            <a:r>
              <a:rPr sz="1200" b="1">
                <a:solidFill>
                  <a:srgbClr val="536B60"/>
                </a:solidFill>
                <a:latin typeface="Arial"/>
                <a:ea typeface="Arial"/>
                <a:cs typeface="Arial"/>
              </a:rPr>
              <a:t>MERGERO</a:t>
            </a:r>
          </a:p>
        </p:txBody>
      </p:sp>
      <p:sp>
        <p:nvSpPr>
          <p:cNvPr id="3" name="Rechteck 2">
            <a:extLst>
              <a:ext uri="{FF2B5EF4-FFF2-40B4-BE49-F238E27FC236}">
                <a16:creationId xmlns:a16="http://schemas.microsoft.com/office/drawing/2014/main" id="{17A71A6A-1C82-408D-BBC1-6907ADC1503B}"/>
              </a:ext>
            </a:extLst>
          </p:cNvPr>
          <p:cNvSpPr>
            <a:spLocks noGrp="1"/>
          </p:cNvSpPr>
          <p:nvPr/>
        </p:nvSpPr>
        <p:spPr>
          <a:xfrm>
            <a:off x="10953750" y="6324600"/>
            <a:ext cx="571500" cy="266700"/>
          </a:xfrm>
          <a:prstGeom prst="rect">
            <a:avLst/>
          </a:prstGeom>
          <a:noFill/>
          <a:ln w="0">
            <a:noFill/>
          </a:ln>
        </p:spPr>
        <p:txBody>
          <a:bodyPr>
            <a:noAutofit/>
          </a:bodyPr>
          <a:lstStyle/>
          <a:p>
            <a:pPr>
              <a:defRPr sz="1350" b="0">
                <a:solidFill>
                  <a:srgbClr val="536B60"/>
                </a:solidFill>
                <a:latin typeface="Arial"/>
                <a:ea typeface="Arial"/>
                <a:cs typeface="Arial"/>
              </a:defRPr>
            </a:pPr>
            <a:r>
              <a:rPr sz="1350" b="0">
                <a:solidFill>
                  <a:srgbClr val="536B60"/>
                </a:solidFill>
                <a:latin typeface="Arial"/>
                <a:ea typeface="Arial"/>
                <a:cs typeface="Arial"/>
              </a:rPr>
              <a:t>11</a:t>
            </a:r>
          </a:p>
        </p:txBody>
      </p:sp>
      <p:pic>
        <p:nvPicPr>
          <p:cNvPr id="8" name="Grafik 7"/>
          <p:cNvPicPr>
            <a:picLocks noChangeAspect="1"/>
          </p:cNvPicPr>
          <p:nvPr/>
        </p:nvPicPr>
        <p:blipFill>
          <a:blip r:embed="rId3"/>
          <a:stretch/>
        </p:blipFill>
        <p:spPr>
          <a:xfrm>
            <a:off x="2505075" y="1382713"/>
            <a:ext cx="7181850" cy="4787900"/>
          </a:xfrm>
          <a:prstGeom prst="rect">
            <a:avLst/>
          </a:prstGeom>
        </p:spPr>
      </p:pic>
    </p:spTree>
    <p:extLst>
      <p:ext uri="{BB962C8B-B14F-4D97-AF65-F5344CB8AC3E}">
        <p14:creationId xmlns:p14="http://schemas.microsoft.com/office/powerpoint/2010/main" val="125740379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1362</Words>
  <Application>Microsoft Office PowerPoint</Application>
  <DocSecurity>0</DocSecurity>
  <PresentationFormat>Breitbild</PresentationFormat>
  <Paragraphs>157</Paragraphs>
  <Slides>11</Slides>
  <Notes>11</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11</vt:i4>
      </vt:variant>
    </vt:vector>
  </HeadingPairs>
  <TitlesOfParts>
    <vt:vector size="14" baseType="lpstr">
      <vt:lpstr>Arial</vt:lpstr>
      <vt:lpstr>Calibri</vt:lpstr>
      <vt:lpstr>ChatGPT</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Jeremias Aechtner</cp:lastModifiedBy>
  <cp:revision>1</cp:revision>
  <dcterms:created xsi:type="dcterms:W3CDTF">2026-09-27T11:08:28Z</dcterms:created>
  <dcterms:modified xsi:type="dcterms:W3CDTF">2026-09-27T11:43:25Z</dcterms:modified>
</cp:coreProperties>
</file>